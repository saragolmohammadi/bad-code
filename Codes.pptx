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88" r:id="rId2"/>
    <p:sldId id="287" r:id="rId3"/>
    <p:sldId id="259" r:id="rId4"/>
    <p:sldId id="289" r:id="rId5"/>
    <p:sldId id="284" r:id="rId6"/>
    <p:sldId id="271" r:id="rId7"/>
    <p:sldId id="262" r:id="rId8"/>
    <p:sldId id="280" r:id="rId9"/>
    <p:sldId id="337" r:id="rId10"/>
    <p:sldId id="338" r:id="rId11"/>
    <p:sldId id="264" r:id="rId12"/>
    <p:sldId id="272" r:id="rId13"/>
    <p:sldId id="281" r:id="rId14"/>
    <p:sldId id="3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F97"/>
    <a:srgbClr val="2129E9"/>
    <a:srgbClr val="1B2A88"/>
    <a:srgbClr val="107AAE"/>
    <a:srgbClr val="6FC7F3"/>
    <a:srgbClr val="4F62D2"/>
    <a:srgbClr val="B7F2F2"/>
    <a:srgbClr val="7DD6F6"/>
    <a:srgbClr val="797EF6"/>
    <a:srgbClr val="4A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C9A8A-472A-4E94-BE1A-831A0C0A7FC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21868-B506-4E3C-BA19-043F823A6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7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8763-6B3C-B396-E174-271529902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70784-F215-B2D0-90CC-4BB039FC9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F3AB8-B81A-99BB-4AF3-BC3C3031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E0887-02A6-4908-BFC7-C4319CE0BB71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87AE1-807C-0DF9-5A57-27048B50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20E-6459-2DCB-FE87-0F29CFAC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7442" y="6473825"/>
            <a:ext cx="620607" cy="365125"/>
          </a:xfrm>
        </p:spPr>
        <p:txBody>
          <a:bodyPr/>
          <a:lstStyle>
            <a:lvl1pPr>
              <a:defRPr sz="1800"/>
            </a:lvl1pPr>
          </a:lstStyle>
          <a:p>
            <a:fld id="{B305EFEE-6387-4431-BAE5-F2E6269ECF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9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5F02-1C23-E388-320A-40CAD512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1252-2AEF-77F7-F2B9-F23A62336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F142A-AE25-C61E-1A4F-BEB076BB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6E8F-ABA9-440C-98A5-A6AD493BACCA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F0522-6BD6-9C0C-93ED-446F4AB3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73FF1-9420-902F-87C4-5B421722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9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8FE0-535C-A472-D69A-AD953F6B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DADF3-C699-8F13-F32E-63B4FE390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6F6B-D461-C89D-6D21-BA580BF7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1B4-068E-4FB3-84A6-CAFF7DDF9860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4458-00BA-B2D0-E827-E78648BB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1E882-E6BE-854C-513B-70A57B54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00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445B-087A-14FA-810E-23AEF292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93AE-AFB7-4BBA-13FF-F84FDBBF2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2532D-89D9-DD5B-91C7-4C31BD632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B49F4-CB2E-E392-66C5-A4D419CE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8D37F-63DC-48C8-B234-9AC4B320BDCE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2A837-E53B-53EE-58C0-C98D04BA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74AD6-4F98-8BA3-BCF8-5358DBA4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9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CB71-4C08-D542-9A35-6ED3B1565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C316E-46D3-873B-CCC4-11893AA3D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6E3EE-C47E-742B-F91E-75C04D846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0604F-4278-D77D-4F7B-FAEED9DE4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F7EF1-777B-4766-B7B9-921744B98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BF02F-BAC0-D68C-2528-2FEB4802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EE16-C3FC-4578-8432-56DABEB2EB65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3C32B-32DD-AC16-DCD8-338B8E6F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935F7-36CB-D9BC-6D91-BEE06A5D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73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E902-6652-CDFF-6FDC-9ABBD487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0D761-B561-5B7D-0F03-C04001E4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7DE25-574C-41F4-8859-7342A09CC7C3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81AF8-AFE0-39AD-9153-AF80B624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A059A-4443-5004-70A2-F7A95F1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82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gradFill>
          <a:gsLst>
            <a:gs pos="0">
              <a:schemeClr val="accent1">
                <a:lumMod val="50000"/>
              </a:schemeClr>
            </a:gs>
            <a:gs pos="10000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D643-9C69-43A7-A814-9F55579D19EC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001CBA-48E1-B297-8AA5-B1730E8C9119}"/>
              </a:ext>
            </a:extLst>
          </p:cNvPr>
          <p:cNvSpPr/>
          <p:nvPr userDrawn="1"/>
        </p:nvSpPr>
        <p:spPr>
          <a:xfrm rot="12143444">
            <a:off x="11585669" y="335198"/>
            <a:ext cx="3433053" cy="3433053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01BFF1-7530-BD57-E2C7-648B41DFF149}"/>
              </a:ext>
            </a:extLst>
          </p:cNvPr>
          <p:cNvSpPr/>
          <p:nvPr userDrawn="1"/>
        </p:nvSpPr>
        <p:spPr>
          <a:xfrm>
            <a:off x="1480379" y="3634102"/>
            <a:ext cx="2005227" cy="2005227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D5F141-4E9D-D613-8759-95584C14013B}"/>
              </a:ext>
            </a:extLst>
          </p:cNvPr>
          <p:cNvSpPr/>
          <p:nvPr userDrawn="1"/>
        </p:nvSpPr>
        <p:spPr>
          <a:xfrm rot="13947329">
            <a:off x="10702308" y="4346133"/>
            <a:ext cx="5023734" cy="502373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7E7EB-065A-2703-514A-3FC9498EEF36}"/>
              </a:ext>
            </a:extLst>
          </p:cNvPr>
          <p:cNvSpPr/>
          <p:nvPr userDrawn="1"/>
        </p:nvSpPr>
        <p:spPr>
          <a:xfrm>
            <a:off x="-406095" y="5476175"/>
            <a:ext cx="3647835" cy="3647835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78A0DD-EAD1-FB04-4D93-C122AD8834EF}"/>
              </a:ext>
            </a:extLst>
          </p:cNvPr>
          <p:cNvSpPr/>
          <p:nvPr userDrawn="1"/>
        </p:nvSpPr>
        <p:spPr>
          <a:xfrm>
            <a:off x="-2227812" y="2896900"/>
            <a:ext cx="3654060" cy="365406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C49B7F-EA9E-F31B-8E61-4295FE967E37}"/>
              </a:ext>
            </a:extLst>
          </p:cNvPr>
          <p:cNvSpPr/>
          <p:nvPr userDrawn="1"/>
        </p:nvSpPr>
        <p:spPr>
          <a:xfrm rot="10800000">
            <a:off x="10993014" y="-1198986"/>
            <a:ext cx="2397971" cy="2397971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EB2BC-6FE5-DBC2-5F6A-9F3E97DA829C}"/>
              </a:ext>
            </a:extLst>
          </p:cNvPr>
          <p:cNvSpPr/>
          <p:nvPr userDrawn="1"/>
        </p:nvSpPr>
        <p:spPr>
          <a:xfrm rot="4130368">
            <a:off x="10319875" y="-443546"/>
            <a:ext cx="1023948" cy="1023948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A4F932-D49C-4717-D8D0-453AB47D9F2A}"/>
              </a:ext>
            </a:extLst>
          </p:cNvPr>
          <p:cNvSpPr/>
          <p:nvPr userDrawn="1"/>
        </p:nvSpPr>
        <p:spPr>
          <a:xfrm>
            <a:off x="3019985" y="5695667"/>
            <a:ext cx="606516" cy="606516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74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gradFill>
          <a:gsLst>
            <a:gs pos="0">
              <a:schemeClr val="accent1">
                <a:lumMod val="50000"/>
              </a:schemeClr>
            </a:gs>
            <a:gs pos="10000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125F-12B8-49AB-ADE0-91DD79099494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0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E8A6-EFE9-4B00-A1B9-B0F8A80AD71A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5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4E2BC7D-867C-D772-2428-80829B9C5B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2964" y="2213136"/>
            <a:ext cx="2846074" cy="2985180"/>
          </a:xfrm>
          <a:custGeom>
            <a:avLst/>
            <a:gdLst>
              <a:gd name="connsiteX0" fmla="*/ 187954 w 3282462"/>
              <a:gd name="connsiteY0" fmla="*/ 0 h 3442898"/>
              <a:gd name="connsiteX1" fmla="*/ 3094508 w 3282462"/>
              <a:gd name="connsiteY1" fmla="*/ 0 h 3442898"/>
              <a:gd name="connsiteX2" fmla="*/ 3282462 w 3282462"/>
              <a:gd name="connsiteY2" fmla="*/ 187954 h 3442898"/>
              <a:gd name="connsiteX3" fmla="*/ 3282462 w 3282462"/>
              <a:gd name="connsiteY3" fmla="*/ 3254944 h 3442898"/>
              <a:gd name="connsiteX4" fmla="*/ 3094508 w 3282462"/>
              <a:gd name="connsiteY4" fmla="*/ 3442898 h 3442898"/>
              <a:gd name="connsiteX5" fmla="*/ 187954 w 3282462"/>
              <a:gd name="connsiteY5" fmla="*/ 3442898 h 3442898"/>
              <a:gd name="connsiteX6" fmla="*/ 0 w 3282462"/>
              <a:gd name="connsiteY6" fmla="*/ 3254944 h 3442898"/>
              <a:gd name="connsiteX7" fmla="*/ 0 w 3282462"/>
              <a:gd name="connsiteY7" fmla="*/ 187954 h 3442898"/>
              <a:gd name="connsiteX8" fmla="*/ 187954 w 3282462"/>
              <a:gd name="connsiteY8" fmla="*/ 0 h 344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82462" h="3442898">
                <a:moveTo>
                  <a:pt x="187954" y="0"/>
                </a:moveTo>
                <a:lnTo>
                  <a:pt x="3094508" y="0"/>
                </a:lnTo>
                <a:cubicBezTo>
                  <a:pt x="3198312" y="0"/>
                  <a:pt x="3282462" y="84150"/>
                  <a:pt x="3282462" y="187954"/>
                </a:cubicBezTo>
                <a:lnTo>
                  <a:pt x="3282462" y="3254944"/>
                </a:lnTo>
                <a:cubicBezTo>
                  <a:pt x="3282462" y="3358748"/>
                  <a:pt x="3198312" y="3442898"/>
                  <a:pt x="3094508" y="3442898"/>
                </a:cubicBezTo>
                <a:lnTo>
                  <a:pt x="187954" y="3442898"/>
                </a:lnTo>
                <a:cubicBezTo>
                  <a:pt x="84150" y="3442898"/>
                  <a:pt x="0" y="3358748"/>
                  <a:pt x="0" y="3254944"/>
                </a:cubicBezTo>
                <a:lnTo>
                  <a:pt x="0" y="187954"/>
                </a:lnTo>
                <a:cubicBezTo>
                  <a:pt x="0" y="84150"/>
                  <a:pt x="84150" y="0"/>
                  <a:pt x="1879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098E-A137-472F-9214-28EE19B3EF40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2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E81734D-B790-1354-57E3-4454FB36B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63430" y="1625600"/>
            <a:ext cx="2728648" cy="3844594"/>
          </a:xfrm>
          <a:custGeom>
            <a:avLst/>
            <a:gdLst>
              <a:gd name="connsiteX0" fmla="*/ 163724 w 2859314"/>
              <a:gd name="connsiteY0" fmla="*/ 0 h 4028698"/>
              <a:gd name="connsiteX1" fmla="*/ 2695590 w 2859314"/>
              <a:gd name="connsiteY1" fmla="*/ 0 h 4028698"/>
              <a:gd name="connsiteX2" fmla="*/ 2859314 w 2859314"/>
              <a:gd name="connsiteY2" fmla="*/ 163724 h 4028698"/>
              <a:gd name="connsiteX3" fmla="*/ 2859314 w 2859314"/>
              <a:gd name="connsiteY3" fmla="*/ 3864974 h 4028698"/>
              <a:gd name="connsiteX4" fmla="*/ 2695590 w 2859314"/>
              <a:gd name="connsiteY4" fmla="*/ 4028698 h 4028698"/>
              <a:gd name="connsiteX5" fmla="*/ 163724 w 2859314"/>
              <a:gd name="connsiteY5" fmla="*/ 4028698 h 4028698"/>
              <a:gd name="connsiteX6" fmla="*/ 0 w 2859314"/>
              <a:gd name="connsiteY6" fmla="*/ 3864974 h 4028698"/>
              <a:gd name="connsiteX7" fmla="*/ 0 w 2859314"/>
              <a:gd name="connsiteY7" fmla="*/ 163724 h 4028698"/>
              <a:gd name="connsiteX8" fmla="*/ 163724 w 2859314"/>
              <a:gd name="connsiteY8" fmla="*/ 0 h 402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9314" h="4028698">
                <a:moveTo>
                  <a:pt x="163724" y="0"/>
                </a:moveTo>
                <a:lnTo>
                  <a:pt x="2695590" y="0"/>
                </a:lnTo>
                <a:cubicBezTo>
                  <a:pt x="2786012" y="0"/>
                  <a:pt x="2859314" y="73302"/>
                  <a:pt x="2859314" y="163724"/>
                </a:cubicBezTo>
                <a:lnTo>
                  <a:pt x="2859314" y="3864974"/>
                </a:lnTo>
                <a:cubicBezTo>
                  <a:pt x="2859314" y="3955396"/>
                  <a:pt x="2786012" y="4028698"/>
                  <a:pt x="2695590" y="4028698"/>
                </a:cubicBezTo>
                <a:lnTo>
                  <a:pt x="163724" y="4028698"/>
                </a:lnTo>
                <a:cubicBezTo>
                  <a:pt x="73302" y="4028698"/>
                  <a:pt x="0" y="3955396"/>
                  <a:pt x="0" y="3864974"/>
                </a:cubicBezTo>
                <a:lnTo>
                  <a:pt x="0" y="163724"/>
                </a:lnTo>
                <a:cubicBezTo>
                  <a:pt x="0" y="73302"/>
                  <a:pt x="73302" y="0"/>
                  <a:pt x="1637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31B4-FF23-498D-900B-C328BDF6991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25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8ABA4BC-21B8-4A42-E836-1537E39BB5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8840" y="3922574"/>
            <a:ext cx="1419246" cy="1419246"/>
          </a:xfrm>
          <a:custGeom>
            <a:avLst/>
            <a:gdLst>
              <a:gd name="connsiteX0" fmla="*/ 709623 w 1419246"/>
              <a:gd name="connsiteY0" fmla="*/ 0 h 1419246"/>
              <a:gd name="connsiteX1" fmla="*/ 1419246 w 1419246"/>
              <a:gd name="connsiteY1" fmla="*/ 709623 h 1419246"/>
              <a:gd name="connsiteX2" fmla="*/ 709623 w 1419246"/>
              <a:gd name="connsiteY2" fmla="*/ 1419246 h 1419246"/>
              <a:gd name="connsiteX3" fmla="*/ 0 w 1419246"/>
              <a:gd name="connsiteY3" fmla="*/ 709623 h 1419246"/>
              <a:gd name="connsiteX4" fmla="*/ 709623 w 1419246"/>
              <a:gd name="connsiteY4" fmla="*/ 0 h 141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46" h="1419246">
                <a:moveTo>
                  <a:pt x="709623" y="0"/>
                </a:moveTo>
                <a:cubicBezTo>
                  <a:pt x="1101537" y="0"/>
                  <a:pt x="1419246" y="317709"/>
                  <a:pt x="1419246" y="709623"/>
                </a:cubicBezTo>
                <a:cubicBezTo>
                  <a:pt x="1419246" y="1101537"/>
                  <a:pt x="1101537" y="1419246"/>
                  <a:pt x="709623" y="1419246"/>
                </a:cubicBezTo>
                <a:cubicBezTo>
                  <a:pt x="317709" y="1419246"/>
                  <a:pt x="0" y="1101537"/>
                  <a:pt x="0" y="709623"/>
                </a:cubicBezTo>
                <a:cubicBezTo>
                  <a:pt x="0" y="317709"/>
                  <a:pt x="317709" y="0"/>
                  <a:pt x="7096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C885CC7-D469-0810-5274-5B45295B23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8838" y="1993548"/>
            <a:ext cx="1419246" cy="1419246"/>
          </a:xfrm>
          <a:custGeom>
            <a:avLst/>
            <a:gdLst>
              <a:gd name="connsiteX0" fmla="*/ 709623 w 1419246"/>
              <a:gd name="connsiteY0" fmla="*/ 0 h 1419246"/>
              <a:gd name="connsiteX1" fmla="*/ 1419246 w 1419246"/>
              <a:gd name="connsiteY1" fmla="*/ 709623 h 1419246"/>
              <a:gd name="connsiteX2" fmla="*/ 709623 w 1419246"/>
              <a:gd name="connsiteY2" fmla="*/ 1419246 h 1419246"/>
              <a:gd name="connsiteX3" fmla="*/ 0 w 1419246"/>
              <a:gd name="connsiteY3" fmla="*/ 709623 h 1419246"/>
              <a:gd name="connsiteX4" fmla="*/ 709623 w 1419246"/>
              <a:gd name="connsiteY4" fmla="*/ 0 h 141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46" h="1419246">
                <a:moveTo>
                  <a:pt x="709623" y="0"/>
                </a:moveTo>
                <a:cubicBezTo>
                  <a:pt x="1101537" y="0"/>
                  <a:pt x="1419246" y="317709"/>
                  <a:pt x="1419246" y="709623"/>
                </a:cubicBezTo>
                <a:cubicBezTo>
                  <a:pt x="1419246" y="1101537"/>
                  <a:pt x="1101537" y="1419246"/>
                  <a:pt x="709623" y="1419246"/>
                </a:cubicBezTo>
                <a:cubicBezTo>
                  <a:pt x="317709" y="1419246"/>
                  <a:pt x="0" y="1101537"/>
                  <a:pt x="0" y="709623"/>
                </a:cubicBezTo>
                <a:cubicBezTo>
                  <a:pt x="0" y="317709"/>
                  <a:pt x="317709" y="0"/>
                  <a:pt x="7096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A981-63DE-42BE-8DBD-7E3DFBD16FA5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7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EA9C78E-AFE2-E8DB-1555-003C614FD0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71221" y="2130667"/>
            <a:ext cx="1724064" cy="1724064"/>
          </a:xfrm>
          <a:custGeom>
            <a:avLst/>
            <a:gdLst>
              <a:gd name="connsiteX0" fmla="*/ 862032 w 1724064"/>
              <a:gd name="connsiteY0" fmla="*/ 0 h 1724064"/>
              <a:gd name="connsiteX1" fmla="*/ 1724064 w 1724064"/>
              <a:gd name="connsiteY1" fmla="*/ 862032 h 1724064"/>
              <a:gd name="connsiteX2" fmla="*/ 862032 w 1724064"/>
              <a:gd name="connsiteY2" fmla="*/ 1724064 h 1724064"/>
              <a:gd name="connsiteX3" fmla="*/ 0 w 1724064"/>
              <a:gd name="connsiteY3" fmla="*/ 862032 h 1724064"/>
              <a:gd name="connsiteX4" fmla="*/ 862032 w 1724064"/>
              <a:gd name="connsiteY4" fmla="*/ 0 h 172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4064" h="1724064">
                <a:moveTo>
                  <a:pt x="862032" y="0"/>
                </a:moveTo>
                <a:cubicBezTo>
                  <a:pt x="1338119" y="0"/>
                  <a:pt x="1724064" y="385945"/>
                  <a:pt x="1724064" y="862032"/>
                </a:cubicBezTo>
                <a:cubicBezTo>
                  <a:pt x="1724064" y="1338119"/>
                  <a:pt x="1338119" y="1724064"/>
                  <a:pt x="862032" y="1724064"/>
                </a:cubicBezTo>
                <a:cubicBezTo>
                  <a:pt x="385945" y="1724064"/>
                  <a:pt x="0" y="1338119"/>
                  <a:pt x="0" y="862032"/>
                </a:cubicBezTo>
                <a:cubicBezTo>
                  <a:pt x="0" y="385945"/>
                  <a:pt x="385945" y="0"/>
                  <a:pt x="8620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2C72611-3B8F-86C9-2EBF-C8C21C4D4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5675" y="2130667"/>
            <a:ext cx="1724064" cy="1724064"/>
          </a:xfrm>
          <a:custGeom>
            <a:avLst/>
            <a:gdLst>
              <a:gd name="connsiteX0" fmla="*/ 862032 w 1724064"/>
              <a:gd name="connsiteY0" fmla="*/ 0 h 1724064"/>
              <a:gd name="connsiteX1" fmla="*/ 1724064 w 1724064"/>
              <a:gd name="connsiteY1" fmla="*/ 862032 h 1724064"/>
              <a:gd name="connsiteX2" fmla="*/ 862032 w 1724064"/>
              <a:gd name="connsiteY2" fmla="*/ 1724064 h 1724064"/>
              <a:gd name="connsiteX3" fmla="*/ 0 w 1724064"/>
              <a:gd name="connsiteY3" fmla="*/ 862032 h 1724064"/>
              <a:gd name="connsiteX4" fmla="*/ 862032 w 1724064"/>
              <a:gd name="connsiteY4" fmla="*/ 0 h 172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4064" h="1724064">
                <a:moveTo>
                  <a:pt x="862032" y="0"/>
                </a:moveTo>
                <a:cubicBezTo>
                  <a:pt x="1338119" y="0"/>
                  <a:pt x="1724064" y="385945"/>
                  <a:pt x="1724064" y="862032"/>
                </a:cubicBezTo>
                <a:cubicBezTo>
                  <a:pt x="1724064" y="1338119"/>
                  <a:pt x="1338119" y="1724064"/>
                  <a:pt x="862032" y="1724064"/>
                </a:cubicBezTo>
                <a:cubicBezTo>
                  <a:pt x="385945" y="1724064"/>
                  <a:pt x="0" y="1338119"/>
                  <a:pt x="0" y="862032"/>
                </a:cubicBezTo>
                <a:cubicBezTo>
                  <a:pt x="0" y="385945"/>
                  <a:pt x="385945" y="0"/>
                  <a:pt x="8620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4AB8054-B9C2-8669-2EA4-ADE6F26EC9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24583" y="2130667"/>
            <a:ext cx="1724064" cy="1724064"/>
          </a:xfrm>
          <a:custGeom>
            <a:avLst/>
            <a:gdLst>
              <a:gd name="connsiteX0" fmla="*/ 862032 w 1724064"/>
              <a:gd name="connsiteY0" fmla="*/ 0 h 1724064"/>
              <a:gd name="connsiteX1" fmla="*/ 1724064 w 1724064"/>
              <a:gd name="connsiteY1" fmla="*/ 862032 h 1724064"/>
              <a:gd name="connsiteX2" fmla="*/ 862032 w 1724064"/>
              <a:gd name="connsiteY2" fmla="*/ 1724064 h 1724064"/>
              <a:gd name="connsiteX3" fmla="*/ 0 w 1724064"/>
              <a:gd name="connsiteY3" fmla="*/ 862032 h 1724064"/>
              <a:gd name="connsiteX4" fmla="*/ 862032 w 1724064"/>
              <a:gd name="connsiteY4" fmla="*/ 0 h 172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4064" h="1724064">
                <a:moveTo>
                  <a:pt x="862032" y="0"/>
                </a:moveTo>
                <a:cubicBezTo>
                  <a:pt x="1338119" y="0"/>
                  <a:pt x="1724064" y="385945"/>
                  <a:pt x="1724064" y="862032"/>
                </a:cubicBezTo>
                <a:cubicBezTo>
                  <a:pt x="1724064" y="1338119"/>
                  <a:pt x="1338119" y="1724064"/>
                  <a:pt x="862032" y="1724064"/>
                </a:cubicBezTo>
                <a:cubicBezTo>
                  <a:pt x="385945" y="1724064"/>
                  <a:pt x="0" y="1338119"/>
                  <a:pt x="0" y="862032"/>
                </a:cubicBezTo>
                <a:cubicBezTo>
                  <a:pt x="0" y="385945"/>
                  <a:pt x="385945" y="0"/>
                  <a:pt x="8620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590A891-C340-E54E-8FE5-789BE486A7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40129" y="2130667"/>
            <a:ext cx="1724064" cy="1724064"/>
          </a:xfrm>
          <a:custGeom>
            <a:avLst/>
            <a:gdLst>
              <a:gd name="connsiteX0" fmla="*/ 862032 w 1724064"/>
              <a:gd name="connsiteY0" fmla="*/ 0 h 1724064"/>
              <a:gd name="connsiteX1" fmla="*/ 1724064 w 1724064"/>
              <a:gd name="connsiteY1" fmla="*/ 862032 h 1724064"/>
              <a:gd name="connsiteX2" fmla="*/ 862032 w 1724064"/>
              <a:gd name="connsiteY2" fmla="*/ 1724064 h 1724064"/>
              <a:gd name="connsiteX3" fmla="*/ 0 w 1724064"/>
              <a:gd name="connsiteY3" fmla="*/ 862032 h 1724064"/>
              <a:gd name="connsiteX4" fmla="*/ 862032 w 1724064"/>
              <a:gd name="connsiteY4" fmla="*/ 0 h 172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4064" h="1724064">
                <a:moveTo>
                  <a:pt x="862032" y="0"/>
                </a:moveTo>
                <a:cubicBezTo>
                  <a:pt x="1338119" y="0"/>
                  <a:pt x="1724064" y="385945"/>
                  <a:pt x="1724064" y="862032"/>
                </a:cubicBezTo>
                <a:cubicBezTo>
                  <a:pt x="1724064" y="1338119"/>
                  <a:pt x="1338119" y="1724064"/>
                  <a:pt x="862032" y="1724064"/>
                </a:cubicBezTo>
                <a:cubicBezTo>
                  <a:pt x="385945" y="1724064"/>
                  <a:pt x="0" y="1338119"/>
                  <a:pt x="0" y="862032"/>
                </a:cubicBezTo>
                <a:cubicBezTo>
                  <a:pt x="0" y="385945"/>
                  <a:pt x="385945" y="0"/>
                  <a:pt x="8620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rtl="0">
              <a:defRPr sz="1000"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42A6-D014-4597-ACDC-41D4DA555D8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34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F039-F640-E324-99A4-AF8B7F74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A41E-F43C-506D-3F62-136681D74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B15A1-0041-9FEF-4876-C9A7CAA6E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CB015-AA6E-2EBC-7A56-6EE47E4C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7984-5B3C-43FC-911F-AAA304819A76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A74BF-C30C-74A7-09BF-313A6439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A7626-D18D-0A12-424A-D0822539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8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E228-F9AD-B84C-53FC-49359248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E675C-B261-A712-C2CA-878F22C77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35E4E-6BB4-5040-CE15-E7BCE688E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D9B5D-C22C-710B-EF35-8543802D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5BEE-1E5A-4B6C-83B4-B342383971DC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49CF-BFCD-0BE8-C140-003E393A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27586-B042-0FDC-557B-22CC3612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09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AB3-5FFB-144D-6EE4-49F82285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0D9CC-1F91-CFDD-FC09-53E108707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44566-378B-CD4B-B167-545E8805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D60E-228F-4149-B769-10BB2D3B7260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59813-1B89-C7B6-E40F-E4C7FA5F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156E-ACAD-1BFA-90AE-EF676288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7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6D124-A9F7-8B1E-D63F-14CAEF5E6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66DB3-B3E0-3BE3-D6ED-8B2933488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412E-AB02-76A0-4453-74F62EF4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6698-4DE4-48E1-8B14-25AE26A816C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00DDD-59B5-2F38-8ECC-EBE41FC4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53504-91BF-4FA6-4B98-55741C6C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48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hall.ir">
    <p:bg>
      <p:bgPr>
        <a:gradFill>
          <a:gsLst>
            <a:gs pos="0">
              <a:srgbClr val="1812FF"/>
            </a:gs>
            <a:gs pos="100000">
              <a:srgbClr val="3028B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DB200-8BA2-C321-BB36-973E23B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E8A6-EFE9-4B00-A1B9-B0F8A80AD71A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80C9-C5D9-8EE7-4609-CC0AAC35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FE2E-59E1-C125-E602-B2F3CDCB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9035C9-307D-32E7-4E3E-D3E31C0DA8EC}"/>
              </a:ext>
            </a:extLst>
          </p:cNvPr>
          <p:cNvSpPr/>
          <p:nvPr userDrawn="1"/>
        </p:nvSpPr>
        <p:spPr>
          <a:xfrm>
            <a:off x="735240" y="4320273"/>
            <a:ext cx="265421" cy="17664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CE60736-3D05-DF7B-D522-9E1DD7D5AE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793" b="20807"/>
          <a:stretch/>
        </p:blipFill>
        <p:spPr>
          <a:xfrm flipH="1">
            <a:off x="6151796" y="1255342"/>
            <a:ext cx="6040203" cy="56026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DDE55C-867C-7043-8F27-C6764AD9DB0F}"/>
              </a:ext>
            </a:extLst>
          </p:cNvPr>
          <p:cNvSpPr/>
          <p:nvPr userDrawn="1"/>
        </p:nvSpPr>
        <p:spPr>
          <a:xfrm>
            <a:off x="1070546" y="3251585"/>
            <a:ext cx="4793478" cy="971362"/>
          </a:xfrm>
          <a:prstGeom prst="roundRect">
            <a:avLst>
              <a:gd name="adj" fmla="val 14549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19A87F8-34EC-961C-B739-8F3AC54966D7}"/>
              </a:ext>
            </a:extLst>
          </p:cNvPr>
          <p:cNvSpPr/>
          <p:nvPr userDrawn="1"/>
        </p:nvSpPr>
        <p:spPr>
          <a:xfrm rot="1421314">
            <a:off x="4756173" y="-1376040"/>
            <a:ext cx="8146528" cy="3105877"/>
          </a:xfrm>
          <a:custGeom>
            <a:avLst/>
            <a:gdLst>
              <a:gd name="connsiteX0" fmla="*/ 3049478 w 8146528"/>
              <a:gd name="connsiteY0" fmla="*/ 1767976 h 3105877"/>
              <a:gd name="connsiteX1" fmla="*/ 7079224 w 8146528"/>
              <a:gd name="connsiteY1" fmla="*/ 0 h 3105877"/>
              <a:gd name="connsiteX2" fmla="*/ 8146528 w 8146528"/>
              <a:gd name="connsiteY2" fmla="*/ 2432705 h 3105877"/>
              <a:gd name="connsiteX3" fmla="*/ 7957154 w 8146528"/>
              <a:gd name="connsiteY3" fmla="*/ 2369152 h 3105877"/>
              <a:gd name="connsiteX4" fmla="*/ 6766735 w 8146528"/>
              <a:gd name="connsiteY4" fmla="*/ 2102966 h 3105877"/>
              <a:gd name="connsiteX5" fmla="*/ 5489060 w 8146528"/>
              <a:gd name="connsiteY5" fmla="*/ 2293447 h 3105877"/>
              <a:gd name="connsiteX6" fmla="*/ 3847457 w 8146528"/>
              <a:gd name="connsiteY6" fmla="*/ 2054373 h 3105877"/>
              <a:gd name="connsiteX7" fmla="*/ 3148773 w 8146528"/>
              <a:gd name="connsiteY7" fmla="*/ 1797067 h 3105877"/>
              <a:gd name="connsiteX8" fmla="*/ 0 w 8146528"/>
              <a:gd name="connsiteY8" fmla="*/ 3105877 h 3105877"/>
              <a:gd name="connsiteX9" fmla="*/ 570925 w 8146528"/>
              <a:gd name="connsiteY9" fmla="*/ 2855395 h 3105877"/>
              <a:gd name="connsiteX10" fmla="*/ 499143 w 8146528"/>
              <a:gd name="connsiteY10" fmla="*/ 2905046 h 3105877"/>
              <a:gd name="connsiteX11" fmla="*/ 157798 w 8146528"/>
              <a:gd name="connsiteY11" fmla="*/ 3065223 h 3105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46528" h="3105877">
                <a:moveTo>
                  <a:pt x="3049478" y="1767976"/>
                </a:moveTo>
                <a:lnTo>
                  <a:pt x="7079224" y="0"/>
                </a:lnTo>
                <a:lnTo>
                  <a:pt x="8146528" y="2432705"/>
                </a:lnTo>
                <a:lnTo>
                  <a:pt x="7957154" y="2369152"/>
                </a:lnTo>
                <a:cubicBezTo>
                  <a:pt x="7612147" y="2255166"/>
                  <a:pt x="7212519" y="2137123"/>
                  <a:pt x="6766735" y="2102966"/>
                </a:cubicBezTo>
                <a:cubicBezTo>
                  <a:pt x="6378776" y="2073200"/>
                  <a:pt x="5956929" y="2214793"/>
                  <a:pt x="5489060" y="2293447"/>
                </a:cubicBezTo>
                <a:cubicBezTo>
                  <a:pt x="5011212" y="2373420"/>
                  <a:pt x="4439167" y="2280478"/>
                  <a:pt x="3847457" y="2054373"/>
                </a:cubicBezTo>
                <a:cubicBezTo>
                  <a:pt x="3614113" y="1965438"/>
                  <a:pt x="3379416" y="1871552"/>
                  <a:pt x="3148773" y="1797067"/>
                </a:cubicBezTo>
                <a:close/>
                <a:moveTo>
                  <a:pt x="0" y="3105877"/>
                </a:moveTo>
                <a:lnTo>
                  <a:pt x="570925" y="2855395"/>
                </a:lnTo>
                <a:lnTo>
                  <a:pt x="499143" y="2905046"/>
                </a:lnTo>
                <a:cubicBezTo>
                  <a:pt x="389480" y="2975453"/>
                  <a:pt x="275264" y="3027609"/>
                  <a:pt x="157798" y="3065223"/>
                </a:cubicBezTo>
                <a:close/>
              </a:path>
            </a:pathLst>
          </a:custGeom>
          <a:solidFill>
            <a:schemeClr val="bg1"/>
          </a:solidFill>
          <a:ln w="27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IRAN San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8F8ED9-EACB-CC2A-6D9E-6A0976B9EF6B}"/>
              </a:ext>
            </a:extLst>
          </p:cNvPr>
          <p:cNvSpPr/>
          <p:nvPr userDrawn="1"/>
        </p:nvSpPr>
        <p:spPr>
          <a:xfrm>
            <a:off x="1070546" y="2200436"/>
            <a:ext cx="4793478" cy="971362"/>
          </a:xfrm>
          <a:prstGeom prst="roundRect">
            <a:avLst>
              <a:gd name="adj" fmla="val 11561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9E5AA-7575-9725-65E2-54E1CBEC9C6B}"/>
              </a:ext>
            </a:extLst>
          </p:cNvPr>
          <p:cNvSpPr txBox="1"/>
          <p:nvPr userDrawn="1"/>
        </p:nvSpPr>
        <p:spPr>
          <a:xfrm>
            <a:off x="861141" y="1141205"/>
            <a:ext cx="49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از اینکه ما را انتخاب کردید از شما متشکریم.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A76267-32C0-C18B-8788-58313ADD992B}"/>
              </a:ext>
            </a:extLst>
          </p:cNvPr>
          <p:cNvSpPr txBox="1"/>
          <p:nvPr userDrawn="1"/>
        </p:nvSpPr>
        <p:spPr>
          <a:xfrm>
            <a:off x="1234441" y="2312156"/>
            <a:ext cx="4270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قالب پاورپوینتی که در اختیار شما قرار دارد یک قالب پاورپوینت اورجینال طراحی شده توسط تیم وبسایت اسلایدهال است،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CE586A-B392-AA92-2583-3ABDA49819D2}"/>
              </a:ext>
            </a:extLst>
          </p:cNvPr>
          <p:cNvSpPr/>
          <p:nvPr userDrawn="1"/>
        </p:nvSpPr>
        <p:spPr>
          <a:xfrm>
            <a:off x="1066801" y="4320274"/>
            <a:ext cx="4797368" cy="1766473"/>
          </a:xfrm>
          <a:prstGeom prst="roundRect">
            <a:avLst>
              <a:gd name="adj" fmla="val 7147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B97D34-F751-0708-4B61-40B74986D825}"/>
              </a:ext>
            </a:extLst>
          </p:cNvPr>
          <p:cNvSpPr txBox="1"/>
          <p:nvPr userDrawn="1"/>
        </p:nvSpPr>
        <p:spPr>
          <a:xfrm>
            <a:off x="1234441" y="4483353"/>
            <a:ext cx="4270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هدف اصلی وبسایت ما تولید قالب های آماده پاورپوینت فارسی و انتشار آنها به صورت رایگان است تا روند ارائه با پاورپوینت را برای همه ساده تر کنیم، تحقق این هدف بدون یاری شما ممکن نیست؛ </a:t>
            </a:r>
            <a:r>
              <a:rPr lang="fa-IR" sz="1500" b="1" dirty="0">
                <a:solidFill>
                  <a:srgbClr val="FFC000"/>
                </a:solidFill>
                <a:latin typeface="Calibri" panose="020F0502020204030204"/>
                <a:cs typeface="B Homa" panose="00000400000000000000" pitchFamily="2" charset="-78"/>
              </a:rPr>
              <a:t>امید داریم در این راه ما را حمایت کنید تا بتوانیم به مسیر خود ادامه دهیم.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948C46-6879-1E01-99B3-E26ADE9EB600}"/>
              </a:ext>
            </a:extLst>
          </p:cNvPr>
          <p:cNvSpPr/>
          <p:nvPr userDrawn="1"/>
        </p:nvSpPr>
        <p:spPr>
          <a:xfrm>
            <a:off x="3857567" y="735098"/>
            <a:ext cx="1986189" cy="350550"/>
          </a:xfrm>
          <a:prstGeom prst="roundRect">
            <a:avLst>
              <a:gd name="adj" fmla="val 229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674202-4628-F1A2-B978-E1C9F7226614}"/>
              </a:ext>
            </a:extLst>
          </p:cNvPr>
          <p:cNvSpPr txBox="1"/>
          <p:nvPr userDrawn="1"/>
        </p:nvSpPr>
        <p:spPr>
          <a:xfrm>
            <a:off x="3857566" y="679541"/>
            <a:ext cx="198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rgbClr val="3028B3"/>
                </a:solidFill>
                <a:effectLst/>
                <a:uLnTx/>
                <a:uFillTx/>
                <a:latin typeface="Calibri" panose="020F0502020204030204"/>
                <a:ea typeface="+mn-ea"/>
                <a:cs typeface="B Homa" panose="00000400000000000000" pitchFamily="2" charset="-78"/>
              </a:rPr>
              <a:t>دوست عزیز سلام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22BFDEC-E02B-5A12-B9EF-558E481B71DC}"/>
              </a:ext>
            </a:extLst>
          </p:cNvPr>
          <p:cNvSpPr/>
          <p:nvPr userDrawn="1"/>
        </p:nvSpPr>
        <p:spPr>
          <a:xfrm rot="-2700000">
            <a:off x="1181338" y="-1491207"/>
            <a:ext cx="5179635" cy="5179634"/>
          </a:xfrm>
          <a:custGeom>
            <a:avLst/>
            <a:gdLst>
              <a:gd name="connsiteX0" fmla="*/ 786101 w 5179635"/>
              <a:gd name="connsiteY0" fmla="*/ 27576 h 5179634"/>
              <a:gd name="connsiteX1" fmla="*/ 5152059 w 5179635"/>
              <a:gd name="connsiteY1" fmla="*/ 4393533 h 5179634"/>
              <a:gd name="connsiteX2" fmla="*/ 5152059 w 5179635"/>
              <a:gd name="connsiteY2" fmla="*/ 4526684 h 5179634"/>
              <a:gd name="connsiteX3" fmla="*/ 4526684 w 5179635"/>
              <a:gd name="connsiteY3" fmla="*/ 5152058 h 5179634"/>
              <a:gd name="connsiteX4" fmla="*/ 4393533 w 5179635"/>
              <a:gd name="connsiteY4" fmla="*/ 5152058 h 5179634"/>
              <a:gd name="connsiteX5" fmla="*/ 645055 w 5179635"/>
              <a:gd name="connsiteY5" fmla="*/ 1403580 h 5179634"/>
              <a:gd name="connsiteX6" fmla="*/ 153382 w 5179635"/>
              <a:gd name="connsiteY6" fmla="*/ 1403580 h 5179634"/>
              <a:gd name="connsiteX7" fmla="*/ 153382 w 5179635"/>
              <a:gd name="connsiteY7" fmla="*/ 911907 h 5179634"/>
              <a:gd name="connsiteX8" fmla="*/ 27576 w 5179635"/>
              <a:gd name="connsiteY8" fmla="*/ 786101 h 5179634"/>
              <a:gd name="connsiteX9" fmla="*/ 27576 w 5179635"/>
              <a:gd name="connsiteY9" fmla="*/ 652950 h 5179634"/>
              <a:gd name="connsiteX10" fmla="*/ 652950 w 5179635"/>
              <a:gd name="connsiteY10" fmla="*/ 27576 h 5179634"/>
              <a:gd name="connsiteX11" fmla="*/ 786101 w 5179635"/>
              <a:gd name="connsiteY11" fmla="*/ 27576 h 517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79635" h="5179634">
                <a:moveTo>
                  <a:pt x="786101" y="27576"/>
                </a:moveTo>
                <a:lnTo>
                  <a:pt x="5152059" y="4393533"/>
                </a:lnTo>
                <a:cubicBezTo>
                  <a:pt x="5188827" y="4430302"/>
                  <a:pt x="5188827" y="4489915"/>
                  <a:pt x="5152059" y="4526684"/>
                </a:cubicBezTo>
                <a:lnTo>
                  <a:pt x="4526684" y="5152058"/>
                </a:lnTo>
                <a:cubicBezTo>
                  <a:pt x="4489915" y="5188827"/>
                  <a:pt x="4430302" y="5188827"/>
                  <a:pt x="4393533" y="5152058"/>
                </a:cubicBezTo>
                <a:lnTo>
                  <a:pt x="645055" y="1403580"/>
                </a:lnTo>
                <a:lnTo>
                  <a:pt x="153382" y="1403580"/>
                </a:lnTo>
                <a:lnTo>
                  <a:pt x="153382" y="911907"/>
                </a:lnTo>
                <a:lnTo>
                  <a:pt x="27576" y="786101"/>
                </a:lnTo>
                <a:cubicBezTo>
                  <a:pt x="-9193" y="749332"/>
                  <a:pt x="-9193" y="689719"/>
                  <a:pt x="27576" y="652950"/>
                </a:cubicBezTo>
                <a:lnTo>
                  <a:pt x="652950" y="27576"/>
                </a:lnTo>
                <a:cubicBezTo>
                  <a:pt x="689719" y="-9193"/>
                  <a:pt x="749333" y="-9193"/>
                  <a:pt x="786101" y="27576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921B7D-3196-5E26-6033-AEF716508D2E}"/>
              </a:ext>
            </a:extLst>
          </p:cNvPr>
          <p:cNvSpPr/>
          <p:nvPr userDrawn="1"/>
        </p:nvSpPr>
        <p:spPr>
          <a:xfrm>
            <a:off x="5530452" y="2425886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E81F31-F1E0-AAFD-41C9-3DBFB330F842}"/>
              </a:ext>
            </a:extLst>
          </p:cNvPr>
          <p:cNvSpPr/>
          <p:nvPr userDrawn="1"/>
        </p:nvSpPr>
        <p:spPr>
          <a:xfrm>
            <a:off x="5530452" y="457444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1699F-CA06-AFD4-460F-4BAF18C434F9}"/>
              </a:ext>
            </a:extLst>
          </p:cNvPr>
          <p:cNvSpPr txBox="1"/>
          <p:nvPr userDrawn="1"/>
        </p:nvSpPr>
        <p:spPr>
          <a:xfrm>
            <a:off x="1234441" y="3265727"/>
            <a:ext cx="4270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تیم ما در تلاش است با تولید قالب های آماده پارپوینت فارسی به هم وطنان عزیزمان کمک کنیم تا ارائه ای  حرفه ای و جذاب تر را برای مخاطبین خود رقم بزنند.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9BF4A1-E49E-C39D-2B37-814143983A40}"/>
              </a:ext>
            </a:extLst>
          </p:cNvPr>
          <p:cNvSpPr/>
          <p:nvPr userDrawn="1"/>
        </p:nvSpPr>
        <p:spPr>
          <a:xfrm>
            <a:off x="5530452" y="337649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0E871FD-1D61-0729-450A-324C42DAEB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552" y="684966"/>
            <a:ext cx="895350" cy="8286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5C03FE4C-DB51-7356-677A-8B08009BC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9344" y="288823"/>
            <a:ext cx="2181225" cy="9239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CCD456-4BA4-078A-8BA2-2054D94EC469}"/>
              </a:ext>
            </a:extLst>
          </p:cNvPr>
          <p:cNvSpPr txBox="1"/>
          <p:nvPr userDrawn="1"/>
        </p:nvSpPr>
        <p:spPr>
          <a:xfrm rot="16200000">
            <a:off x="-31810" y="5058792"/>
            <a:ext cx="176647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/>
              <a:t>www.slidehall.ir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AED77A0-984F-F7D5-6317-74510BD58CD4}"/>
              </a:ext>
            </a:extLst>
          </p:cNvPr>
          <p:cNvSpPr/>
          <p:nvPr userDrawn="1"/>
        </p:nvSpPr>
        <p:spPr>
          <a:xfrm>
            <a:off x="632308" y="2110740"/>
            <a:ext cx="5326533" cy="4084320"/>
          </a:xfrm>
          <a:prstGeom prst="roundRect">
            <a:avLst>
              <a:gd name="adj" fmla="val 3088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5630D3FB-ACDD-F16E-E253-8FAFFDE005F5}"/>
              </a:ext>
            </a:extLst>
          </p:cNvPr>
          <p:cNvSpPr txBox="1">
            <a:spLocks/>
          </p:cNvSpPr>
          <p:nvPr userDrawn="1"/>
        </p:nvSpPr>
        <p:spPr>
          <a:xfrm>
            <a:off x="8017003" y="4118673"/>
            <a:ext cx="2975398" cy="12311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800" b="1" dirty="0">
                <a:solidFill>
                  <a:srgbClr val="FF4410"/>
                </a:solidFill>
                <a:latin typeface="Calibri" panose="020F0502020204030204"/>
                <a:cs typeface="B Homa" panose="00000400000000000000" pitchFamily="2" charset="-78"/>
              </a:rPr>
              <a:t>توجه: </a:t>
            </a:r>
            <a:r>
              <a:rPr lang="fa-I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این محصول از طریق وبسایت اسلایدهال  برای استفاده شخصی کاربران منتشر شده است.</a:t>
            </a:r>
          </a:p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هرگونه کپی برداری یا استفاده تجاری غیر مجاز است.</a:t>
            </a:r>
          </a:p>
        </p:txBody>
      </p:sp>
    </p:spTree>
    <p:extLst>
      <p:ext uri="{BB962C8B-B14F-4D97-AF65-F5344CB8AC3E}">
        <p14:creationId xmlns:p14="http://schemas.microsoft.com/office/powerpoint/2010/main" val="135505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9E44A-3642-B101-8238-1615F1C7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90517-280C-213E-9233-053B28FC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B04B4-61C2-DABA-20C2-799F5C90E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2850" y="6356350"/>
            <a:ext cx="2368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1E88F-2E80-450A-9BD7-29C681CD91A6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914F-3477-3DFC-4153-E5F9E5D43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4054D-4974-DCF0-E0AD-C2D92A4EA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7442" y="6492875"/>
            <a:ext cx="6206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5EFEE-6387-4431-BAE5-F2E6269ECF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83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4" r:id="rId7"/>
    <p:sldLayoutId id="2147483665" r:id="rId8"/>
    <p:sldLayoutId id="2147483655" r:id="rId9"/>
    <p:sldLayoutId id="2147483663" r:id="rId10"/>
    <p:sldLayoutId id="2147483662" r:id="rId11"/>
    <p:sldLayoutId id="2147483661" r:id="rId12"/>
    <p:sldLayoutId id="2147483660" r:id="rId13"/>
    <p:sldLayoutId id="2147483656" r:id="rId14"/>
    <p:sldLayoutId id="2147483657" r:id="rId15"/>
    <p:sldLayoutId id="2147483658" r:id="rId16"/>
    <p:sldLayoutId id="2147483659" r:id="rId17"/>
    <p:sldLayoutId id="2147483666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just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hyperlink" Target="https://search.eitaa.com/?url=https://pylint.readthedocs.io/" TargetMode="External"/><Relationship Id="rId2" Type="http://schemas.openxmlformats.org/officeDocument/2006/relationships/slide" Target="slide5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search.eitaa.com/?url=https://docs.github.com/" TargetMode="External"/><Relationship Id="rId5" Type="http://schemas.openxmlformats.org/officeDocument/2006/relationships/hyperlink" Target="https://search.eitaa.com/?url=https://docs.sonarsource.com/" TargetMode="Externa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slide" Target="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27A711-5022-8752-9410-744EC0CE3C13}"/>
              </a:ext>
            </a:extLst>
          </p:cNvPr>
          <p:cNvSpPr/>
          <p:nvPr/>
        </p:nvSpPr>
        <p:spPr>
          <a:xfrm>
            <a:off x="4655820" y="4807973"/>
            <a:ext cx="2880360" cy="30400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16CC25-38BE-CF24-5F3F-16406BEF32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1" y="2240094"/>
            <a:ext cx="3126659" cy="234499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F97257-F6F8-721A-0771-DB2E121AF5F8}"/>
              </a:ext>
            </a:extLst>
          </p:cNvPr>
          <p:cNvSpPr/>
          <p:nvPr/>
        </p:nvSpPr>
        <p:spPr>
          <a:xfrm rot="7542582">
            <a:off x="-911777" y="7712146"/>
            <a:ext cx="1823551" cy="4275288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D37FCE-C167-EFD4-EDAF-CB26287C9129}"/>
              </a:ext>
            </a:extLst>
          </p:cNvPr>
          <p:cNvSpPr/>
          <p:nvPr/>
        </p:nvSpPr>
        <p:spPr>
          <a:xfrm rot="19827351">
            <a:off x="-3181286" y="-612001"/>
            <a:ext cx="1532906" cy="1224003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9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72F558B-9AC4-87C0-E3E4-D43288B2F1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541E33-8732-C8D3-B6A1-8A329100A4A8}"/>
              </a:ext>
            </a:extLst>
          </p:cNvPr>
          <p:cNvSpPr/>
          <p:nvPr/>
        </p:nvSpPr>
        <p:spPr>
          <a:xfrm rot="9073610">
            <a:off x="10227572" y="4766266"/>
            <a:ext cx="1609553" cy="1609553"/>
          </a:xfrm>
          <a:prstGeom prst="ellipse">
            <a:avLst/>
          </a:prstGeom>
          <a:gradFill>
            <a:gsLst>
              <a:gs pos="1000">
                <a:schemeClr val="accent1">
                  <a:alpha val="27000"/>
                </a:schemeClr>
              </a:gs>
              <a:gs pos="100000">
                <a:schemeClr val="accent3">
                  <a:alpha val="0"/>
                </a:schemeClr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4D332A6-5285-969D-659B-C42171141EA9}"/>
              </a:ext>
            </a:extLst>
          </p:cNvPr>
          <p:cNvSpPr/>
          <p:nvPr/>
        </p:nvSpPr>
        <p:spPr>
          <a:xfrm rot="9073610">
            <a:off x="7636820" y="4766266"/>
            <a:ext cx="1609553" cy="1609553"/>
          </a:xfrm>
          <a:prstGeom prst="ellipse">
            <a:avLst/>
          </a:prstGeom>
          <a:gradFill>
            <a:gsLst>
              <a:gs pos="1000">
                <a:schemeClr val="accent1">
                  <a:alpha val="27000"/>
                </a:schemeClr>
              </a:gs>
              <a:gs pos="100000">
                <a:schemeClr val="accent3">
                  <a:alpha val="0"/>
                </a:schemeClr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EF9300-732A-1B3B-B48C-0161D0901C88}"/>
              </a:ext>
            </a:extLst>
          </p:cNvPr>
          <p:cNvSpPr/>
          <p:nvPr/>
        </p:nvSpPr>
        <p:spPr>
          <a:xfrm rot="9073610">
            <a:off x="5291223" y="4766266"/>
            <a:ext cx="1609553" cy="1609553"/>
          </a:xfrm>
          <a:prstGeom prst="ellipse">
            <a:avLst/>
          </a:prstGeom>
          <a:gradFill>
            <a:gsLst>
              <a:gs pos="1000">
                <a:schemeClr val="accent1">
                  <a:alpha val="27000"/>
                </a:schemeClr>
              </a:gs>
              <a:gs pos="100000">
                <a:schemeClr val="accent3">
                  <a:alpha val="0"/>
                </a:schemeClr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34920BC-05D6-CAA4-27CF-31E3D1BDE35E}"/>
              </a:ext>
            </a:extLst>
          </p:cNvPr>
          <p:cNvSpPr/>
          <p:nvPr/>
        </p:nvSpPr>
        <p:spPr>
          <a:xfrm rot="7542582">
            <a:off x="-115578" y="1730000"/>
            <a:ext cx="3998302" cy="9373960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452B9-C8C7-F73F-AB27-D96B8C11285D}"/>
              </a:ext>
            </a:extLst>
          </p:cNvPr>
          <p:cNvSpPr txBox="1"/>
          <p:nvPr/>
        </p:nvSpPr>
        <p:spPr>
          <a:xfrm>
            <a:off x="3369180" y="2745934"/>
            <a:ext cx="8335122" cy="9037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en-US" sz="5400" b="1" dirty="0">
                <a:ln w="69850" cap="flat" cmpd="tri">
                  <a:noFill/>
                  <a:round/>
                </a:ln>
                <a:cs typeface="+mj-cs"/>
              </a:rPr>
              <a:t> </a:t>
            </a:r>
            <a:r>
              <a:rPr lang="en-US" sz="5400" b="1" dirty="0">
                <a:ln w="69850" cap="flat" cmpd="tri">
                  <a:noFill/>
                  <a:round/>
                </a:ln>
              </a:rPr>
              <a:t>Code </a:t>
            </a:r>
            <a:r>
              <a:rPr lang="en-US" sz="5400" b="1" dirty="0">
                <a:ln w="69850" cap="flat" cmpd="tri">
                  <a:noFill/>
                  <a:round/>
                </a:ln>
                <a:cs typeface="+mj-cs"/>
              </a:rPr>
              <a:t>Clean / Code Smell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3FA3F30-249A-BF58-2550-E3498F6B7B16}"/>
              </a:ext>
            </a:extLst>
          </p:cNvPr>
          <p:cNvSpPr/>
          <p:nvPr/>
        </p:nvSpPr>
        <p:spPr>
          <a:xfrm>
            <a:off x="8328660" y="3689474"/>
            <a:ext cx="3375642" cy="21457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96725-B1F0-C4EC-2048-A4658F8F3196}"/>
              </a:ext>
            </a:extLst>
          </p:cNvPr>
          <p:cNvSpPr txBox="1"/>
          <p:nvPr/>
        </p:nvSpPr>
        <p:spPr>
          <a:xfrm>
            <a:off x="4481889" y="1698884"/>
            <a:ext cx="7222413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j-cs"/>
              </a:rPr>
              <a:t>توسعه نرم افزار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BF87CE-3113-9DDA-63F5-E5DA50BC2D31}"/>
              </a:ext>
            </a:extLst>
          </p:cNvPr>
          <p:cNvGrpSpPr/>
          <p:nvPr/>
        </p:nvGrpSpPr>
        <p:grpSpPr>
          <a:xfrm>
            <a:off x="4285583" y="5283278"/>
            <a:ext cx="2342110" cy="629564"/>
            <a:chOff x="3199628" y="5634491"/>
            <a:chExt cx="5590654" cy="62956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9B9172-BFCF-8AD9-13A6-9026F089A036}"/>
                </a:ext>
              </a:extLst>
            </p:cNvPr>
            <p:cNvSpPr txBox="1"/>
            <p:nvPr/>
          </p:nvSpPr>
          <p:spPr>
            <a:xfrm>
              <a:off x="3211870" y="5634491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cs typeface="+mj-cs"/>
                </a:rPr>
                <a:t>ارائه‌دهنده: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A3C1E1-C53B-547B-5A64-8A5ADB0BFE03}"/>
                </a:ext>
              </a:extLst>
            </p:cNvPr>
            <p:cNvSpPr txBox="1"/>
            <p:nvPr/>
          </p:nvSpPr>
          <p:spPr>
            <a:xfrm>
              <a:off x="3199628" y="5945570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حمیده رضوی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8A10B2-44F0-F41E-D188-8087CC0BC386}"/>
              </a:ext>
            </a:extLst>
          </p:cNvPr>
          <p:cNvGrpSpPr/>
          <p:nvPr/>
        </p:nvGrpSpPr>
        <p:grpSpPr>
          <a:xfrm>
            <a:off x="6792222" y="5283278"/>
            <a:ext cx="2342110" cy="629564"/>
            <a:chOff x="3199628" y="5634491"/>
            <a:chExt cx="5590654" cy="62956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8F9DFA-EB76-CF1E-2C26-56399B67BD37}"/>
                </a:ext>
              </a:extLst>
            </p:cNvPr>
            <p:cNvSpPr txBox="1"/>
            <p:nvPr/>
          </p:nvSpPr>
          <p:spPr>
            <a:xfrm>
              <a:off x="3211870" y="5634491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 rtl="1">
                <a:defRPr/>
              </a:pPr>
              <a:r>
                <a:rPr lang="fa-IR" sz="2000" dirty="0">
                  <a:latin typeface="Calibri" panose="020F0502020204030204"/>
                  <a:cs typeface="+mj-cs"/>
                </a:rPr>
                <a:t>نگارنده: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A8A9A8-F970-B23C-C32E-9875B3BF57B2}"/>
                </a:ext>
              </a:extLst>
            </p:cNvPr>
            <p:cNvSpPr txBox="1"/>
            <p:nvPr/>
          </p:nvSpPr>
          <p:spPr>
            <a:xfrm>
              <a:off x="3199628" y="5945570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مونا لطفی پور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E53F1D-4D5E-3202-F059-79CB92DA0F3C}"/>
              </a:ext>
            </a:extLst>
          </p:cNvPr>
          <p:cNvGrpSpPr/>
          <p:nvPr/>
        </p:nvGrpSpPr>
        <p:grpSpPr>
          <a:xfrm>
            <a:off x="9298862" y="5283278"/>
            <a:ext cx="2342110" cy="629564"/>
            <a:chOff x="3199628" y="5634491"/>
            <a:chExt cx="5590654" cy="6295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6A3330-BA02-E1F0-F43F-E20289116BC9}"/>
                </a:ext>
              </a:extLst>
            </p:cNvPr>
            <p:cNvSpPr txBox="1"/>
            <p:nvPr/>
          </p:nvSpPr>
          <p:spPr>
            <a:xfrm>
              <a:off x="3211870" y="5634491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 rtl="1">
                <a:defRPr/>
              </a:pPr>
              <a:r>
                <a:rPr lang="fa-IR" sz="2000" dirty="0">
                  <a:latin typeface="Calibri" panose="020F0502020204030204"/>
                  <a:cs typeface="+mj-cs"/>
                </a:rPr>
                <a:t>استاد :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9E3E0E-207A-023D-56BE-1541A0BB6C05}"/>
                </a:ext>
              </a:extLst>
            </p:cNvPr>
            <p:cNvSpPr txBox="1"/>
            <p:nvPr/>
          </p:nvSpPr>
          <p:spPr>
            <a:xfrm>
              <a:off x="3199628" y="5945570"/>
              <a:ext cx="5578412" cy="3184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سمیه علی اکبری </a:t>
              </a:r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9111DF-7DFE-088A-4C1F-490BD90C165B}"/>
              </a:ext>
            </a:extLst>
          </p:cNvPr>
          <p:cNvSpPr/>
          <p:nvPr/>
        </p:nvSpPr>
        <p:spPr>
          <a:xfrm rot="7542582">
            <a:off x="-1070406" y="-1303138"/>
            <a:ext cx="4399650" cy="3513056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90524BB-220D-787F-6393-89949BCBF5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66" y="492977"/>
            <a:ext cx="1429407" cy="107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57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72F558B-9AC4-87C0-E3E4-D43288B2F17D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34920BC-05D6-CAA4-27CF-31E3D1BDE35E}"/>
              </a:ext>
            </a:extLst>
          </p:cNvPr>
          <p:cNvSpPr/>
          <p:nvPr/>
        </p:nvSpPr>
        <p:spPr>
          <a:xfrm rot="12570159">
            <a:off x="9171101" y="-1439699"/>
            <a:ext cx="6536220" cy="11374465"/>
          </a:xfrm>
          <a:prstGeom prst="roundRect">
            <a:avLst>
              <a:gd name="adj" fmla="val 5726"/>
            </a:avLst>
          </a:prstGeom>
          <a:solidFill>
            <a:schemeClr val="accent1"/>
          </a:solidFill>
          <a:ln w="57150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F0F910F-540E-B800-1C42-42AD33E5D0BA}"/>
              </a:ext>
            </a:extLst>
          </p:cNvPr>
          <p:cNvSpPr/>
          <p:nvPr/>
        </p:nvSpPr>
        <p:spPr>
          <a:xfrm rot="1721749">
            <a:off x="9010043" y="-1115330"/>
            <a:ext cx="3121677" cy="3586768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E5A8EB-4161-8580-4837-131C05F96689}"/>
              </a:ext>
            </a:extLst>
          </p:cNvPr>
          <p:cNvSpPr txBox="1"/>
          <p:nvPr/>
        </p:nvSpPr>
        <p:spPr>
          <a:xfrm>
            <a:off x="8401490" y="426749"/>
            <a:ext cx="3790510" cy="1303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80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چکیده</a:t>
            </a:r>
            <a:endParaRPr lang="en-US" sz="80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FEF57E-9867-CD23-BF4B-65CEAD6B48D3}"/>
              </a:ext>
            </a:extLst>
          </p:cNvPr>
          <p:cNvSpPr txBox="1"/>
          <p:nvPr/>
        </p:nvSpPr>
        <p:spPr>
          <a:xfrm>
            <a:off x="1426248" y="2287156"/>
            <a:ext cx="6794110" cy="20434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مهندسی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کیفیت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نقش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مهمی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توسعه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نگهداری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بهبود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دارد</a:t>
            </a:r>
            <a:r>
              <a:rPr lang="en-US" dirty="0">
                <a:solidFill>
                  <a:schemeClr val="bg1"/>
                </a:solidFill>
              </a:rPr>
              <a:t>. Clean Code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گفته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می‌شود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خوانا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ساده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قابل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نگهداری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باشد</a:t>
            </a:r>
            <a:r>
              <a:rPr lang="en-US" dirty="0">
                <a:solidFill>
                  <a:schemeClr val="bg1"/>
                </a:solidFill>
              </a:rPr>
              <a:t>؛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مقابل</a:t>
            </a:r>
            <a:r>
              <a:rPr lang="en-US" dirty="0">
                <a:solidFill>
                  <a:schemeClr val="bg1"/>
                </a:solidFill>
              </a:rPr>
              <a:t>، Code Smell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نشانه‌هایی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ساختار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اشاره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دارد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می‌توانند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بیانگر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مشکلات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طراحی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دشواری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توسعه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باشند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ارائه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با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مفاهیم</a:t>
            </a:r>
            <a:r>
              <a:rPr lang="en-US" dirty="0">
                <a:solidFill>
                  <a:schemeClr val="bg1"/>
                </a:solidFill>
              </a:rPr>
              <a:t> Clean Code و Code Smell، </a:t>
            </a:r>
            <a:r>
              <a:rPr lang="en-US" dirty="0" err="1">
                <a:solidFill>
                  <a:schemeClr val="bg1"/>
                </a:solidFill>
              </a:rPr>
              <a:t>انواع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رایج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آن‌ها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روش‌های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اصلاح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نقش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ابزارهایی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مانند</a:t>
            </a:r>
            <a:r>
              <a:rPr lang="en-US" dirty="0">
                <a:solidFill>
                  <a:schemeClr val="bg1"/>
                </a:solidFill>
              </a:rPr>
              <a:t> Git و GitHub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همکاری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تیمی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بهبود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کیفیت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آشنا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می‌شویم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fa-IR" b="1" dirty="0">
              <a:solidFill>
                <a:schemeClr val="bg1"/>
              </a:solidFill>
            </a:endParaRP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3C9A1A39-A0B9-90E4-675F-0A490B64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58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72F558B-9AC4-87C0-E3E4-D43288B2F17D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34920BC-05D6-CAA4-27CF-31E3D1BDE35E}"/>
              </a:ext>
            </a:extLst>
          </p:cNvPr>
          <p:cNvSpPr/>
          <p:nvPr/>
        </p:nvSpPr>
        <p:spPr>
          <a:xfrm rot="9029841" flipH="1">
            <a:off x="-4089906" y="-1439699"/>
            <a:ext cx="6536220" cy="11374465"/>
          </a:xfrm>
          <a:prstGeom prst="roundRect">
            <a:avLst>
              <a:gd name="adj" fmla="val 5726"/>
            </a:avLst>
          </a:prstGeom>
          <a:solidFill>
            <a:schemeClr val="accent1"/>
          </a:solidFill>
          <a:ln w="57150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F0F910F-540E-B800-1C42-42AD33E5D0BA}"/>
              </a:ext>
            </a:extLst>
          </p:cNvPr>
          <p:cNvSpPr/>
          <p:nvPr/>
        </p:nvSpPr>
        <p:spPr>
          <a:xfrm rot="19902114">
            <a:off x="-1797999" y="-1169340"/>
            <a:ext cx="4787769" cy="4248285"/>
          </a:xfrm>
          <a:prstGeom prst="roundRect">
            <a:avLst>
              <a:gd name="adj" fmla="val 5726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E5A8EB-4161-8580-4837-131C05F96689}"/>
              </a:ext>
            </a:extLst>
          </p:cNvPr>
          <p:cNvSpPr txBox="1"/>
          <p:nvPr/>
        </p:nvSpPr>
        <p:spPr>
          <a:xfrm>
            <a:off x="-821796" y="729355"/>
            <a:ext cx="3790510" cy="1303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fa-IR" sz="80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مقدمه</a:t>
            </a:r>
            <a:endParaRPr lang="en-US" sz="80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FEF57E-9867-CD23-BF4B-65CEAD6B48D3}"/>
              </a:ext>
            </a:extLst>
          </p:cNvPr>
          <p:cNvSpPr txBox="1"/>
          <p:nvPr/>
        </p:nvSpPr>
        <p:spPr>
          <a:xfrm>
            <a:off x="4465909" y="1701001"/>
            <a:ext cx="7151505" cy="15237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کیفیت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کد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یکی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از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عوامل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مهم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در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توسعه</a:t>
            </a:r>
            <a:r>
              <a:rPr lang="en-US" sz="2000" dirty="0">
                <a:solidFill>
                  <a:schemeClr val="bg1"/>
                </a:solidFill>
              </a:rPr>
              <a:t> و </a:t>
            </a:r>
            <a:r>
              <a:rPr lang="en-US" sz="2000" dirty="0" err="1">
                <a:solidFill>
                  <a:schemeClr val="bg1"/>
                </a:solidFill>
              </a:rPr>
              <a:t>نگهداری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نرم‌افزار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است</a:t>
            </a:r>
            <a:r>
              <a:rPr lang="en-US" sz="2000" dirty="0">
                <a:solidFill>
                  <a:schemeClr val="bg1"/>
                </a:solidFill>
              </a:rPr>
              <a:t>. Clean Code </a:t>
            </a:r>
            <a:r>
              <a:rPr lang="en-US" sz="2000" dirty="0" err="1">
                <a:solidFill>
                  <a:schemeClr val="bg1"/>
                </a:solidFill>
              </a:rPr>
              <a:t>بر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خوانایی</a:t>
            </a:r>
            <a:r>
              <a:rPr lang="en-US" sz="2000" dirty="0">
                <a:solidFill>
                  <a:schemeClr val="bg1"/>
                </a:solidFill>
              </a:rPr>
              <a:t> و </a:t>
            </a:r>
            <a:r>
              <a:rPr lang="en-US" sz="2000" dirty="0" err="1">
                <a:solidFill>
                  <a:schemeClr val="bg1"/>
                </a:solidFill>
              </a:rPr>
              <a:t>سادگی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کد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تأکید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دارد</a:t>
            </a:r>
            <a:r>
              <a:rPr lang="en-US" sz="2000" dirty="0">
                <a:solidFill>
                  <a:schemeClr val="bg1"/>
                </a:solidFill>
              </a:rPr>
              <a:t>، </a:t>
            </a:r>
            <a:r>
              <a:rPr lang="en-US" sz="2000" dirty="0" err="1">
                <a:solidFill>
                  <a:schemeClr val="bg1"/>
                </a:solidFill>
              </a:rPr>
              <a:t>درحالی‌که</a:t>
            </a:r>
            <a:r>
              <a:rPr lang="en-US" sz="2000" dirty="0">
                <a:solidFill>
                  <a:schemeClr val="bg1"/>
                </a:solidFill>
              </a:rPr>
              <a:t> Code Smell </a:t>
            </a:r>
            <a:r>
              <a:rPr lang="en-US" sz="2000" dirty="0" err="1">
                <a:solidFill>
                  <a:schemeClr val="bg1"/>
                </a:solidFill>
              </a:rPr>
              <a:t>نشانه‌هایی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از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ضعف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در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طراحی</a:t>
            </a:r>
            <a:r>
              <a:rPr lang="en-US" sz="2000" dirty="0">
                <a:solidFill>
                  <a:schemeClr val="bg1"/>
                </a:solidFill>
              </a:rPr>
              <a:t> و </a:t>
            </a:r>
            <a:r>
              <a:rPr lang="en-US" sz="2000" dirty="0" err="1">
                <a:solidFill>
                  <a:schemeClr val="bg1"/>
                </a:solidFill>
              </a:rPr>
              <a:t>ساختار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کد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را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مشخص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می‌کند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شناخت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این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مفاهیم</a:t>
            </a:r>
            <a:r>
              <a:rPr lang="en-US" sz="2000" dirty="0">
                <a:solidFill>
                  <a:schemeClr val="bg1"/>
                </a:solidFill>
              </a:rPr>
              <a:t> و </a:t>
            </a:r>
            <a:r>
              <a:rPr lang="en-US" sz="2000" dirty="0" err="1">
                <a:solidFill>
                  <a:schemeClr val="bg1"/>
                </a:solidFill>
              </a:rPr>
              <a:t>استفاده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از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ابزارهایی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مانند</a:t>
            </a:r>
            <a:r>
              <a:rPr lang="en-US" sz="2000" dirty="0">
                <a:solidFill>
                  <a:schemeClr val="bg1"/>
                </a:solidFill>
              </a:rPr>
              <a:t> Git و GitHub </a:t>
            </a:r>
            <a:r>
              <a:rPr lang="en-US" sz="2000" dirty="0" err="1">
                <a:solidFill>
                  <a:schemeClr val="bg1"/>
                </a:solidFill>
              </a:rPr>
              <a:t>به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بهبود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کیفیت</a:t>
            </a:r>
            <a:r>
              <a:rPr lang="en-US" sz="2000" dirty="0">
                <a:solidFill>
                  <a:schemeClr val="bg1"/>
                </a:solidFill>
              </a:rPr>
              <a:t> و </a:t>
            </a:r>
            <a:r>
              <a:rPr lang="en-US" sz="2000" dirty="0" err="1">
                <a:solidFill>
                  <a:schemeClr val="bg1"/>
                </a:solidFill>
              </a:rPr>
              <a:t>توسعه‌پذیری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نرم‌افزار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کمک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می‌کند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fa-IR" sz="2000" b="1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E3248-25FD-CF76-8BF7-F76F862C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38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E36247-E49A-5547-CAAD-90F741F7E00E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452B9-C8C7-F73F-AB27-D96B8C11285D}"/>
              </a:ext>
            </a:extLst>
          </p:cNvPr>
          <p:cNvSpPr txBox="1"/>
          <p:nvPr/>
        </p:nvSpPr>
        <p:spPr>
          <a:xfrm>
            <a:off x="1526392" y="565217"/>
            <a:ext cx="9400369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en-US" sz="3600" dirty="0" err="1">
                <a:solidFill>
                  <a:schemeClr val="accent3"/>
                </a:solidFill>
              </a:rPr>
              <a:t>مفاهیم</a:t>
            </a:r>
            <a:r>
              <a:rPr lang="en-US" sz="3600" dirty="0">
                <a:solidFill>
                  <a:schemeClr val="accent3"/>
                </a:solidFill>
              </a:rPr>
              <a:t> و </a:t>
            </a:r>
            <a:r>
              <a:rPr lang="en-US" sz="3600" dirty="0" err="1">
                <a:solidFill>
                  <a:schemeClr val="accent3"/>
                </a:solidFill>
              </a:rPr>
              <a:t>اصول</a:t>
            </a:r>
            <a:r>
              <a:rPr lang="en-US" sz="3600" dirty="0">
                <a:solidFill>
                  <a:schemeClr val="accent3"/>
                </a:solidFill>
              </a:rPr>
              <a:t> Clean Code</a:t>
            </a:r>
            <a:endParaRPr lang="en-US" sz="3600" b="1" dirty="0">
              <a:solidFill>
                <a:schemeClr val="accent3"/>
              </a:solidFill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20D74-8FA7-CF64-5042-18C5DC17FC25}"/>
              </a:ext>
            </a:extLst>
          </p:cNvPr>
          <p:cNvSpPr txBox="1"/>
          <p:nvPr/>
        </p:nvSpPr>
        <p:spPr>
          <a:xfrm>
            <a:off x="696685" y="1827263"/>
            <a:ext cx="10838811" cy="7138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b="1" dirty="0"/>
              <a:t>Clean Code </a:t>
            </a:r>
            <a:r>
              <a:rPr lang="en-US" b="1" dirty="0" err="1"/>
              <a:t>یا</a:t>
            </a:r>
            <a:r>
              <a:rPr lang="en-US" b="1" dirty="0"/>
              <a:t> </a:t>
            </a:r>
            <a:r>
              <a:rPr lang="en-US" b="1" dirty="0" err="1"/>
              <a:t>کدنویسی</a:t>
            </a:r>
            <a:r>
              <a:rPr lang="en-US" b="1" dirty="0"/>
              <a:t> </a:t>
            </a:r>
            <a:r>
              <a:rPr lang="en-US" b="1" dirty="0" err="1"/>
              <a:t>تمیز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شیوه‌ای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برنامه‌نویسی</a:t>
            </a:r>
            <a:r>
              <a:rPr lang="en-US" b="1" dirty="0"/>
              <a:t> </a:t>
            </a:r>
            <a:r>
              <a:rPr lang="en-US" b="1" dirty="0" err="1"/>
              <a:t>گفته</a:t>
            </a:r>
            <a:r>
              <a:rPr lang="en-US" b="1" dirty="0"/>
              <a:t> </a:t>
            </a:r>
            <a:r>
              <a:rPr lang="en-US" b="1" dirty="0" err="1"/>
              <a:t>می‌شود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آن</a:t>
            </a:r>
            <a:r>
              <a:rPr lang="en-US" b="1" dirty="0"/>
              <a:t> </a:t>
            </a:r>
            <a:r>
              <a:rPr lang="en-US" b="1" dirty="0" err="1"/>
              <a:t>کدها</a:t>
            </a:r>
            <a:r>
              <a:rPr lang="en-US" b="1" dirty="0"/>
              <a:t> </a:t>
            </a:r>
            <a:r>
              <a:rPr lang="en-US" b="1" dirty="0" err="1"/>
              <a:t>به‌صورت</a:t>
            </a:r>
            <a:r>
              <a:rPr lang="en-US" b="1" dirty="0"/>
              <a:t> </a:t>
            </a:r>
            <a:r>
              <a:rPr lang="en-US" b="1" dirty="0" err="1"/>
              <a:t>خوانا</a:t>
            </a:r>
            <a:r>
              <a:rPr lang="en-US" b="1" dirty="0"/>
              <a:t>، </a:t>
            </a:r>
            <a:r>
              <a:rPr lang="en-US" b="1" dirty="0" err="1"/>
              <a:t>ساده</a:t>
            </a:r>
            <a:r>
              <a:rPr lang="en-US" b="1" dirty="0"/>
              <a:t>، </a:t>
            </a:r>
            <a:r>
              <a:rPr lang="en-US" b="1" dirty="0" err="1"/>
              <a:t>قابل</a:t>
            </a:r>
            <a:r>
              <a:rPr lang="en-US" b="1" dirty="0"/>
              <a:t> </a:t>
            </a:r>
            <a:r>
              <a:rPr lang="en-US" b="1" dirty="0" err="1"/>
              <a:t>فهم</a:t>
            </a:r>
            <a:r>
              <a:rPr lang="en-US" b="1" dirty="0"/>
              <a:t> و </a:t>
            </a:r>
            <a:r>
              <a:rPr lang="en-US" b="1" dirty="0" err="1"/>
              <a:t>قابل</a:t>
            </a:r>
            <a:r>
              <a:rPr lang="en-US" b="1" dirty="0"/>
              <a:t> </a:t>
            </a:r>
            <a:r>
              <a:rPr lang="en-US" b="1" dirty="0" err="1"/>
              <a:t>نگهداری</a:t>
            </a:r>
            <a:r>
              <a:rPr lang="en-US" b="1" dirty="0"/>
              <a:t> </a:t>
            </a:r>
            <a:r>
              <a:rPr lang="en-US" b="1" dirty="0" err="1"/>
              <a:t>نوشته</a:t>
            </a:r>
            <a:r>
              <a:rPr lang="en-US" b="1" dirty="0"/>
              <a:t> </a:t>
            </a:r>
            <a:r>
              <a:rPr lang="en-US" b="1" dirty="0" err="1"/>
              <a:t>می‌شوند</a:t>
            </a:r>
            <a:r>
              <a:rPr lang="en-US" b="1" dirty="0"/>
              <a:t>. </a:t>
            </a:r>
            <a:r>
              <a:rPr lang="en-US" b="1" dirty="0" err="1"/>
              <a:t>هدف</a:t>
            </a:r>
            <a:r>
              <a:rPr lang="en-US" b="1" dirty="0"/>
              <a:t> </a:t>
            </a:r>
            <a:r>
              <a:rPr lang="en-US" b="1" dirty="0" err="1"/>
              <a:t>اصلی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رویکرد</a:t>
            </a:r>
            <a:r>
              <a:rPr lang="en-US" b="1" dirty="0"/>
              <a:t>، </a:t>
            </a:r>
            <a:r>
              <a:rPr lang="en-US" b="1" dirty="0" err="1"/>
              <a:t>تسهیل</a:t>
            </a:r>
            <a:r>
              <a:rPr lang="en-US" b="1" dirty="0"/>
              <a:t> </a:t>
            </a:r>
            <a:r>
              <a:rPr lang="en-US" b="1" dirty="0" err="1"/>
              <a:t>درک</a:t>
            </a:r>
            <a:r>
              <a:rPr lang="en-US" b="1" dirty="0"/>
              <a:t> </a:t>
            </a:r>
            <a:r>
              <a:rPr lang="en-US" b="1" dirty="0" err="1"/>
              <a:t>کد</a:t>
            </a:r>
            <a:r>
              <a:rPr lang="en-US" b="1" dirty="0"/>
              <a:t> </a:t>
            </a:r>
            <a:r>
              <a:rPr lang="en-US" b="1" dirty="0" err="1"/>
              <a:t>توسط</a:t>
            </a:r>
            <a:r>
              <a:rPr lang="en-US" b="1" dirty="0"/>
              <a:t> </a:t>
            </a:r>
            <a:r>
              <a:rPr lang="en-US" b="1" dirty="0" err="1"/>
              <a:t>برنامه‌نویسان</a:t>
            </a:r>
            <a:r>
              <a:rPr lang="en-US" b="1" dirty="0"/>
              <a:t> و </a:t>
            </a:r>
            <a:r>
              <a:rPr lang="en-US" b="1" dirty="0" err="1"/>
              <a:t>کاهش</a:t>
            </a:r>
            <a:r>
              <a:rPr lang="en-US" b="1" dirty="0"/>
              <a:t> </a:t>
            </a:r>
            <a:r>
              <a:rPr lang="en-US" b="1" dirty="0" err="1"/>
              <a:t>پیچیدگی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فرایند</a:t>
            </a:r>
            <a:r>
              <a:rPr lang="en-US" b="1" dirty="0"/>
              <a:t> </a:t>
            </a:r>
            <a:r>
              <a:rPr lang="en-US" b="1" dirty="0" err="1"/>
              <a:t>توسعه</a:t>
            </a:r>
            <a:r>
              <a:rPr lang="en-US" b="1" dirty="0"/>
              <a:t> و </a:t>
            </a:r>
            <a:r>
              <a:rPr lang="en-US" b="1" dirty="0" err="1"/>
              <a:t>اصلاح</a:t>
            </a:r>
            <a:r>
              <a:rPr lang="en-US" b="1" dirty="0"/>
              <a:t> </a:t>
            </a:r>
            <a:r>
              <a:rPr lang="en-US" b="1" dirty="0" err="1"/>
              <a:t>نرم‌افزار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.</a:t>
            </a:r>
            <a:endParaRPr lang="fa-IR" b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94086B-4626-2CF9-905C-725BA4CC549D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F8F9E95-53B9-C05C-2BE8-233CDBC4D6D2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4CD19F9-378B-ECDF-C534-428FAD9341CF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C61AF44-C05B-35D1-222A-8886A118637E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78BB953-83E8-6D8E-039E-5EB355E87C81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134F36D-9378-6BCB-C5E4-2280F24FA143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5749F5-5E77-C0C3-312E-E8E512B564F9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11D5BDC-8CB9-CBEA-B2FF-CE2981BDF480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824778-8626-CA34-5D8D-EDD870ADCE82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78B30B-FF64-7226-4415-4AA1FCC8595A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D235121-5BFE-078F-0FC8-EEDC601B5928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1946621-DE26-7C8A-3183-D1378050996D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5A84077-A3B8-EB70-AA24-002EF9B9FBC6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5A358A8-020B-ADB0-8989-DE7B33E8E921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447594-503C-4289-DA03-D484D9407890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05368AD-0D63-CAE0-09A3-6E63469A9A09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A57594D-5D8D-AC7F-9E33-00DC9F1AA927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B73D625-F575-DB05-9D39-59A47A0DE436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3A2735DF-9A77-064D-7A9B-717C5CF3A4F4}"/>
              </a:ext>
            </a:extLst>
          </p:cNvPr>
          <p:cNvSpPr/>
          <p:nvPr/>
        </p:nvSpPr>
        <p:spPr>
          <a:xfrm>
            <a:off x="10048316" y="6858000"/>
            <a:ext cx="1777490" cy="150127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D5AA7F18-236C-D02D-A976-4D9F8F1A55E2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4502798E-0517-7F6E-59ED-59ED672597F0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376863DF-C598-D9BB-0188-958ABCF6A5BF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A4B5E2BB-8690-D8A7-E3B3-9022A2DAAC92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8DE4BFE2-8D19-2DAD-9B34-28C0F2677601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F9DDEE-3FB4-B16C-DAD4-BB1F314BCB86}"/>
              </a:ext>
            </a:extLst>
          </p:cNvPr>
          <p:cNvSpPr/>
          <p:nvPr/>
        </p:nvSpPr>
        <p:spPr>
          <a:xfrm>
            <a:off x="11063314" y="662567"/>
            <a:ext cx="432000" cy="432000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Earth Globe - Asia with solid fill">
            <a:extLst>
              <a:ext uri="{FF2B5EF4-FFF2-40B4-BE49-F238E27FC236}">
                <a16:creationId xmlns:a16="http://schemas.microsoft.com/office/drawing/2014/main" id="{628A75B7-80B7-5891-9E94-1330BA463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5408" y="3094933"/>
            <a:ext cx="2310721" cy="231072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20FA27-07F5-6832-B17E-8EFCBC25F489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4E6C50-CAD1-52FB-16BC-CA7EC03F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5</a:t>
            </a:fld>
            <a:endParaRPr lang="en-US"/>
          </a:p>
        </p:txBody>
      </p:sp>
      <p:pic>
        <p:nvPicPr>
          <p:cNvPr id="2" name="Graphic 1" descr="Hom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0A0A9E1F-2E1B-13A1-8283-7E5D92AA8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3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AA5E53-D6A1-AA7D-1F6C-230530D73542}"/>
              </a:ext>
            </a:extLst>
          </p:cNvPr>
          <p:cNvSpPr/>
          <p:nvPr/>
        </p:nvSpPr>
        <p:spPr>
          <a:xfrm rot="16200000">
            <a:off x="513405" y="2118240"/>
            <a:ext cx="4028698" cy="2859314"/>
          </a:xfrm>
          <a:prstGeom prst="roundRect">
            <a:avLst>
              <a:gd name="adj" fmla="val 5726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FA5C79F-2FB1-26E9-1FA8-E723F7EFADE0}"/>
              </a:ext>
            </a:extLst>
          </p:cNvPr>
          <p:cNvSpPr/>
          <p:nvPr/>
        </p:nvSpPr>
        <p:spPr>
          <a:xfrm rot="5400000" flipV="1">
            <a:off x="9264966" y="3331897"/>
            <a:ext cx="4028695" cy="432000"/>
          </a:xfrm>
          <a:prstGeom prst="roundRect">
            <a:avLst>
              <a:gd name="adj" fmla="val 28656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BA827-0836-09A5-F728-492EFD37395E}"/>
              </a:ext>
            </a:extLst>
          </p:cNvPr>
          <p:cNvSpPr txBox="1"/>
          <p:nvPr/>
        </p:nvSpPr>
        <p:spPr>
          <a:xfrm>
            <a:off x="1488656" y="565217"/>
            <a:ext cx="9438105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fa-IR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اصول اصلی </a:t>
            </a:r>
            <a:r>
              <a:rPr lang="en-US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Clean Code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A0649D-94D2-C0EF-B49F-0BCB8F667ECC}"/>
              </a:ext>
            </a:extLst>
          </p:cNvPr>
          <p:cNvSpPr/>
          <p:nvPr/>
        </p:nvSpPr>
        <p:spPr>
          <a:xfrm>
            <a:off x="11063314" y="662567"/>
            <a:ext cx="432000" cy="432000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FB7625-E596-FCBC-3CF0-3986AA491583}"/>
              </a:ext>
            </a:extLst>
          </p:cNvPr>
          <p:cNvSpPr txBox="1"/>
          <p:nvPr/>
        </p:nvSpPr>
        <p:spPr>
          <a:xfrm>
            <a:off x="4440966" y="3277059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- </a:t>
            </a:r>
            <a:r>
              <a:rPr lang="en-US" sz="1400" dirty="0" err="1"/>
              <a:t>مسئولیت</a:t>
            </a:r>
            <a:r>
              <a:rPr lang="en-US" sz="1400" dirty="0"/>
              <a:t> </a:t>
            </a:r>
            <a:r>
              <a:rPr lang="en-US" sz="1400" dirty="0" err="1"/>
              <a:t>مشخص</a:t>
            </a:r>
            <a:r>
              <a:rPr lang="en-US" sz="1400" dirty="0"/>
              <a:t>: </a:t>
            </a:r>
            <a:r>
              <a:rPr lang="en-US" sz="1400" dirty="0" err="1"/>
              <a:t>هر</a:t>
            </a:r>
            <a:r>
              <a:rPr lang="en-US" sz="1400" dirty="0"/>
              <a:t> </a:t>
            </a:r>
            <a:r>
              <a:rPr lang="en-US" sz="1400" dirty="0" err="1"/>
              <a:t>تابع</a:t>
            </a:r>
            <a:r>
              <a:rPr lang="en-US" sz="1400" dirty="0"/>
              <a:t> </a:t>
            </a:r>
            <a:r>
              <a:rPr lang="en-US" sz="1400" dirty="0" err="1"/>
              <a:t>یا</a:t>
            </a:r>
            <a:r>
              <a:rPr lang="en-US" sz="1400" dirty="0"/>
              <a:t> </a:t>
            </a:r>
            <a:r>
              <a:rPr lang="en-US" sz="1400" dirty="0" err="1"/>
              <a:t>بخش</a:t>
            </a:r>
            <a:r>
              <a:rPr lang="en-US" sz="1400" dirty="0"/>
              <a:t> </a:t>
            </a:r>
            <a:r>
              <a:rPr lang="en-US" sz="1400" dirty="0" err="1"/>
              <a:t>از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تا</a:t>
            </a:r>
            <a:r>
              <a:rPr lang="en-US" sz="1400" dirty="0"/>
              <a:t> </a:t>
            </a:r>
            <a:r>
              <a:rPr lang="en-US" sz="1400" dirty="0" err="1"/>
              <a:t>حد</a:t>
            </a:r>
            <a:r>
              <a:rPr lang="en-US" sz="1400" dirty="0"/>
              <a:t> </a:t>
            </a:r>
            <a:r>
              <a:rPr lang="en-US" sz="1400" dirty="0" err="1"/>
              <a:t>امکان</a:t>
            </a:r>
            <a:r>
              <a:rPr lang="en-US" sz="1400" dirty="0"/>
              <a:t> </a:t>
            </a:r>
            <a:r>
              <a:rPr lang="en-US" sz="1400" dirty="0" err="1"/>
              <a:t>وظیفه</a:t>
            </a:r>
            <a:r>
              <a:rPr lang="en-US" sz="1400" dirty="0"/>
              <a:t> </a:t>
            </a:r>
            <a:r>
              <a:rPr lang="en-US" sz="1400" dirty="0" err="1"/>
              <a:t>مشخصی</a:t>
            </a:r>
            <a:r>
              <a:rPr lang="en-US" sz="1400" dirty="0"/>
              <a:t> </a:t>
            </a:r>
            <a:r>
              <a:rPr lang="en-US" sz="1400" dirty="0" err="1"/>
              <a:t>داشته</a:t>
            </a:r>
            <a:r>
              <a:rPr lang="en-US" sz="1400" dirty="0"/>
              <a:t> </a:t>
            </a:r>
            <a:r>
              <a:rPr lang="en-US" sz="1400" dirty="0" err="1"/>
              <a:t>باشد</a:t>
            </a:r>
            <a:r>
              <a:rPr lang="en-US" sz="1400" dirty="0"/>
              <a:t>. .</a:t>
            </a:r>
            <a:endParaRPr lang="fa-IR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5C167F-2A78-161D-9BAE-9A61AE701D68}"/>
              </a:ext>
            </a:extLst>
          </p:cNvPr>
          <p:cNvSpPr/>
          <p:nvPr/>
        </p:nvSpPr>
        <p:spPr>
          <a:xfrm rot="16200000">
            <a:off x="-1241103" y="3331897"/>
            <a:ext cx="4028695" cy="432000"/>
          </a:xfrm>
          <a:prstGeom prst="roundRect">
            <a:avLst>
              <a:gd name="adj" fmla="val 28656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270A92-C687-55E4-E2D6-08164E46D7DF}"/>
              </a:ext>
            </a:extLst>
          </p:cNvPr>
          <p:cNvSpPr txBox="1"/>
          <p:nvPr/>
        </p:nvSpPr>
        <p:spPr>
          <a:xfrm>
            <a:off x="4345149" y="1637954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- </a:t>
            </a:r>
            <a:r>
              <a:rPr lang="en-US" sz="1400" dirty="0" err="1"/>
              <a:t>خوانایی</a:t>
            </a:r>
            <a:r>
              <a:rPr lang="en-US" sz="1400" dirty="0"/>
              <a:t>: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باید</a:t>
            </a:r>
            <a:r>
              <a:rPr lang="en-US" sz="1400" dirty="0"/>
              <a:t> </a:t>
            </a:r>
            <a:r>
              <a:rPr lang="en-US" sz="1400" dirty="0" err="1"/>
              <a:t>به‌راحتی</a:t>
            </a:r>
            <a:r>
              <a:rPr lang="en-US" sz="1400" dirty="0"/>
              <a:t> </a:t>
            </a:r>
            <a:r>
              <a:rPr lang="en-US" sz="1400" dirty="0" err="1"/>
              <a:t>قابل</a:t>
            </a:r>
            <a:r>
              <a:rPr lang="en-US" sz="1400" dirty="0"/>
              <a:t> </a:t>
            </a:r>
            <a:r>
              <a:rPr lang="en-US" sz="1400" dirty="0" err="1"/>
              <a:t>فهم</a:t>
            </a:r>
            <a:r>
              <a:rPr lang="en-US" sz="1400" dirty="0"/>
              <a:t> </a:t>
            </a:r>
            <a:r>
              <a:rPr lang="en-US" sz="1400" dirty="0" err="1"/>
              <a:t>باشد</a:t>
            </a:r>
            <a:r>
              <a:rPr lang="en-US" sz="1400" dirty="0"/>
              <a:t>.</a:t>
            </a:r>
            <a:endParaRPr lang="fa-IR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CF6B1-D018-F8A7-13D9-0EA53C28F84E}"/>
              </a:ext>
            </a:extLst>
          </p:cNvPr>
          <p:cNvSpPr txBox="1"/>
          <p:nvPr/>
        </p:nvSpPr>
        <p:spPr>
          <a:xfrm>
            <a:off x="4417360" y="2197164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- </a:t>
            </a:r>
            <a:r>
              <a:rPr lang="en-US" sz="1400" dirty="0" err="1"/>
              <a:t>نام‌گذاری</a:t>
            </a:r>
            <a:r>
              <a:rPr lang="en-US" sz="1400" dirty="0"/>
              <a:t> </a:t>
            </a:r>
            <a:r>
              <a:rPr lang="en-US" sz="1400" dirty="0" err="1"/>
              <a:t>مناسب</a:t>
            </a:r>
            <a:r>
              <a:rPr lang="en-US" sz="1400" dirty="0"/>
              <a:t>: </a:t>
            </a:r>
            <a:r>
              <a:rPr lang="en-US" sz="1400" dirty="0" err="1"/>
              <a:t>متغیرها</a:t>
            </a:r>
            <a:r>
              <a:rPr lang="en-US" sz="1400" dirty="0"/>
              <a:t>، </a:t>
            </a:r>
            <a:r>
              <a:rPr lang="en-US" sz="1400" dirty="0" err="1"/>
              <a:t>توابع</a:t>
            </a:r>
            <a:r>
              <a:rPr lang="en-US" sz="1400" dirty="0"/>
              <a:t> و </a:t>
            </a:r>
            <a:r>
              <a:rPr lang="en-US" sz="1400" dirty="0" err="1"/>
              <a:t>کلاس‌ها</a:t>
            </a:r>
            <a:r>
              <a:rPr lang="en-US" sz="1400" dirty="0"/>
              <a:t> </a:t>
            </a:r>
            <a:r>
              <a:rPr lang="en-US" sz="1400" dirty="0" err="1"/>
              <a:t>باید</a:t>
            </a:r>
            <a:r>
              <a:rPr lang="en-US" sz="1400" dirty="0"/>
              <a:t> </a:t>
            </a:r>
            <a:r>
              <a:rPr lang="en-US" sz="1400" dirty="0" err="1"/>
              <a:t>نام‌های</a:t>
            </a:r>
            <a:r>
              <a:rPr lang="en-US" sz="1400" dirty="0"/>
              <a:t> </a:t>
            </a:r>
            <a:r>
              <a:rPr lang="en-US" sz="1400" dirty="0" err="1"/>
              <a:t>معنادار</a:t>
            </a:r>
            <a:r>
              <a:rPr lang="en-US" sz="1400" dirty="0"/>
              <a:t> </a:t>
            </a:r>
            <a:r>
              <a:rPr lang="en-US" sz="1400" dirty="0" err="1"/>
              <a:t>داشته</a:t>
            </a:r>
            <a:r>
              <a:rPr lang="en-US" sz="1400" dirty="0"/>
              <a:t> </a:t>
            </a:r>
            <a:r>
              <a:rPr lang="en-US" sz="1400" dirty="0" err="1"/>
              <a:t>باشند</a:t>
            </a:r>
            <a:r>
              <a:rPr lang="en-US" sz="1400" dirty="0"/>
              <a:t>.</a:t>
            </a:r>
            <a:endParaRPr lang="fa-I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966AF2-CE55-D1B2-BCFE-ABA8579AD428}"/>
              </a:ext>
            </a:extLst>
          </p:cNvPr>
          <p:cNvSpPr txBox="1"/>
          <p:nvPr/>
        </p:nvSpPr>
        <p:spPr>
          <a:xfrm>
            <a:off x="4429907" y="2731697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- </a:t>
            </a:r>
            <a:r>
              <a:rPr lang="en-US" sz="1400" dirty="0" err="1"/>
              <a:t>سادگی</a:t>
            </a:r>
            <a:r>
              <a:rPr lang="en-US" sz="1400" dirty="0"/>
              <a:t>: </a:t>
            </a:r>
            <a:r>
              <a:rPr lang="en-US" sz="1400" dirty="0" err="1"/>
              <a:t>از</a:t>
            </a:r>
            <a:r>
              <a:rPr lang="en-US" sz="1400" dirty="0"/>
              <a:t> </a:t>
            </a:r>
            <a:r>
              <a:rPr lang="en-US" sz="1400" dirty="0" err="1"/>
              <a:t>پیچیدگی‌های</a:t>
            </a:r>
            <a:r>
              <a:rPr lang="en-US" sz="1400" dirty="0"/>
              <a:t> </a:t>
            </a:r>
            <a:r>
              <a:rPr lang="en-US" sz="1400" dirty="0" err="1"/>
              <a:t>غیرضروری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کدنویسی</a:t>
            </a:r>
            <a:r>
              <a:rPr lang="en-US" sz="1400" dirty="0"/>
              <a:t> </a:t>
            </a:r>
            <a:r>
              <a:rPr lang="en-US" sz="1400" dirty="0" err="1"/>
              <a:t>اجتناب</a:t>
            </a:r>
            <a:r>
              <a:rPr lang="en-US" sz="1400" dirty="0"/>
              <a:t> </a:t>
            </a:r>
            <a:r>
              <a:rPr lang="en-US" sz="1400" dirty="0" err="1"/>
              <a:t>شود</a:t>
            </a:r>
            <a:r>
              <a:rPr lang="en-US" sz="1400" dirty="0"/>
              <a:t>.</a:t>
            </a:r>
            <a:endParaRPr lang="fa-I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EDD896-52F7-D64C-2E58-35A36B0D8320}"/>
              </a:ext>
            </a:extLst>
          </p:cNvPr>
          <p:cNvSpPr txBox="1"/>
          <p:nvPr/>
        </p:nvSpPr>
        <p:spPr>
          <a:xfrm rot="16200000">
            <a:off x="-1103176" y="3297238"/>
            <a:ext cx="379090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algn="ctr" rtl="1">
              <a:defRPr>
                <a:solidFill>
                  <a:schemeClr val="bg1"/>
                </a:solidFill>
                <a:cs typeface="+mj-cs"/>
              </a:defRPr>
            </a:lvl1pPr>
          </a:lstStyle>
          <a:p>
            <a:r>
              <a:rPr lang="en-US" sz="2000" dirty="0" err="1"/>
              <a:t>مفاهیم</a:t>
            </a:r>
            <a:r>
              <a:rPr lang="en-US" sz="2000" dirty="0"/>
              <a:t> و </a:t>
            </a:r>
            <a:r>
              <a:rPr lang="en-US" sz="2000" dirty="0" err="1"/>
              <a:t>اصول</a:t>
            </a:r>
            <a:r>
              <a:rPr lang="en-US" sz="2000" dirty="0"/>
              <a:t> Clean Code</a:t>
            </a:r>
            <a:endParaRPr lang="fa-IR" sz="2000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EEA90D0-8623-C329-FEA2-9D676E356A81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A57F61-23D0-255E-33E2-28CADEDCC57C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591A15F3-72DB-E3F1-5838-903E9E6DABCF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83F8F14-3871-254A-149E-27E9B31D1D4B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A4721ED-CE1E-A888-D9BC-49748E290B61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9D9B855-3F0B-1B34-798A-863C9C1E826B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BC6D13A-6B59-429C-7E9D-3F3345AB5D47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40BC99E-0D31-467C-BFA3-1FE4869A14F5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927D1B99-D713-CE7B-2A33-43D6EAAEF907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77F347F-37CC-D5D3-AA24-DAC8BC5F8804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1D0C694-54F0-E6FE-E759-F99625B1EF8D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B0C41B19-3DCA-0C08-0B90-378B4F144B5A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F09D2D3-5CDC-6374-F7FE-2AA35B2E1F5B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599AB53-629D-E095-041D-ABEA80748977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D783D680-0410-4EC2-9029-09704508BF09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BC5C9FE-79BA-4336-70C5-65163FF76117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5459FB6-7841-22B5-DAF9-8DF89A5D2945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3C441687-926C-FDB9-F50D-495642C9D235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3D01C73-9350-0F3D-B5C1-B31541750496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167" name="Rectangle: Top Corners Rounded 166">
            <a:extLst>
              <a:ext uri="{FF2B5EF4-FFF2-40B4-BE49-F238E27FC236}">
                <a16:creationId xmlns:a16="http://schemas.microsoft.com/office/drawing/2014/main" id="{A98F569D-B6AD-38F9-197A-B035F67CF474}"/>
              </a:ext>
            </a:extLst>
          </p:cNvPr>
          <p:cNvSpPr/>
          <p:nvPr/>
        </p:nvSpPr>
        <p:spPr>
          <a:xfrm>
            <a:off x="10048316" y="6858000"/>
            <a:ext cx="1777490" cy="150127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: Top Corners Rounded 167">
            <a:extLst>
              <a:ext uri="{FF2B5EF4-FFF2-40B4-BE49-F238E27FC236}">
                <a16:creationId xmlns:a16="http://schemas.microsoft.com/office/drawing/2014/main" id="{FFB14F44-02DA-DE01-E5B1-FEC7D369C127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: Top Corners Rounded 168">
            <a:extLst>
              <a:ext uri="{FF2B5EF4-FFF2-40B4-BE49-F238E27FC236}">
                <a16:creationId xmlns:a16="http://schemas.microsoft.com/office/drawing/2014/main" id="{535AB7A9-2E66-C1AA-8A6B-68B1FFF38E54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: Top Corners Rounded 169">
            <a:extLst>
              <a:ext uri="{FF2B5EF4-FFF2-40B4-BE49-F238E27FC236}">
                <a16:creationId xmlns:a16="http://schemas.microsoft.com/office/drawing/2014/main" id="{A443B5ED-6DD3-C75E-B744-72043D6213CE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: Top Corners Rounded 170">
            <a:extLst>
              <a:ext uri="{FF2B5EF4-FFF2-40B4-BE49-F238E27FC236}">
                <a16:creationId xmlns:a16="http://schemas.microsoft.com/office/drawing/2014/main" id="{528FFEEA-583C-DF9E-4FC6-D74EC1E87CDA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: Top Corners Rounded 171">
            <a:extLst>
              <a:ext uri="{FF2B5EF4-FFF2-40B4-BE49-F238E27FC236}">
                <a16:creationId xmlns:a16="http://schemas.microsoft.com/office/drawing/2014/main" id="{B0CF8438-3BEB-1FF8-1F05-1299F1E7B9F7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Slide Number Placeholder 172">
            <a:extLst>
              <a:ext uri="{FF2B5EF4-FFF2-40B4-BE49-F238E27FC236}">
                <a16:creationId xmlns:a16="http://schemas.microsoft.com/office/drawing/2014/main" id="{D2D9FF43-1D81-7B59-228E-676095A3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6</a:t>
            </a:fld>
            <a:endParaRPr lang="en-US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0B4F280-EB88-C937-A4E5-831FEAC4D4A6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6AFC1A-6080-A674-211C-B8AFB02C6FD2}"/>
              </a:ext>
            </a:extLst>
          </p:cNvPr>
          <p:cNvGrpSpPr/>
          <p:nvPr/>
        </p:nvGrpSpPr>
        <p:grpSpPr>
          <a:xfrm>
            <a:off x="10899702" y="1592026"/>
            <a:ext cx="350180" cy="442035"/>
            <a:chOff x="10899702" y="1880315"/>
            <a:chExt cx="350180" cy="44203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AFE1AC8-7652-1EAA-73AD-01B01143236A}"/>
                </a:ext>
              </a:extLst>
            </p:cNvPr>
            <p:cNvSpPr/>
            <p:nvPr/>
          </p:nvSpPr>
          <p:spPr>
            <a:xfrm rot="16200000">
              <a:off x="10899702" y="1926243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6E6AFE-036B-F516-B6D8-D12D86BA16F6}"/>
                </a:ext>
              </a:extLst>
            </p:cNvPr>
            <p:cNvSpPr txBox="1"/>
            <p:nvPr/>
          </p:nvSpPr>
          <p:spPr>
            <a:xfrm>
              <a:off x="10932309" y="1880315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1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B7FF90-7CEB-CD28-E289-2C5EE82E33C9}"/>
              </a:ext>
            </a:extLst>
          </p:cNvPr>
          <p:cNvGrpSpPr/>
          <p:nvPr/>
        </p:nvGrpSpPr>
        <p:grpSpPr>
          <a:xfrm>
            <a:off x="10899702" y="2150397"/>
            <a:ext cx="350180" cy="442035"/>
            <a:chOff x="10899702" y="2770159"/>
            <a:chExt cx="350180" cy="44203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45CB69-28A9-9EB4-9874-9E109BD50D29}"/>
                </a:ext>
              </a:extLst>
            </p:cNvPr>
            <p:cNvSpPr/>
            <p:nvPr/>
          </p:nvSpPr>
          <p:spPr>
            <a:xfrm rot="16200000">
              <a:off x="10899702" y="2815618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B4E9C3-487E-3649-8DBA-833D9276355D}"/>
                </a:ext>
              </a:extLst>
            </p:cNvPr>
            <p:cNvSpPr txBox="1"/>
            <p:nvPr/>
          </p:nvSpPr>
          <p:spPr>
            <a:xfrm>
              <a:off x="10932309" y="2770159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2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8D23CF-1054-E0D9-BE82-1DC2AC30A37B}"/>
              </a:ext>
            </a:extLst>
          </p:cNvPr>
          <p:cNvGrpSpPr/>
          <p:nvPr/>
        </p:nvGrpSpPr>
        <p:grpSpPr>
          <a:xfrm>
            <a:off x="10895911" y="2720930"/>
            <a:ext cx="350180" cy="442035"/>
            <a:chOff x="10899702" y="3703128"/>
            <a:chExt cx="350180" cy="44203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8BD7675-3F07-976E-B1C6-8C01BA2AC49C}"/>
                </a:ext>
              </a:extLst>
            </p:cNvPr>
            <p:cNvSpPr/>
            <p:nvPr/>
          </p:nvSpPr>
          <p:spPr>
            <a:xfrm rot="16200000">
              <a:off x="10899702" y="3749055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A44BDB-9971-87D7-77DA-6A252AE81C23}"/>
                </a:ext>
              </a:extLst>
            </p:cNvPr>
            <p:cNvSpPr txBox="1"/>
            <p:nvPr/>
          </p:nvSpPr>
          <p:spPr>
            <a:xfrm>
              <a:off x="10932309" y="3703128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3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566D01-CAA9-5AAD-3F09-C75AA8FDAE61}"/>
              </a:ext>
            </a:extLst>
          </p:cNvPr>
          <p:cNvGrpSpPr/>
          <p:nvPr/>
        </p:nvGrpSpPr>
        <p:grpSpPr>
          <a:xfrm>
            <a:off x="10908125" y="3303640"/>
            <a:ext cx="350180" cy="442035"/>
            <a:chOff x="10899702" y="4595582"/>
            <a:chExt cx="350180" cy="442035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01C3740-BED9-C39C-682C-56C1F85BD437}"/>
                </a:ext>
              </a:extLst>
            </p:cNvPr>
            <p:cNvSpPr/>
            <p:nvPr/>
          </p:nvSpPr>
          <p:spPr>
            <a:xfrm rot="16200000">
              <a:off x="10899702" y="4641509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015CFB-AFE5-06E8-C59B-1AD171452787}"/>
                </a:ext>
              </a:extLst>
            </p:cNvPr>
            <p:cNvSpPr txBox="1"/>
            <p:nvPr/>
          </p:nvSpPr>
          <p:spPr>
            <a:xfrm>
              <a:off x="10932309" y="4595582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4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pic>
        <p:nvPicPr>
          <p:cNvPr id="14" name="Graphic 13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A1117BB-BB19-94D6-C9C2-AF6207851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2D2939E-603F-8398-EC37-473A5E1E3452}"/>
              </a:ext>
            </a:extLst>
          </p:cNvPr>
          <p:cNvGrpSpPr/>
          <p:nvPr/>
        </p:nvGrpSpPr>
        <p:grpSpPr>
          <a:xfrm>
            <a:off x="10893725" y="3843196"/>
            <a:ext cx="350180" cy="442035"/>
            <a:chOff x="10899702" y="4595582"/>
            <a:chExt cx="350180" cy="44203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23F4F8-F250-1C42-9EE8-0A28EFE28A20}"/>
                </a:ext>
              </a:extLst>
            </p:cNvPr>
            <p:cNvSpPr/>
            <p:nvPr/>
          </p:nvSpPr>
          <p:spPr>
            <a:xfrm rot="16200000">
              <a:off x="10899702" y="4641509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226A0A-F9D9-B3A7-CCAF-947D989F3C8C}"/>
                </a:ext>
              </a:extLst>
            </p:cNvPr>
            <p:cNvSpPr txBox="1"/>
            <p:nvPr/>
          </p:nvSpPr>
          <p:spPr>
            <a:xfrm>
              <a:off x="10932309" y="4595582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5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3DF5DC-73C7-2AA9-7CCE-DCA6A35CC354}"/>
              </a:ext>
            </a:extLst>
          </p:cNvPr>
          <p:cNvGrpSpPr/>
          <p:nvPr/>
        </p:nvGrpSpPr>
        <p:grpSpPr>
          <a:xfrm>
            <a:off x="10895911" y="4463203"/>
            <a:ext cx="350180" cy="442035"/>
            <a:chOff x="10899702" y="4595582"/>
            <a:chExt cx="350180" cy="44203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E5164A-915F-814B-6D96-11C9D03D19BC}"/>
                </a:ext>
              </a:extLst>
            </p:cNvPr>
            <p:cNvSpPr/>
            <p:nvPr/>
          </p:nvSpPr>
          <p:spPr>
            <a:xfrm rot="16200000">
              <a:off x="10899702" y="4641509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3DA04A-B555-2E15-9D3E-44DF73473991}"/>
                </a:ext>
              </a:extLst>
            </p:cNvPr>
            <p:cNvSpPr txBox="1"/>
            <p:nvPr/>
          </p:nvSpPr>
          <p:spPr>
            <a:xfrm>
              <a:off x="10932309" y="4595582"/>
              <a:ext cx="284966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rPr>
                <a:t>6</a:t>
              </a:r>
              <a:endParaRPr lang="en-US" sz="2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319D5D3-4695-8A21-C0E0-9065EAC7A97B}"/>
              </a:ext>
            </a:extLst>
          </p:cNvPr>
          <p:cNvSpPr txBox="1"/>
          <p:nvPr/>
        </p:nvSpPr>
        <p:spPr>
          <a:xfrm>
            <a:off x="4440966" y="4495150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- </a:t>
            </a:r>
            <a:r>
              <a:rPr lang="en-US" sz="1400" dirty="0" err="1"/>
              <a:t>قابلیت</a:t>
            </a:r>
            <a:r>
              <a:rPr lang="en-US" sz="1400" dirty="0"/>
              <a:t> </a:t>
            </a:r>
            <a:r>
              <a:rPr lang="en-US" sz="1400" dirty="0" err="1"/>
              <a:t>نگهداری</a:t>
            </a:r>
            <a:r>
              <a:rPr lang="en-US" sz="1400" dirty="0"/>
              <a:t>: </a:t>
            </a:r>
            <a:r>
              <a:rPr lang="en-US" sz="1400" dirty="0" err="1"/>
              <a:t>اصلاح</a:t>
            </a:r>
            <a:r>
              <a:rPr lang="en-US" sz="1400" dirty="0"/>
              <a:t> و </a:t>
            </a:r>
            <a:r>
              <a:rPr lang="en-US" sz="1400" dirty="0" err="1"/>
              <a:t>توسعه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آینده</a:t>
            </a:r>
            <a:r>
              <a:rPr lang="en-US" sz="1400" dirty="0"/>
              <a:t> </a:t>
            </a:r>
            <a:r>
              <a:rPr lang="en-US" sz="1400" dirty="0" err="1"/>
              <a:t>باید</a:t>
            </a:r>
            <a:r>
              <a:rPr lang="en-US" sz="1400" dirty="0"/>
              <a:t> </a:t>
            </a:r>
            <a:r>
              <a:rPr lang="en-US" sz="1400" dirty="0" err="1"/>
              <a:t>آسان</a:t>
            </a:r>
            <a:r>
              <a:rPr lang="en-US" sz="1400" dirty="0"/>
              <a:t> </a:t>
            </a:r>
            <a:r>
              <a:rPr lang="en-US" sz="1400" dirty="0" err="1"/>
              <a:t>باشد</a:t>
            </a:r>
            <a:r>
              <a:rPr lang="en-US" sz="1400" dirty="0"/>
              <a:t>.</a:t>
            </a:r>
            <a:endParaRPr lang="fa-I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8DE2E2-6A2E-EE2C-04B4-39794F2196EE}"/>
              </a:ext>
            </a:extLst>
          </p:cNvPr>
          <p:cNvSpPr txBox="1"/>
          <p:nvPr/>
        </p:nvSpPr>
        <p:spPr>
          <a:xfrm>
            <a:off x="4509993" y="3881806"/>
            <a:ext cx="6441432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 - </a:t>
            </a:r>
            <a:r>
              <a:rPr lang="en-US" sz="1400" dirty="0" err="1"/>
              <a:t>کاهش</a:t>
            </a:r>
            <a:r>
              <a:rPr lang="en-US" sz="1400" dirty="0"/>
              <a:t> </a:t>
            </a:r>
            <a:r>
              <a:rPr lang="en-US" sz="1400" dirty="0" err="1"/>
              <a:t>تکرار</a:t>
            </a:r>
            <a:r>
              <a:rPr lang="en-US" sz="1400" dirty="0"/>
              <a:t>: </a:t>
            </a:r>
            <a:r>
              <a:rPr lang="en-US" sz="1400" dirty="0" err="1"/>
              <a:t>از</a:t>
            </a:r>
            <a:r>
              <a:rPr lang="en-US" sz="1400" dirty="0"/>
              <a:t> </a:t>
            </a:r>
            <a:r>
              <a:rPr lang="en-US" sz="1400" dirty="0" err="1"/>
              <a:t>تکرار</a:t>
            </a:r>
            <a:r>
              <a:rPr lang="en-US" sz="1400" dirty="0"/>
              <a:t> </a:t>
            </a:r>
            <a:r>
              <a:rPr lang="en-US" sz="1400" dirty="0" err="1"/>
              <a:t>غیرضروری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جلوگیری</a:t>
            </a:r>
            <a:r>
              <a:rPr lang="en-US" sz="1400" dirty="0"/>
              <a:t> </a:t>
            </a:r>
            <a:r>
              <a:rPr lang="en-US" sz="1400" dirty="0" err="1"/>
              <a:t>شود</a:t>
            </a:r>
            <a:r>
              <a:rPr lang="en-US" sz="1400" dirty="0"/>
              <a:t>..</a:t>
            </a:r>
            <a:endParaRPr lang="fa-IR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32FA66-6A2C-D090-F338-AD5D06E5BBE6}"/>
              </a:ext>
            </a:extLst>
          </p:cNvPr>
          <p:cNvSpPr txBox="1"/>
          <p:nvPr/>
        </p:nvSpPr>
        <p:spPr>
          <a:xfrm>
            <a:off x="1251214" y="2660292"/>
            <a:ext cx="2416865" cy="12335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/>
              <a:t>- </a:t>
            </a:r>
            <a:r>
              <a:rPr lang="en-US" sz="1600" b="1" dirty="0" err="1"/>
              <a:t>رعایت</a:t>
            </a:r>
            <a:r>
              <a:rPr lang="en-US" sz="1600" b="1" dirty="0"/>
              <a:t> </a:t>
            </a:r>
            <a:r>
              <a:rPr lang="en-US" sz="1600" b="1" dirty="0" err="1"/>
              <a:t>این</a:t>
            </a:r>
            <a:r>
              <a:rPr lang="en-US" sz="1600" b="1" dirty="0"/>
              <a:t> </a:t>
            </a:r>
            <a:r>
              <a:rPr lang="en-US" sz="1600" b="1" dirty="0" err="1"/>
              <a:t>اصول</a:t>
            </a:r>
            <a:r>
              <a:rPr lang="en-US" sz="1600" b="1" dirty="0"/>
              <a:t> </a:t>
            </a:r>
            <a:r>
              <a:rPr lang="en-US" sz="1600" b="1" dirty="0" err="1"/>
              <a:t>موجب</a:t>
            </a:r>
            <a:r>
              <a:rPr lang="en-US" sz="1600" b="1" dirty="0"/>
              <a:t> </a:t>
            </a:r>
            <a:r>
              <a:rPr lang="en-US" sz="1600" b="1" dirty="0" err="1"/>
              <a:t>افزایش</a:t>
            </a:r>
            <a:r>
              <a:rPr lang="en-US" sz="1600" b="1" dirty="0"/>
              <a:t> </a:t>
            </a:r>
            <a:r>
              <a:rPr lang="en-US" sz="1600" b="1" dirty="0" err="1"/>
              <a:t>کیفیت</a:t>
            </a:r>
            <a:r>
              <a:rPr lang="en-US" sz="1600" b="1" dirty="0"/>
              <a:t> </a:t>
            </a:r>
            <a:r>
              <a:rPr lang="en-US" sz="1600" b="1" dirty="0" err="1"/>
              <a:t>نرم‌افزار</a:t>
            </a:r>
            <a:r>
              <a:rPr lang="en-US" sz="1600" b="1" dirty="0"/>
              <a:t>، </a:t>
            </a:r>
            <a:r>
              <a:rPr lang="en-US" sz="1600" b="1" dirty="0" err="1"/>
              <a:t>تسهیل</a:t>
            </a:r>
            <a:r>
              <a:rPr lang="en-US" sz="1600" b="1" dirty="0"/>
              <a:t> </a:t>
            </a:r>
            <a:r>
              <a:rPr lang="en-US" sz="1600" b="1" dirty="0" err="1"/>
              <a:t>همکاری</a:t>
            </a:r>
            <a:r>
              <a:rPr lang="en-US" sz="1600" b="1" dirty="0"/>
              <a:t> </a:t>
            </a:r>
            <a:r>
              <a:rPr lang="en-US" sz="1600" b="1" dirty="0" err="1"/>
              <a:t>تیمی</a:t>
            </a:r>
            <a:r>
              <a:rPr lang="en-US" sz="1600" b="1" dirty="0"/>
              <a:t> و </a:t>
            </a:r>
            <a:r>
              <a:rPr lang="en-US" sz="1600" b="1" dirty="0" err="1"/>
              <a:t>کاهش</a:t>
            </a:r>
            <a:r>
              <a:rPr lang="en-US" sz="1600" b="1" dirty="0"/>
              <a:t> </a:t>
            </a:r>
            <a:r>
              <a:rPr lang="en-US" sz="1600" b="1" dirty="0" err="1"/>
              <a:t>هزینه‌های</a:t>
            </a:r>
            <a:r>
              <a:rPr lang="en-US" sz="1600" b="1" dirty="0"/>
              <a:t> </a:t>
            </a:r>
            <a:r>
              <a:rPr lang="en-US" sz="1600" b="1" dirty="0" err="1"/>
              <a:t>نگهداری</a:t>
            </a:r>
            <a:r>
              <a:rPr lang="en-US" sz="1600" b="1" dirty="0"/>
              <a:t> </a:t>
            </a:r>
            <a:r>
              <a:rPr lang="en-US" sz="1600" b="1" dirty="0" err="1"/>
              <a:t>در</a:t>
            </a:r>
            <a:r>
              <a:rPr lang="en-US" sz="1600" b="1" dirty="0"/>
              <a:t> </a:t>
            </a:r>
            <a:r>
              <a:rPr lang="en-US" sz="1600" b="1" dirty="0" err="1"/>
              <a:t>بلندمدت</a:t>
            </a:r>
            <a:r>
              <a:rPr lang="en-US" sz="1600" b="1" dirty="0"/>
              <a:t> </a:t>
            </a:r>
            <a:r>
              <a:rPr lang="en-US" sz="1600" b="1" dirty="0" err="1"/>
              <a:t>می‌شود</a:t>
            </a:r>
            <a:r>
              <a:rPr lang="en-US" sz="1600" b="1" dirty="0"/>
              <a:t>.</a:t>
            </a:r>
            <a:endParaRPr lang="fa-IR" sz="1600" b="1" dirty="0"/>
          </a:p>
        </p:txBody>
      </p:sp>
    </p:spTree>
    <p:extLst>
      <p:ext uri="{BB962C8B-B14F-4D97-AF65-F5344CB8AC3E}">
        <p14:creationId xmlns:p14="http://schemas.microsoft.com/office/powerpoint/2010/main" val="363974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3" grpId="0"/>
      <p:bldP spid="31" grpId="0"/>
      <p:bldP spid="20" grpId="0"/>
      <p:bldP spid="27" grpId="0"/>
      <p:bldP spid="25" grpId="0"/>
      <p:bldP spid="26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24356" y="310791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20D74-8FA7-CF64-5042-18C5DC17FC25}"/>
              </a:ext>
            </a:extLst>
          </p:cNvPr>
          <p:cNvSpPr txBox="1"/>
          <p:nvPr/>
        </p:nvSpPr>
        <p:spPr>
          <a:xfrm>
            <a:off x="696476" y="1480192"/>
            <a:ext cx="10838811" cy="57136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Code Smell </a:t>
            </a:r>
            <a:r>
              <a:rPr lang="en-US" sz="1400" dirty="0" err="1"/>
              <a:t>یا</a:t>
            </a:r>
            <a:r>
              <a:rPr lang="en-US" sz="1400" dirty="0"/>
              <a:t> </a:t>
            </a:r>
            <a:r>
              <a:rPr lang="en-US" sz="1400" dirty="0" err="1"/>
              <a:t>بوی</a:t>
            </a:r>
            <a:r>
              <a:rPr lang="en-US" sz="1400" dirty="0"/>
              <a:t> </a:t>
            </a:r>
            <a:r>
              <a:rPr lang="en-US" sz="1400" dirty="0" err="1"/>
              <a:t>بد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به</a:t>
            </a:r>
            <a:r>
              <a:rPr lang="en-US" sz="1400" dirty="0"/>
              <a:t> </a:t>
            </a:r>
            <a:r>
              <a:rPr lang="en-US" sz="1400" dirty="0" err="1"/>
              <a:t>نشانه‌هایی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ساختار</a:t>
            </a:r>
            <a:r>
              <a:rPr lang="en-US" sz="1400" dirty="0"/>
              <a:t> و </a:t>
            </a:r>
            <a:r>
              <a:rPr lang="en-US" sz="1400" dirty="0" err="1"/>
              <a:t>طراحی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گفته</a:t>
            </a:r>
            <a:r>
              <a:rPr lang="en-US" sz="1400" dirty="0"/>
              <a:t> </a:t>
            </a:r>
            <a:r>
              <a:rPr lang="en-US" sz="1400" dirty="0" err="1"/>
              <a:t>می‌شود</a:t>
            </a:r>
            <a:r>
              <a:rPr lang="en-US" sz="1400" dirty="0"/>
              <a:t> </a:t>
            </a:r>
            <a:r>
              <a:rPr lang="en-US" sz="1400" dirty="0" err="1"/>
              <a:t>که</a:t>
            </a:r>
            <a:r>
              <a:rPr lang="en-US" sz="1400" dirty="0"/>
              <a:t> </a:t>
            </a:r>
            <a:r>
              <a:rPr lang="en-US" sz="1400" dirty="0" err="1"/>
              <a:t>ممکن</a:t>
            </a:r>
            <a:r>
              <a:rPr lang="en-US" sz="1400" dirty="0"/>
              <a:t> </a:t>
            </a:r>
            <a:r>
              <a:rPr lang="en-US" sz="1400" dirty="0" err="1"/>
              <a:t>است</a:t>
            </a:r>
            <a:r>
              <a:rPr lang="en-US" sz="1400" dirty="0"/>
              <a:t> </a:t>
            </a:r>
            <a:r>
              <a:rPr lang="en-US" sz="1400" dirty="0" err="1"/>
              <a:t>بیانگر</a:t>
            </a:r>
            <a:r>
              <a:rPr lang="en-US" sz="1400" dirty="0"/>
              <a:t> </a:t>
            </a:r>
            <a:r>
              <a:rPr lang="en-US" sz="1400" dirty="0" err="1"/>
              <a:t>ضعف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کیفیت</a:t>
            </a:r>
            <a:r>
              <a:rPr lang="en-US" sz="1400" dirty="0"/>
              <a:t> </a:t>
            </a:r>
            <a:r>
              <a:rPr lang="en-US" sz="1400" dirty="0" err="1"/>
              <a:t>طراحی</a:t>
            </a:r>
            <a:r>
              <a:rPr lang="en-US" sz="1400" dirty="0"/>
              <a:t> </a:t>
            </a:r>
            <a:r>
              <a:rPr lang="en-US" sz="1400" dirty="0" err="1"/>
              <a:t>نرم‌افزار</a:t>
            </a:r>
            <a:r>
              <a:rPr lang="en-US" sz="1400" dirty="0"/>
              <a:t> و </a:t>
            </a:r>
            <a:r>
              <a:rPr lang="en-US" sz="1400" dirty="0" err="1"/>
              <a:t>دشواری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نگهداری</a:t>
            </a:r>
            <a:r>
              <a:rPr lang="en-US" sz="1400" dirty="0"/>
              <a:t> و </a:t>
            </a:r>
            <a:r>
              <a:rPr lang="en-US" sz="1400" dirty="0" err="1"/>
              <a:t>توسعه</a:t>
            </a:r>
            <a:r>
              <a:rPr lang="en-US" sz="1400" dirty="0"/>
              <a:t> </a:t>
            </a:r>
            <a:r>
              <a:rPr lang="en-US" sz="1400" dirty="0" err="1"/>
              <a:t>آن</a:t>
            </a:r>
            <a:r>
              <a:rPr lang="en-US" sz="1400" dirty="0"/>
              <a:t> </a:t>
            </a:r>
            <a:r>
              <a:rPr lang="en-US" sz="1400" dirty="0" err="1"/>
              <a:t>باشند</a:t>
            </a:r>
            <a:r>
              <a:rPr lang="en-US" sz="1400" dirty="0"/>
              <a:t>. </a:t>
            </a:r>
            <a:r>
              <a:rPr lang="en-US" sz="1400" dirty="0" err="1"/>
              <a:t>این</a:t>
            </a:r>
            <a:r>
              <a:rPr lang="en-US" sz="1400" dirty="0"/>
              <a:t> </a:t>
            </a:r>
            <a:r>
              <a:rPr lang="en-US" sz="1400" dirty="0" err="1"/>
              <a:t>نشانه‌ها</a:t>
            </a:r>
            <a:r>
              <a:rPr lang="en-US" sz="1400" dirty="0"/>
              <a:t> </a:t>
            </a:r>
            <a:r>
              <a:rPr lang="en-US" sz="1400" dirty="0" err="1"/>
              <a:t>لزوماً</a:t>
            </a:r>
            <a:r>
              <a:rPr lang="en-US" sz="1400" dirty="0"/>
              <a:t> </a:t>
            </a:r>
            <a:r>
              <a:rPr lang="en-US" sz="1400" dirty="0" err="1"/>
              <a:t>به</a:t>
            </a:r>
            <a:r>
              <a:rPr lang="en-US" sz="1400" dirty="0"/>
              <a:t> </a:t>
            </a:r>
            <a:r>
              <a:rPr lang="en-US" sz="1400" dirty="0" err="1"/>
              <a:t>معنای</a:t>
            </a:r>
            <a:r>
              <a:rPr lang="en-US" sz="1400" dirty="0"/>
              <a:t> </a:t>
            </a:r>
            <a:r>
              <a:rPr lang="en-US" sz="1400" dirty="0" err="1"/>
              <a:t>وجود</a:t>
            </a:r>
            <a:r>
              <a:rPr lang="en-US" sz="1400" dirty="0"/>
              <a:t> </a:t>
            </a:r>
            <a:r>
              <a:rPr lang="en-US" sz="1400" dirty="0" err="1"/>
              <a:t>خطا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عملکرد</a:t>
            </a:r>
            <a:r>
              <a:rPr lang="en-US" sz="1400" dirty="0"/>
              <a:t> </a:t>
            </a:r>
            <a:r>
              <a:rPr lang="en-US" sz="1400" dirty="0" err="1"/>
              <a:t>برنامه</a:t>
            </a:r>
            <a:r>
              <a:rPr lang="en-US" sz="1400" dirty="0"/>
              <a:t> </a:t>
            </a:r>
            <a:r>
              <a:rPr lang="en-US" sz="1400" dirty="0" err="1"/>
              <a:t>نیستند</a:t>
            </a:r>
            <a:r>
              <a:rPr lang="en-US" sz="1400" dirty="0"/>
              <a:t>، </a:t>
            </a:r>
            <a:r>
              <a:rPr lang="en-US" sz="1400" dirty="0" err="1"/>
              <a:t>اما</a:t>
            </a:r>
            <a:r>
              <a:rPr lang="en-US" sz="1400" dirty="0"/>
              <a:t> </a:t>
            </a:r>
            <a:r>
              <a:rPr lang="en-US" sz="1400" dirty="0" err="1"/>
              <a:t>می‌توانند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آینده</a:t>
            </a:r>
            <a:r>
              <a:rPr lang="en-US" sz="1400" dirty="0"/>
              <a:t> </a:t>
            </a:r>
            <a:r>
              <a:rPr lang="en-US" sz="1400" dirty="0" err="1"/>
              <a:t>باعث</a:t>
            </a:r>
            <a:r>
              <a:rPr lang="en-US" sz="1400" dirty="0"/>
              <a:t> </a:t>
            </a:r>
            <a:r>
              <a:rPr lang="en-US" sz="1400" dirty="0" err="1"/>
              <a:t>افزایش</a:t>
            </a:r>
            <a:r>
              <a:rPr lang="en-US" sz="1400" dirty="0"/>
              <a:t> </a:t>
            </a:r>
            <a:r>
              <a:rPr lang="en-US" sz="1400" dirty="0" err="1"/>
              <a:t>پیچیدگی</a:t>
            </a:r>
            <a:r>
              <a:rPr lang="en-US" sz="1400" dirty="0"/>
              <a:t> و </a:t>
            </a:r>
            <a:r>
              <a:rPr lang="en-US" sz="1400" dirty="0" err="1"/>
              <a:t>هزینه</a:t>
            </a:r>
            <a:r>
              <a:rPr lang="en-US" sz="1400" dirty="0"/>
              <a:t> </a:t>
            </a:r>
            <a:r>
              <a:rPr lang="en-US" sz="1400" dirty="0" err="1"/>
              <a:t>اصلاح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شوند</a:t>
            </a:r>
            <a:r>
              <a:rPr lang="en-US" sz="1400" dirty="0"/>
              <a:t>.</a:t>
            </a:r>
            <a:endParaRPr lang="fa-IR" sz="1400" dirty="0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50A1F75D-984D-72EB-FFF9-3EBF76025292}"/>
              </a:ext>
            </a:extLst>
          </p:cNvPr>
          <p:cNvGrpSpPr/>
          <p:nvPr/>
        </p:nvGrpSpPr>
        <p:grpSpPr>
          <a:xfrm>
            <a:off x="3145701" y="4599931"/>
            <a:ext cx="5900598" cy="55952"/>
            <a:chOff x="3233251" y="5302636"/>
            <a:chExt cx="5598351" cy="53086"/>
          </a:xfrm>
          <a:solidFill>
            <a:schemeClr val="accent6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0F41A3-E83E-C2B5-4156-A9B905EA1198}"/>
                </a:ext>
              </a:extLst>
            </p:cNvPr>
            <p:cNvSpPr/>
            <p:nvPr/>
          </p:nvSpPr>
          <p:spPr>
            <a:xfrm>
              <a:off x="3272083" y="5321970"/>
              <a:ext cx="5532976" cy="14418"/>
            </a:xfrm>
            <a:custGeom>
              <a:avLst/>
              <a:gdLst>
                <a:gd name="connsiteX0" fmla="*/ 0 w 5532976"/>
                <a:gd name="connsiteY0" fmla="*/ 0 h 14418"/>
                <a:gd name="connsiteX1" fmla="*/ 5532977 w 5532976"/>
                <a:gd name="connsiteY1" fmla="*/ 0 h 14418"/>
                <a:gd name="connsiteX2" fmla="*/ 5532977 w 5532976"/>
                <a:gd name="connsiteY2" fmla="*/ 14419 h 14418"/>
                <a:gd name="connsiteX3" fmla="*/ 0 w 5532976"/>
                <a:gd name="connsiteY3" fmla="*/ 14419 h 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2976" h="14418">
                  <a:moveTo>
                    <a:pt x="0" y="0"/>
                  </a:moveTo>
                  <a:lnTo>
                    <a:pt x="5532977" y="0"/>
                  </a:lnTo>
                  <a:lnTo>
                    <a:pt x="5532977" y="14419"/>
                  </a:lnTo>
                  <a:lnTo>
                    <a:pt x="0" y="14419"/>
                  </a:ln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E422A2-BC8F-095C-35F4-EB6E11240F9E}"/>
                </a:ext>
              </a:extLst>
            </p:cNvPr>
            <p:cNvSpPr/>
            <p:nvPr/>
          </p:nvSpPr>
          <p:spPr>
            <a:xfrm>
              <a:off x="8778516" y="5302636"/>
              <a:ext cx="53086" cy="53086"/>
            </a:xfrm>
            <a:custGeom>
              <a:avLst/>
              <a:gdLst>
                <a:gd name="connsiteX0" fmla="*/ 53087 w 53086"/>
                <a:gd name="connsiteY0" fmla="*/ 26544 h 53086"/>
                <a:gd name="connsiteX1" fmla="*/ 26543 w 53086"/>
                <a:gd name="connsiteY1" fmla="*/ 53087 h 53086"/>
                <a:gd name="connsiteX2" fmla="*/ 0 w 53086"/>
                <a:gd name="connsiteY2" fmla="*/ 26544 h 53086"/>
                <a:gd name="connsiteX3" fmla="*/ 26543 w 53086"/>
                <a:gd name="connsiteY3" fmla="*/ 0 h 53086"/>
                <a:gd name="connsiteX4" fmla="*/ 53087 w 53086"/>
                <a:gd name="connsiteY4" fmla="*/ 26544 h 5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6" h="53086">
                  <a:moveTo>
                    <a:pt x="53087" y="26544"/>
                  </a:moveTo>
                  <a:cubicBezTo>
                    <a:pt x="53087" y="41126"/>
                    <a:pt x="41289" y="53087"/>
                    <a:pt x="26543" y="53087"/>
                  </a:cubicBezTo>
                  <a:cubicBezTo>
                    <a:pt x="11797" y="53087"/>
                    <a:pt x="0" y="41290"/>
                    <a:pt x="0" y="26544"/>
                  </a:cubicBezTo>
                  <a:cubicBezTo>
                    <a:pt x="0" y="11797"/>
                    <a:pt x="11797" y="0"/>
                    <a:pt x="26543" y="0"/>
                  </a:cubicBezTo>
                  <a:cubicBezTo>
                    <a:pt x="41289" y="0"/>
                    <a:pt x="53087" y="11797"/>
                    <a:pt x="53087" y="26544"/>
                  </a:cubicBez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58B199-B972-FEEB-3698-A6E8DB0B7192}"/>
                </a:ext>
              </a:extLst>
            </p:cNvPr>
            <p:cNvSpPr/>
            <p:nvPr/>
          </p:nvSpPr>
          <p:spPr>
            <a:xfrm>
              <a:off x="7361396" y="5302636"/>
              <a:ext cx="53086" cy="53086"/>
            </a:xfrm>
            <a:custGeom>
              <a:avLst/>
              <a:gdLst>
                <a:gd name="connsiteX0" fmla="*/ 53087 w 53086"/>
                <a:gd name="connsiteY0" fmla="*/ 26544 h 53086"/>
                <a:gd name="connsiteX1" fmla="*/ 26543 w 53086"/>
                <a:gd name="connsiteY1" fmla="*/ 53087 h 53086"/>
                <a:gd name="connsiteX2" fmla="*/ 0 w 53086"/>
                <a:gd name="connsiteY2" fmla="*/ 26544 h 53086"/>
                <a:gd name="connsiteX3" fmla="*/ 26543 w 53086"/>
                <a:gd name="connsiteY3" fmla="*/ 0 h 53086"/>
                <a:gd name="connsiteX4" fmla="*/ 53087 w 53086"/>
                <a:gd name="connsiteY4" fmla="*/ 26544 h 5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6" h="53086">
                  <a:moveTo>
                    <a:pt x="53087" y="26544"/>
                  </a:moveTo>
                  <a:cubicBezTo>
                    <a:pt x="53087" y="41126"/>
                    <a:pt x="41289" y="53087"/>
                    <a:pt x="26543" y="53087"/>
                  </a:cubicBezTo>
                  <a:cubicBezTo>
                    <a:pt x="11797" y="53087"/>
                    <a:pt x="0" y="41290"/>
                    <a:pt x="0" y="26544"/>
                  </a:cubicBezTo>
                  <a:cubicBezTo>
                    <a:pt x="0" y="11797"/>
                    <a:pt x="11797" y="0"/>
                    <a:pt x="26543" y="0"/>
                  </a:cubicBezTo>
                  <a:cubicBezTo>
                    <a:pt x="41289" y="0"/>
                    <a:pt x="53087" y="11797"/>
                    <a:pt x="53087" y="26544"/>
                  </a:cubicBez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EC85B0-83CC-35F0-28A3-408DA1030B48}"/>
                </a:ext>
              </a:extLst>
            </p:cNvPr>
            <p:cNvSpPr/>
            <p:nvPr/>
          </p:nvSpPr>
          <p:spPr>
            <a:xfrm>
              <a:off x="5979504" y="5302636"/>
              <a:ext cx="53086" cy="53086"/>
            </a:xfrm>
            <a:custGeom>
              <a:avLst/>
              <a:gdLst>
                <a:gd name="connsiteX0" fmla="*/ 53087 w 53086"/>
                <a:gd name="connsiteY0" fmla="*/ 26544 h 53086"/>
                <a:gd name="connsiteX1" fmla="*/ 26543 w 53086"/>
                <a:gd name="connsiteY1" fmla="*/ 53087 h 53086"/>
                <a:gd name="connsiteX2" fmla="*/ 0 w 53086"/>
                <a:gd name="connsiteY2" fmla="*/ 26544 h 53086"/>
                <a:gd name="connsiteX3" fmla="*/ 26543 w 53086"/>
                <a:gd name="connsiteY3" fmla="*/ 0 h 53086"/>
                <a:gd name="connsiteX4" fmla="*/ 53087 w 53086"/>
                <a:gd name="connsiteY4" fmla="*/ 26544 h 5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6" h="53086">
                  <a:moveTo>
                    <a:pt x="53087" y="26544"/>
                  </a:moveTo>
                  <a:cubicBezTo>
                    <a:pt x="53087" y="41126"/>
                    <a:pt x="41290" y="53087"/>
                    <a:pt x="26543" y="53087"/>
                  </a:cubicBezTo>
                  <a:cubicBezTo>
                    <a:pt x="11797" y="53087"/>
                    <a:pt x="0" y="41290"/>
                    <a:pt x="0" y="26544"/>
                  </a:cubicBezTo>
                  <a:cubicBezTo>
                    <a:pt x="0" y="11797"/>
                    <a:pt x="11797" y="0"/>
                    <a:pt x="26543" y="0"/>
                  </a:cubicBezTo>
                  <a:cubicBezTo>
                    <a:pt x="41290" y="0"/>
                    <a:pt x="53087" y="11797"/>
                    <a:pt x="53087" y="26544"/>
                  </a:cubicBez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69A3729-E59D-B606-6084-3B89DC2F82CC}"/>
                </a:ext>
              </a:extLst>
            </p:cNvPr>
            <p:cNvSpPr/>
            <p:nvPr/>
          </p:nvSpPr>
          <p:spPr>
            <a:xfrm>
              <a:off x="4597611" y="5302636"/>
              <a:ext cx="53086" cy="53086"/>
            </a:xfrm>
            <a:custGeom>
              <a:avLst/>
              <a:gdLst>
                <a:gd name="connsiteX0" fmla="*/ 53087 w 53086"/>
                <a:gd name="connsiteY0" fmla="*/ 26544 h 53086"/>
                <a:gd name="connsiteX1" fmla="*/ 26543 w 53086"/>
                <a:gd name="connsiteY1" fmla="*/ 53087 h 53086"/>
                <a:gd name="connsiteX2" fmla="*/ 0 w 53086"/>
                <a:gd name="connsiteY2" fmla="*/ 26544 h 53086"/>
                <a:gd name="connsiteX3" fmla="*/ 26543 w 53086"/>
                <a:gd name="connsiteY3" fmla="*/ 0 h 53086"/>
                <a:gd name="connsiteX4" fmla="*/ 53087 w 53086"/>
                <a:gd name="connsiteY4" fmla="*/ 26544 h 5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6" h="53086">
                  <a:moveTo>
                    <a:pt x="53087" y="26544"/>
                  </a:moveTo>
                  <a:cubicBezTo>
                    <a:pt x="53087" y="41126"/>
                    <a:pt x="41290" y="53087"/>
                    <a:pt x="26543" y="53087"/>
                  </a:cubicBezTo>
                  <a:cubicBezTo>
                    <a:pt x="11797" y="53087"/>
                    <a:pt x="0" y="41290"/>
                    <a:pt x="0" y="26544"/>
                  </a:cubicBezTo>
                  <a:cubicBezTo>
                    <a:pt x="0" y="11797"/>
                    <a:pt x="11797" y="0"/>
                    <a:pt x="26543" y="0"/>
                  </a:cubicBezTo>
                  <a:cubicBezTo>
                    <a:pt x="41290" y="0"/>
                    <a:pt x="53087" y="11797"/>
                    <a:pt x="53087" y="26544"/>
                  </a:cubicBez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542EFA0-51BC-0143-7FB2-153D483BCD56}"/>
                </a:ext>
              </a:extLst>
            </p:cNvPr>
            <p:cNvSpPr/>
            <p:nvPr/>
          </p:nvSpPr>
          <p:spPr>
            <a:xfrm>
              <a:off x="3233251" y="5302636"/>
              <a:ext cx="53086" cy="53086"/>
            </a:xfrm>
            <a:custGeom>
              <a:avLst/>
              <a:gdLst>
                <a:gd name="connsiteX0" fmla="*/ 53087 w 53086"/>
                <a:gd name="connsiteY0" fmla="*/ 26544 h 53086"/>
                <a:gd name="connsiteX1" fmla="*/ 26543 w 53086"/>
                <a:gd name="connsiteY1" fmla="*/ 53087 h 53086"/>
                <a:gd name="connsiteX2" fmla="*/ 0 w 53086"/>
                <a:gd name="connsiteY2" fmla="*/ 26544 h 53086"/>
                <a:gd name="connsiteX3" fmla="*/ 26543 w 53086"/>
                <a:gd name="connsiteY3" fmla="*/ 0 h 53086"/>
                <a:gd name="connsiteX4" fmla="*/ 53087 w 53086"/>
                <a:gd name="connsiteY4" fmla="*/ 26544 h 5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6" h="53086">
                  <a:moveTo>
                    <a:pt x="53087" y="26544"/>
                  </a:moveTo>
                  <a:cubicBezTo>
                    <a:pt x="53087" y="41126"/>
                    <a:pt x="41290" y="53087"/>
                    <a:pt x="26543" y="53087"/>
                  </a:cubicBezTo>
                  <a:cubicBezTo>
                    <a:pt x="11797" y="53087"/>
                    <a:pt x="0" y="41290"/>
                    <a:pt x="0" y="26544"/>
                  </a:cubicBezTo>
                  <a:cubicBezTo>
                    <a:pt x="0" y="11797"/>
                    <a:pt x="11797" y="0"/>
                    <a:pt x="26543" y="0"/>
                  </a:cubicBezTo>
                  <a:cubicBezTo>
                    <a:pt x="41290" y="0"/>
                    <a:pt x="53087" y="11797"/>
                    <a:pt x="53087" y="26544"/>
                  </a:cubicBezTo>
                  <a:close/>
                </a:path>
              </a:pathLst>
            </a:custGeom>
            <a:grpFill/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084F7C6-7567-55CA-B222-D13A71B06E3A}"/>
              </a:ext>
            </a:extLst>
          </p:cNvPr>
          <p:cNvGrpSpPr/>
          <p:nvPr/>
        </p:nvGrpSpPr>
        <p:grpSpPr>
          <a:xfrm>
            <a:off x="2586978" y="2344170"/>
            <a:ext cx="1524989" cy="2097709"/>
            <a:chOff x="2440283" y="2955203"/>
            <a:chExt cx="1524989" cy="209770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49E905-6B71-6B3B-852C-D3B9E1E45319}"/>
                </a:ext>
              </a:extLst>
            </p:cNvPr>
            <p:cNvSpPr/>
            <p:nvPr/>
          </p:nvSpPr>
          <p:spPr>
            <a:xfrm>
              <a:off x="2440283" y="2955203"/>
              <a:ext cx="1524989" cy="2097709"/>
            </a:xfrm>
            <a:custGeom>
              <a:avLst/>
              <a:gdLst>
                <a:gd name="connsiteX0" fmla="*/ 1199894 w 1446874"/>
                <a:gd name="connsiteY0" fmla="*/ 1990259 h 1990258"/>
                <a:gd name="connsiteX1" fmla="*/ 79174 w 1446874"/>
                <a:gd name="connsiteY1" fmla="*/ 1990259 h 1990258"/>
                <a:gd name="connsiteX2" fmla="*/ 1347 w 1446874"/>
                <a:gd name="connsiteY2" fmla="*/ 1896866 h 1990258"/>
                <a:gd name="connsiteX3" fmla="*/ 163556 w 1446874"/>
                <a:gd name="connsiteY3" fmla="*/ 1009466 h 1990258"/>
                <a:gd name="connsiteX4" fmla="*/ 163556 w 1446874"/>
                <a:gd name="connsiteY4" fmla="*/ 980957 h 1990258"/>
                <a:gd name="connsiteX5" fmla="*/ 1347 w 1446874"/>
                <a:gd name="connsiteY5" fmla="*/ 93393 h 1990258"/>
                <a:gd name="connsiteX6" fmla="*/ 79174 w 1446874"/>
                <a:gd name="connsiteY6" fmla="*/ 0 h 1990258"/>
                <a:gd name="connsiteX7" fmla="*/ 1200713 w 1446874"/>
                <a:gd name="connsiteY7" fmla="*/ 0 h 1990258"/>
                <a:gd name="connsiteX8" fmla="*/ 1278540 w 1446874"/>
                <a:gd name="connsiteY8" fmla="*/ 64392 h 1990258"/>
                <a:gd name="connsiteX9" fmla="*/ 1445501 w 1446874"/>
                <a:gd name="connsiteY9" fmla="*/ 944910 h 1990258"/>
                <a:gd name="connsiteX10" fmla="*/ 1445665 w 1446874"/>
                <a:gd name="connsiteY10" fmla="*/ 973420 h 1990258"/>
                <a:gd name="connsiteX11" fmla="*/ 1277721 w 1446874"/>
                <a:gd name="connsiteY11" fmla="*/ 1924720 h 1990258"/>
                <a:gd name="connsiteX12" fmla="*/ 1199730 w 1446874"/>
                <a:gd name="connsiteY12" fmla="*/ 1990095 h 199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6874" h="1990258">
                  <a:moveTo>
                    <a:pt x="1199894" y="1990259"/>
                  </a:moveTo>
                  <a:lnTo>
                    <a:pt x="79174" y="1990259"/>
                  </a:lnTo>
                  <a:cubicBezTo>
                    <a:pt x="29692" y="1990259"/>
                    <a:pt x="-7665" y="1945529"/>
                    <a:pt x="1347" y="1896866"/>
                  </a:cubicBezTo>
                  <a:lnTo>
                    <a:pt x="163556" y="1009466"/>
                  </a:lnTo>
                  <a:cubicBezTo>
                    <a:pt x="165358" y="1000127"/>
                    <a:pt x="165358" y="990460"/>
                    <a:pt x="163556" y="980957"/>
                  </a:cubicBezTo>
                  <a:lnTo>
                    <a:pt x="1347" y="93393"/>
                  </a:lnTo>
                  <a:cubicBezTo>
                    <a:pt x="-7501" y="44730"/>
                    <a:pt x="29856" y="0"/>
                    <a:pt x="79174" y="0"/>
                  </a:cubicBezTo>
                  <a:lnTo>
                    <a:pt x="1200713" y="0"/>
                  </a:lnTo>
                  <a:cubicBezTo>
                    <a:pt x="1238725" y="0"/>
                    <a:pt x="1271495" y="27035"/>
                    <a:pt x="1278540" y="64392"/>
                  </a:cubicBezTo>
                  <a:lnTo>
                    <a:pt x="1445501" y="944910"/>
                  </a:lnTo>
                  <a:cubicBezTo>
                    <a:pt x="1447304" y="954250"/>
                    <a:pt x="1447304" y="963917"/>
                    <a:pt x="1445665" y="973420"/>
                  </a:cubicBezTo>
                  <a:lnTo>
                    <a:pt x="1277721" y="1924720"/>
                  </a:lnTo>
                  <a:cubicBezTo>
                    <a:pt x="1271003" y="1962569"/>
                    <a:pt x="1238234" y="1990095"/>
                    <a:pt x="1199730" y="1990095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5C518A-D525-E8DC-65B9-562D4ED3CFFC}"/>
                </a:ext>
              </a:extLst>
            </p:cNvPr>
            <p:cNvSpPr txBox="1"/>
            <p:nvPr/>
          </p:nvSpPr>
          <p:spPr>
            <a:xfrm>
              <a:off x="2620546" y="4141389"/>
              <a:ext cx="1164462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بهبود</a:t>
              </a:r>
              <a:r>
                <a:rPr lang="en-US" sz="1200" dirty="0"/>
                <a:t> </a:t>
              </a:r>
              <a:r>
                <a:rPr lang="en-US" sz="1200" dirty="0" err="1"/>
                <a:t>کیفیت</a:t>
              </a:r>
              <a:r>
                <a:rPr lang="en-US" sz="1200" dirty="0"/>
                <a:t> و </a:t>
              </a:r>
              <a:r>
                <a:rPr lang="en-US" sz="1200" dirty="0" err="1"/>
                <a:t>ساختار</a:t>
              </a:r>
              <a:r>
                <a:rPr lang="en-US" sz="1200" dirty="0"/>
                <a:t> </a:t>
              </a:r>
              <a:r>
                <a:rPr lang="en-US" sz="1200" dirty="0" err="1"/>
                <a:t>کلی</a:t>
              </a:r>
              <a:r>
                <a:rPr lang="en-US" sz="1200" dirty="0"/>
                <a:t> </a:t>
              </a:r>
              <a:r>
                <a:rPr lang="en-US" sz="1200" dirty="0" err="1"/>
                <a:t>کد</a:t>
              </a:r>
              <a:endParaRPr lang="fa-IR" sz="1200" dirty="0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05E7FF3-6A21-E1D4-8645-A53A24DCFEDA}"/>
                </a:ext>
              </a:extLst>
            </p:cNvPr>
            <p:cNvGrpSpPr/>
            <p:nvPr/>
          </p:nvGrpSpPr>
          <p:grpSpPr>
            <a:xfrm>
              <a:off x="2920785" y="3307921"/>
              <a:ext cx="636548" cy="636603"/>
              <a:chOff x="2920785" y="3307921"/>
              <a:chExt cx="636548" cy="636603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7F7FDA0-8F4F-08EA-CE85-465AC80EC2AA}"/>
                  </a:ext>
                </a:extLst>
              </p:cNvPr>
              <p:cNvSpPr/>
              <p:nvPr/>
            </p:nvSpPr>
            <p:spPr>
              <a:xfrm rot="17566200">
                <a:off x="2920785" y="3307921"/>
                <a:ext cx="636548" cy="636548"/>
              </a:xfrm>
              <a:custGeom>
                <a:avLst/>
                <a:gdLst>
                  <a:gd name="connsiteX0" fmla="*/ 603943 w 603942"/>
                  <a:gd name="connsiteY0" fmla="*/ 301971 h 603942"/>
                  <a:gd name="connsiteX1" fmla="*/ 301972 w 603942"/>
                  <a:gd name="connsiteY1" fmla="*/ 603943 h 603942"/>
                  <a:gd name="connsiteX2" fmla="*/ 0 w 603942"/>
                  <a:gd name="connsiteY2" fmla="*/ 301971 h 603942"/>
                  <a:gd name="connsiteX3" fmla="*/ 301972 w 603942"/>
                  <a:gd name="connsiteY3" fmla="*/ 0 h 603942"/>
                  <a:gd name="connsiteX4" fmla="*/ 603943 w 603942"/>
                  <a:gd name="connsiteY4" fmla="*/ 301971 h 60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942" h="603942">
                    <a:moveTo>
                      <a:pt x="603943" y="301971"/>
                    </a:moveTo>
                    <a:cubicBezTo>
                      <a:pt x="603943" y="468746"/>
                      <a:pt x="468746" y="603943"/>
                      <a:pt x="301972" y="603943"/>
                    </a:cubicBezTo>
                    <a:cubicBezTo>
                      <a:pt x="135197" y="603943"/>
                      <a:pt x="0" y="468746"/>
                      <a:pt x="0" y="301971"/>
                    </a:cubicBezTo>
                    <a:cubicBezTo>
                      <a:pt x="0" y="135197"/>
                      <a:pt x="135197" y="0"/>
                      <a:pt x="301972" y="0"/>
                    </a:cubicBezTo>
                    <a:cubicBezTo>
                      <a:pt x="468746" y="0"/>
                      <a:pt x="603943" y="135197"/>
                      <a:pt x="603943" y="30197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715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2D1EE1D-E6D5-6000-200A-0D4F97B1BE8F}"/>
                  </a:ext>
                </a:extLst>
              </p:cNvPr>
              <p:cNvSpPr txBox="1"/>
              <p:nvPr/>
            </p:nvSpPr>
            <p:spPr>
              <a:xfrm>
                <a:off x="2950320" y="3317823"/>
                <a:ext cx="569154" cy="62670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 anchor="ctr" anchorCtr="0">
                <a:spAutoFit/>
              </a:bodyPr>
              <a:lstStyle/>
              <a:p>
                <a:pPr algn="ctr" rtl="1"/>
                <a:r>
                  <a:rPr lang="fa-IR" sz="3600" b="1" dirty="0">
                    <a:gradFill flip="none" rotWithShape="1">
                      <a:gsLst>
                        <a:gs pos="61000">
                          <a:schemeClr val="accent3">
                            <a:lumMod val="75000"/>
                          </a:schemeClr>
                        </a:gs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5400000" scaled="1"/>
                      <a:tileRect/>
                    </a:gradFill>
                    <a:cs typeface="+mj-cs"/>
                  </a:rPr>
                  <a:t>1</a:t>
                </a:r>
                <a:endParaRPr lang="en-US" sz="36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636CED7-C96D-696A-28D2-417E9BFDE6E0}"/>
              </a:ext>
            </a:extLst>
          </p:cNvPr>
          <p:cNvGrpSpPr/>
          <p:nvPr/>
        </p:nvGrpSpPr>
        <p:grpSpPr>
          <a:xfrm>
            <a:off x="4034573" y="2329851"/>
            <a:ext cx="1524048" cy="2097709"/>
            <a:chOff x="3887878" y="2955203"/>
            <a:chExt cx="1524048" cy="209770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9188-7B1D-BAF3-5652-5AEADEE9F18A}"/>
                </a:ext>
              </a:extLst>
            </p:cNvPr>
            <p:cNvSpPr/>
            <p:nvPr/>
          </p:nvSpPr>
          <p:spPr>
            <a:xfrm>
              <a:off x="3887878" y="2955203"/>
              <a:ext cx="1524048" cy="2097709"/>
            </a:xfrm>
            <a:custGeom>
              <a:avLst/>
              <a:gdLst>
                <a:gd name="connsiteX0" fmla="*/ 1199001 w 1445981"/>
                <a:gd name="connsiteY0" fmla="*/ 1990259 h 1990258"/>
                <a:gd name="connsiteX1" fmla="*/ 79265 w 1445981"/>
                <a:gd name="connsiteY1" fmla="*/ 1990259 h 1990258"/>
                <a:gd name="connsiteX2" fmla="*/ 1437 w 1445981"/>
                <a:gd name="connsiteY2" fmla="*/ 1896047 h 1990258"/>
                <a:gd name="connsiteX3" fmla="*/ 178884 w 1445981"/>
                <a:gd name="connsiteY3" fmla="*/ 974730 h 1990258"/>
                <a:gd name="connsiteX4" fmla="*/ 178721 w 1445981"/>
                <a:gd name="connsiteY4" fmla="*/ 943763 h 1990258"/>
                <a:gd name="connsiteX5" fmla="*/ 3076 w 1445981"/>
                <a:gd name="connsiteY5" fmla="*/ 95196 h 1990258"/>
                <a:gd name="connsiteX6" fmla="*/ 80576 w 1445981"/>
                <a:gd name="connsiteY6" fmla="*/ 0 h 1990258"/>
                <a:gd name="connsiteX7" fmla="*/ 1199820 w 1445981"/>
                <a:gd name="connsiteY7" fmla="*/ 0 h 1990258"/>
                <a:gd name="connsiteX8" fmla="*/ 1277648 w 1445981"/>
                <a:gd name="connsiteY8" fmla="*/ 64392 h 1990258"/>
                <a:gd name="connsiteX9" fmla="*/ 1444609 w 1445981"/>
                <a:gd name="connsiteY9" fmla="*/ 944910 h 1990258"/>
                <a:gd name="connsiteX10" fmla="*/ 1444772 w 1445981"/>
                <a:gd name="connsiteY10" fmla="*/ 973420 h 1990258"/>
                <a:gd name="connsiteX11" fmla="*/ 1276828 w 1445981"/>
                <a:gd name="connsiteY11" fmla="*/ 1924720 h 1990258"/>
                <a:gd name="connsiteX12" fmla="*/ 1198837 w 1445981"/>
                <a:gd name="connsiteY12" fmla="*/ 1990095 h 199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5981" h="1990258">
                  <a:moveTo>
                    <a:pt x="1199001" y="1990259"/>
                  </a:moveTo>
                  <a:lnTo>
                    <a:pt x="79265" y="1990259"/>
                  </a:lnTo>
                  <a:cubicBezTo>
                    <a:pt x="29455" y="1990259"/>
                    <a:pt x="-7902" y="1944873"/>
                    <a:pt x="1437" y="1896047"/>
                  </a:cubicBezTo>
                  <a:lnTo>
                    <a:pt x="178884" y="974730"/>
                  </a:lnTo>
                  <a:cubicBezTo>
                    <a:pt x="180851" y="964408"/>
                    <a:pt x="180851" y="953922"/>
                    <a:pt x="178721" y="943763"/>
                  </a:cubicBezTo>
                  <a:lnTo>
                    <a:pt x="3076" y="95196"/>
                  </a:lnTo>
                  <a:cubicBezTo>
                    <a:pt x="-7083" y="46041"/>
                    <a:pt x="30438" y="0"/>
                    <a:pt x="80576" y="0"/>
                  </a:cubicBezTo>
                  <a:lnTo>
                    <a:pt x="1199820" y="0"/>
                  </a:lnTo>
                  <a:cubicBezTo>
                    <a:pt x="1237833" y="0"/>
                    <a:pt x="1270602" y="27035"/>
                    <a:pt x="1277648" y="64392"/>
                  </a:cubicBezTo>
                  <a:lnTo>
                    <a:pt x="1444609" y="944910"/>
                  </a:lnTo>
                  <a:cubicBezTo>
                    <a:pt x="1446411" y="954250"/>
                    <a:pt x="1446411" y="963917"/>
                    <a:pt x="1444772" y="973420"/>
                  </a:cubicBezTo>
                  <a:lnTo>
                    <a:pt x="1276828" y="1924720"/>
                  </a:lnTo>
                  <a:cubicBezTo>
                    <a:pt x="1270111" y="1962569"/>
                    <a:pt x="1237341" y="1990095"/>
                    <a:pt x="1198837" y="19900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39E687-0181-63EF-359A-AA40CE745465}"/>
                </a:ext>
              </a:extLst>
            </p:cNvPr>
            <p:cNvSpPr txBox="1"/>
            <p:nvPr/>
          </p:nvSpPr>
          <p:spPr>
            <a:xfrm>
              <a:off x="4071375" y="4141389"/>
              <a:ext cx="1164462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کاهش</a:t>
              </a:r>
              <a:r>
                <a:rPr lang="en-US" sz="1200" dirty="0"/>
                <a:t> </a:t>
              </a:r>
              <a:r>
                <a:rPr lang="en-US" sz="1200" dirty="0" err="1"/>
                <a:t>هزینه‌های</a:t>
              </a:r>
              <a:r>
                <a:rPr lang="en-US" sz="1200" dirty="0"/>
                <a:t> </a:t>
              </a:r>
              <a:r>
                <a:rPr lang="en-US" sz="1200" dirty="0" err="1"/>
                <a:t>نگهداری</a:t>
              </a:r>
              <a:r>
                <a:rPr lang="en-US" sz="1200" dirty="0"/>
                <a:t> </a:t>
              </a:r>
              <a:r>
                <a:rPr lang="en-US" sz="1200" dirty="0" err="1"/>
                <a:t>در</a:t>
              </a:r>
              <a:r>
                <a:rPr lang="en-US" sz="1200" dirty="0"/>
                <a:t> </a:t>
              </a:r>
              <a:r>
                <a:rPr lang="en-US" sz="1200" dirty="0" err="1"/>
                <a:t>بلندمدت</a:t>
              </a:r>
              <a:endParaRPr lang="fa-IR" sz="1200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70B6CF2-7339-41E9-1D2E-D1B17845ABA4}"/>
                </a:ext>
              </a:extLst>
            </p:cNvPr>
            <p:cNvGrpSpPr/>
            <p:nvPr/>
          </p:nvGrpSpPr>
          <p:grpSpPr>
            <a:xfrm>
              <a:off x="4411446" y="3308016"/>
              <a:ext cx="636548" cy="636548"/>
              <a:chOff x="4411446" y="3308016"/>
              <a:chExt cx="636548" cy="636548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3B18B2C-0E24-D61E-5457-78052D7A74C7}"/>
                  </a:ext>
                </a:extLst>
              </p:cNvPr>
              <p:cNvSpPr/>
              <p:nvPr/>
            </p:nvSpPr>
            <p:spPr>
              <a:xfrm>
                <a:off x="4411446" y="3308016"/>
                <a:ext cx="636548" cy="636548"/>
              </a:xfrm>
              <a:custGeom>
                <a:avLst/>
                <a:gdLst>
                  <a:gd name="connsiteX0" fmla="*/ 603943 w 603942"/>
                  <a:gd name="connsiteY0" fmla="*/ 301971 h 603942"/>
                  <a:gd name="connsiteX1" fmla="*/ 301972 w 603942"/>
                  <a:gd name="connsiteY1" fmla="*/ 603943 h 603942"/>
                  <a:gd name="connsiteX2" fmla="*/ 0 w 603942"/>
                  <a:gd name="connsiteY2" fmla="*/ 301971 h 603942"/>
                  <a:gd name="connsiteX3" fmla="*/ 301972 w 603942"/>
                  <a:gd name="connsiteY3" fmla="*/ 0 h 603942"/>
                  <a:gd name="connsiteX4" fmla="*/ 603943 w 603942"/>
                  <a:gd name="connsiteY4" fmla="*/ 301971 h 60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942" h="603942">
                    <a:moveTo>
                      <a:pt x="603943" y="301971"/>
                    </a:moveTo>
                    <a:cubicBezTo>
                      <a:pt x="603943" y="468746"/>
                      <a:pt x="468746" y="603943"/>
                      <a:pt x="301972" y="603943"/>
                    </a:cubicBezTo>
                    <a:cubicBezTo>
                      <a:pt x="135197" y="603943"/>
                      <a:pt x="0" y="468746"/>
                      <a:pt x="0" y="301971"/>
                    </a:cubicBezTo>
                    <a:cubicBezTo>
                      <a:pt x="0" y="135197"/>
                      <a:pt x="135197" y="0"/>
                      <a:pt x="301972" y="0"/>
                    </a:cubicBezTo>
                    <a:cubicBezTo>
                      <a:pt x="468746" y="0"/>
                      <a:pt x="603943" y="135197"/>
                      <a:pt x="603943" y="30197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715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CC57FC-DD63-D18A-6A94-C124DB0E0821}"/>
                  </a:ext>
                </a:extLst>
              </p:cNvPr>
              <p:cNvSpPr txBox="1"/>
              <p:nvPr/>
            </p:nvSpPr>
            <p:spPr>
              <a:xfrm>
                <a:off x="4433613" y="3317823"/>
                <a:ext cx="569154" cy="62670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 anchor="ctr" anchorCtr="0">
                <a:spAutoFit/>
              </a:bodyPr>
              <a:lstStyle/>
              <a:p>
                <a:pPr algn="ctr" rtl="1"/>
                <a:r>
                  <a:rPr lang="fa-IR" sz="3600" b="1" dirty="0">
                    <a:gradFill flip="none" rotWithShape="1">
                      <a:gsLst>
                        <a:gs pos="61000">
                          <a:schemeClr val="accent3">
                            <a:lumMod val="75000"/>
                          </a:schemeClr>
                        </a:gs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5400000" scaled="1"/>
                      <a:tileRect/>
                    </a:gradFill>
                    <a:cs typeface="+mj-cs"/>
                  </a:rPr>
                  <a:t>2</a:t>
                </a:r>
                <a:endParaRPr lang="en-US" sz="36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endParaRP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C14F3D6-0297-2A1F-1059-B5001BBBE56D}"/>
              </a:ext>
            </a:extLst>
          </p:cNvPr>
          <p:cNvGrpSpPr/>
          <p:nvPr/>
        </p:nvGrpSpPr>
        <p:grpSpPr>
          <a:xfrm>
            <a:off x="5481056" y="2329851"/>
            <a:ext cx="1524048" cy="2097709"/>
            <a:chOff x="5334361" y="2955203"/>
            <a:chExt cx="1524048" cy="209770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324BE22-EECA-1225-1DF2-D1EFF3AEEB31}"/>
                </a:ext>
              </a:extLst>
            </p:cNvPr>
            <p:cNvSpPr/>
            <p:nvPr/>
          </p:nvSpPr>
          <p:spPr>
            <a:xfrm>
              <a:off x="5334361" y="2955203"/>
              <a:ext cx="1524048" cy="2097709"/>
            </a:xfrm>
            <a:custGeom>
              <a:avLst/>
              <a:gdLst>
                <a:gd name="connsiteX0" fmla="*/ 1199001 w 1445981"/>
                <a:gd name="connsiteY0" fmla="*/ 1990259 h 1990258"/>
                <a:gd name="connsiteX1" fmla="*/ 79265 w 1445981"/>
                <a:gd name="connsiteY1" fmla="*/ 1990259 h 1990258"/>
                <a:gd name="connsiteX2" fmla="*/ 1437 w 1445981"/>
                <a:gd name="connsiteY2" fmla="*/ 1896047 h 1990258"/>
                <a:gd name="connsiteX3" fmla="*/ 178884 w 1445981"/>
                <a:gd name="connsiteY3" fmla="*/ 974730 h 1990258"/>
                <a:gd name="connsiteX4" fmla="*/ 178721 w 1445981"/>
                <a:gd name="connsiteY4" fmla="*/ 943763 h 1990258"/>
                <a:gd name="connsiteX5" fmla="*/ 3076 w 1445981"/>
                <a:gd name="connsiteY5" fmla="*/ 95196 h 1990258"/>
                <a:gd name="connsiteX6" fmla="*/ 80576 w 1445981"/>
                <a:gd name="connsiteY6" fmla="*/ 0 h 1990258"/>
                <a:gd name="connsiteX7" fmla="*/ 1199820 w 1445981"/>
                <a:gd name="connsiteY7" fmla="*/ 0 h 1990258"/>
                <a:gd name="connsiteX8" fmla="*/ 1277648 w 1445981"/>
                <a:gd name="connsiteY8" fmla="*/ 64392 h 1990258"/>
                <a:gd name="connsiteX9" fmla="*/ 1444609 w 1445981"/>
                <a:gd name="connsiteY9" fmla="*/ 944910 h 1990258"/>
                <a:gd name="connsiteX10" fmla="*/ 1444772 w 1445981"/>
                <a:gd name="connsiteY10" fmla="*/ 973420 h 1990258"/>
                <a:gd name="connsiteX11" fmla="*/ 1276828 w 1445981"/>
                <a:gd name="connsiteY11" fmla="*/ 1924720 h 1990258"/>
                <a:gd name="connsiteX12" fmla="*/ 1198837 w 1445981"/>
                <a:gd name="connsiteY12" fmla="*/ 1990095 h 199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5981" h="1990258">
                  <a:moveTo>
                    <a:pt x="1199001" y="1990259"/>
                  </a:moveTo>
                  <a:lnTo>
                    <a:pt x="79265" y="1990259"/>
                  </a:lnTo>
                  <a:cubicBezTo>
                    <a:pt x="29455" y="1990259"/>
                    <a:pt x="-7902" y="1944873"/>
                    <a:pt x="1437" y="1896047"/>
                  </a:cubicBezTo>
                  <a:lnTo>
                    <a:pt x="178884" y="974730"/>
                  </a:lnTo>
                  <a:cubicBezTo>
                    <a:pt x="180850" y="964408"/>
                    <a:pt x="180850" y="953922"/>
                    <a:pt x="178721" y="943763"/>
                  </a:cubicBezTo>
                  <a:lnTo>
                    <a:pt x="3076" y="95196"/>
                  </a:lnTo>
                  <a:cubicBezTo>
                    <a:pt x="-7083" y="46041"/>
                    <a:pt x="30438" y="0"/>
                    <a:pt x="80576" y="0"/>
                  </a:cubicBezTo>
                  <a:lnTo>
                    <a:pt x="1199820" y="0"/>
                  </a:lnTo>
                  <a:cubicBezTo>
                    <a:pt x="1237833" y="0"/>
                    <a:pt x="1270602" y="27035"/>
                    <a:pt x="1277648" y="64392"/>
                  </a:cubicBezTo>
                  <a:lnTo>
                    <a:pt x="1444609" y="944910"/>
                  </a:lnTo>
                  <a:cubicBezTo>
                    <a:pt x="1446411" y="954250"/>
                    <a:pt x="1446411" y="963917"/>
                    <a:pt x="1444772" y="973420"/>
                  </a:cubicBezTo>
                  <a:lnTo>
                    <a:pt x="1276828" y="1924720"/>
                  </a:lnTo>
                  <a:cubicBezTo>
                    <a:pt x="1270111" y="1962569"/>
                    <a:pt x="1237341" y="1990095"/>
                    <a:pt x="1198837" y="1990095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71A1C6F-0389-AEE0-BE7D-4590A3800B1C}"/>
                </a:ext>
              </a:extLst>
            </p:cNvPr>
            <p:cNvSpPr txBox="1"/>
            <p:nvPr/>
          </p:nvSpPr>
          <p:spPr>
            <a:xfrm>
              <a:off x="5503738" y="4141389"/>
              <a:ext cx="1164462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تسهیل</a:t>
              </a:r>
              <a:r>
                <a:rPr lang="en-US" sz="1200" dirty="0"/>
                <a:t> </a:t>
              </a:r>
              <a:r>
                <a:rPr lang="en-US" sz="1200" dirty="0" err="1"/>
                <a:t>فرایند</a:t>
              </a:r>
              <a:r>
                <a:rPr lang="en-US" sz="1200" dirty="0"/>
                <a:t> </a:t>
              </a:r>
              <a:r>
                <a:rPr lang="en-US" sz="1200" dirty="0" err="1"/>
                <a:t>اصلاح</a:t>
              </a:r>
              <a:r>
                <a:rPr lang="en-US" sz="1200" dirty="0"/>
                <a:t> و </a:t>
              </a:r>
              <a:r>
                <a:rPr lang="en-US" sz="1200" dirty="0" err="1"/>
                <a:t>توسعه</a:t>
              </a:r>
              <a:r>
                <a:rPr lang="en-US" sz="1200" dirty="0"/>
                <a:t> </a:t>
              </a:r>
              <a:r>
                <a:rPr lang="en-US" sz="1200" dirty="0" err="1"/>
                <a:t>نرم‌افزار</a:t>
              </a:r>
              <a:endParaRPr lang="fa-IR" sz="1200" dirty="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9E06D12-532F-9E27-7347-988096014CD5}"/>
                </a:ext>
              </a:extLst>
            </p:cNvPr>
            <p:cNvGrpSpPr/>
            <p:nvPr/>
          </p:nvGrpSpPr>
          <p:grpSpPr>
            <a:xfrm>
              <a:off x="5797608" y="3308054"/>
              <a:ext cx="636548" cy="636548"/>
              <a:chOff x="5797608" y="3308054"/>
              <a:chExt cx="636548" cy="636548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5BA4FD-2EA4-9CAA-1696-20904E8663A4}"/>
                  </a:ext>
                </a:extLst>
              </p:cNvPr>
              <p:cNvSpPr/>
              <p:nvPr/>
            </p:nvSpPr>
            <p:spPr>
              <a:xfrm rot="16993800">
                <a:off x="5797608" y="3308054"/>
                <a:ext cx="636548" cy="636548"/>
              </a:xfrm>
              <a:custGeom>
                <a:avLst/>
                <a:gdLst>
                  <a:gd name="connsiteX0" fmla="*/ 603943 w 603942"/>
                  <a:gd name="connsiteY0" fmla="*/ 301971 h 603942"/>
                  <a:gd name="connsiteX1" fmla="*/ 301972 w 603942"/>
                  <a:gd name="connsiteY1" fmla="*/ 603943 h 603942"/>
                  <a:gd name="connsiteX2" fmla="*/ 0 w 603942"/>
                  <a:gd name="connsiteY2" fmla="*/ 301971 h 603942"/>
                  <a:gd name="connsiteX3" fmla="*/ 301972 w 603942"/>
                  <a:gd name="connsiteY3" fmla="*/ 0 h 603942"/>
                  <a:gd name="connsiteX4" fmla="*/ 603943 w 603942"/>
                  <a:gd name="connsiteY4" fmla="*/ 301971 h 60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942" h="603942">
                    <a:moveTo>
                      <a:pt x="603943" y="301971"/>
                    </a:moveTo>
                    <a:cubicBezTo>
                      <a:pt x="603943" y="468746"/>
                      <a:pt x="468746" y="603943"/>
                      <a:pt x="301972" y="603943"/>
                    </a:cubicBezTo>
                    <a:cubicBezTo>
                      <a:pt x="135197" y="603943"/>
                      <a:pt x="0" y="468746"/>
                      <a:pt x="0" y="301971"/>
                    </a:cubicBezTo>
                    <a:cubicBezTo>
                      <a:pt x="0" y="135197"/>
                      <a:pt x="135197" y="0"/>
                      <a:pt x="301972" y="0"/>
                    </a:cubicBezTo>
                    <a:cubicBezTo>
                      <a:pt x="468746" y="0"/>
                      <a:pt x="603943" y="135197"/>
                      <a:pt x="603943" y="30197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715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54C2B18-8AA8-717B-1F86-3D6E7BD3C861}"/>
                  </a:ext>
                </a:extLst>
              </p:cNvPr>
              <p:cNvSpPr txBox="1"/>
              <p:nvPr/>
            </p:nvSpPr>
            <p:spPr>
              <a:xfrm>
                <a:off x="5811808" y="3317823"/>
                <a:ext cx="569154" cy="62670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 anchor="ctr" anchorCtr="0">
                <a:spAutoFit/>
              </a:bodyPr>
              <a:lstStyle/>
              <a:p>
                <a:pPr algn="ctr" rtl="1"/>
                <a:r>
                  <a:rPr lang="fa-IR" sz="3600" b="1" dirty="0">
                    <a:gradFill flip="none" rotWithShape="1">
                      <a:gsLst>
                        <a:gs pos="61000">
                          <a:schemeClr val="accent3">
                            <a:lumMod val="75000"/>
                          </a:schemeClr>
                        </a:gs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5400000" scaled="1"/>
                      <a:tileRect/>
                    </a:gradFill>
                    <a:cs typeface="+mj-cs"/>
                  </a:rPr>
                  <a:t>3</a:t>
                </a:r>
                <a:endParaRPr lang="en-US" sz="36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endParaRP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FCACF82-57B3-0803-DDBB-48003B0FFCDC}"/>
              </a:ext>
            </a:extLst>
          </p:cNvPr>
          <p:cNvGrpSpPr/>
          <p:nvPr/>
        </p:nvGrpSpPr>
        <p:grpSpPr>
          <a:xfrm>
            <a:off x="6927711" y="2329851"/>
            <a:ext cx="1524048" cy="2097709"/>
            <a:chOff x="6781016" y="2955203"/>
            <a:chExt cx="1524048" cy="209770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D42399-06CB-7E73-7E62-E5DEC5F5763A}"/>
                </a:ext>
              </a:extLst>
            </p:cNvPr>
            <p:cNvSpPr/>
            <p:nvPr/>
          </p:nvSpPr>
          <p:spPr>
            <a:xfrm>
              <a:off x="6781016" y="2955203"/>
              <a:ext cx="1524048" cy="2097709"/>
            </a:xfrm>
            <a:custGeom>
              <a:avLst/>
              <a:gdLst>
                <a:gd name="connsiteX0" fmla="*/ 1199001 w 1445981"/>
                <a:gd name="connsiteY0" fmla="*/ 1990259 h 1990258"/>
                <a:gd name="connsiteX1" fmla="*/ 79265 w 1445981"/>
                <a:gd name="connsiteY1" fmla="*/ 1990259 h 1990258"/>
                <a:gd name="connsiteX2" fmla="*/ 1437 w 1445981"/>
                <a:gd name="connsiteY2" fmla="*/ 1896047 h 1990258"/>
                <a:gd name="connsiteX3" fmla="*/ 178884 w 1445981"/>
                <a:gd name="connsiteY3" fmla="*/ 974730 h 1990258"/>
                <a:gd name="connsiteX4" fmla="*/ 178721 w 1445981"/>
                <a:gd name="connsiteY4" fmla="*/ 943763 h 1990258"/>
                <a:gd name="connsiteX5" fmla="*/ 3076 w 1445981"/>
                <a:gd name="connsiteY5" fmla="*/ 95196 h 1990258"/>
                <a:gd name="connsiteX6" fmla="*/ 80575 w 1445981"/>
                <a:gd name="connsiteY6" fmla="*/ 0 h 1990258"/>
                <a:gd name="connsiteX7" fmla="*/ 1199820 w 1445981"/>
                <a:gd name="connsiteY7" fmla="*/ 0 h 1990258"/>
                <a:gd name="connsiteX8" fmla="*/ 1277648 w 1445981"/>
                <a:gd name="connsiteY8" fmla="*/ 64392 h 1990258"/>
                <a:gd name="connsiteX9" fmla="*/ 1444608 w 1445981"/>
                <a:gd name="connsiteY9" fmla="*/ 944910 h 1990258"/>
                <a:gd name="connsiteX10" fmla="*/ 1444772 w 1445981"/>
                <a:gd name="connsiteY10" fmla="*/ 973420 h 1990258"/>
                <a:gd name="connsiteX11" fmla="*/ 1276829 w 1445981"/>
                <a:gd name="connsiteY11" fmla="*/ 1924720 h 1990258"/>
                <a:gd name="connsiteX12" fmla="*/ 1198837 w 1445981"/>
                <a:gd name="connsiteY12" fmla="*/ 1990095 h 199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5981" h="1990258">
                  <a:moveTo>
                    <a:pt x="1199001" y="1990259"/>
                  </a:moveTo>
                  <a:lnTo>
                    <a:pt x="79265" y="1990259"/>
                  </a:lnTo>
                  <a:cubicBezTo>
                    <a:pt x="29455" y="1990259"/>
                    <a:pt x="-7902" y="1944873"/>
                    <a:pt x="1437" y="1896047"/>
                  </a:cubicBezTo>
                  <a:lnTo>
                    <a:pt x="178884" y="974730"/>
                  </a:lnTo>
                  <a:cubicBezTo>
                    <a:pt x="180851" y="964408"/>
                    <a:pt x="180851" y="953922"/>
                    <a:pt x="178721" y="943763"/>
                  </a:cubicBezTo>
                  <a:lnTo>
                    <a:pt x="3076" y="95196"/>
                  </a:lnTo>
                  <a:cubicBezTo>
                    <a:pt x="-7083" y="46041"/>
                    <a:pt x="30438" y="0"/>
                    <a:pt x="80575" y="0"/>
                  </a:cubicBezTo>
                  <a:lnTo>
                    <a:pt x="1199820" y="0"/>
                  </a:lnTo>
                  <a:cubicBezTo>
                    <a:pt x="1237833" y="0"/>
                    <a:pt x="1270602" y="27035"/>
                    <a:pt x="1277648" y="64392"/>
                  </a:cubicBezTo>
                  <a:lnTo>
                    <a:pt x="1444608" y="944910"/>
                  </a:lnTo>
                  <a:cubicBezTo>
                    <a:pt x="1446411" y="954250"/>
                    <a:pt x="1446411" y="963917"/>
                    <a:pt x="1444772" y="973420"/>
                  </a:cubicBezTo>
                  <a:lnTo>
                    <a:pt x="1276829" y="1924720"/>
                  </a:lnTo>
                  <a:cubicBezTo>
                    <a:pt x="1270111" y="1962569"/>
                    <a:pt x="1237341" y="1990095"/>
                    <a:pt x="1198837" y="199009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978A0C-99F1-E6C1-AE11-4BB866B0844B}"/>
                </a:ext>
              </a:extLst>
            </p:cNvPr>
            <p:cNvSpPr txBox="1"/>
            <p:nvPr/>
          </p:nvSpPr>
          <p:spPr>
            <a:xfrm>
              <a:off x="6960808" y="4141389"/>
              <a:ext cx="1164462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کاهش</a:t>
              </a:r>
              <a:r>
                <a:rPr lang="en-US" sz="1200" dirty="0"/>
                <a:t> </a:t>
              </a:r>
              <a:r>
                <a:rPr lang="en-US" sz="1200" dirty="0" err="1"/>
                <a:t>پیچیدگی</a:t>
              </a:r>
              <a:r>
                <a:rPr lang="en-US" sz="1200" dirty="0"/>
                <a:t> و </a:t>
              </a:r>
              <a:r>
                <a:rPr lang="en-US" sz="1200" dirty="0" err="1"/>
                <a:t>افزایش</a:t>
              </a:r>
              <a:r>
                <a:rPr lang="en-US" sz="1200" dirty="0"/>
                <a:t> </a:t>
              </a:r>
              <a:r>
                <a:rPr lang="en-US" sz="1200" dirty="0" err="1"/>
                <a:t>خوانایی</a:t>
              </a:r>
              <a:r>
                <a:rPr lang="en-US" sz="1200" dirty="0"/>
                <a:t> </a:t>
              </a:r>
              <a:r>
                <a:rPr lang="en-US" sz="1200" dirty="0" err="1"/>
                <a:t>برنامه</a:t>
              </a:r>
              <a:endParaRPr lang="fa-IR" sz="12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9B6816C-16DE-B883-4C37-4CBB8D8E936D}"/>
                </a:ext>
              </a:extLst>
            </p:cNvPr>
            <p:cNvGrpSpPr/>
            <p:nvPr/>
          </p:nvGrpSpPr>
          <p:grpSpPr>
            <a:xfrm>
              <a:off x="7248137" y="3307871"/>
              <a:ext cx="636548" cy="636653"/>
              <a:chOff x="7248137" y="3307871"/>
              <a:chExt cx="636548" cy="63665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035FA31-2867-7B52-E827-B1AC398D200D}"/>
                  </a:ext>
                </a:extLst>
              </p:cNvPr>
              <p:cNvSpPr/>
              <p:nvPr/>
            </p:nvSpPr>
            <p:spPr>
              <a:xfrm rot="16993800">
                <a:off x="7248137" y="3307871"/>
                <a:ext cx="636548" cy="636548"/>
              </a:xfrm>
              <a:custGeom>
                <a:avLst/>
                <a:gdLst>
                  <a:gd name="connsiteX0" fmla="*/ 603943 w 603942"/>
                  <a:gd name="connsiteY0" fmla="*/ 301971 h 603942"/>
                  <a:gd name="connsiteX1" fmla="*/ 301972 w 603942"/>
                  <a:gd name="connsiteY1" fmla="*/ 603943 h 603942"/>
                  <a:gd name="connsiteX2" fmla="*/ 0 w 603942"/>
                  <a:gd name="connsiteY2" fmla="*/ 301971 h 603942"/>
                  <a:gd name="connsiteX3" fmla="*/ 301972 w 603942"/>
                  <a:gd name="connsiteY3" fmla="*/ 0 h 603942"/>
                  <a:gd name="connsiteX4" fmla="*/ 603943 w 603942"/>
                  <a:gd name="connsiteY4" fmla="*/ 301971 h 60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942" h="603942">
                    <a:moveTo>
                      <a:pt x="603943" y="301971"/>
                    </a:moveTo>
                    <a:cubicBezTo>
                      <a:pt x="603943" y="468746"/>
                      <a:pt x="468746" y="603943"/>
                      <a:pt x="301972" y="603943"/>
                    </a:cubicBezTo>
                    <a:cubicBezTo>
                      <a:pt x="135197" y="603943"/>
                      <a:pt x="0" y="468746"/>
                      <a:pt x="0" y="301971"/>
                    </a:cubicBezTo>
                    <a:cubicBezTo>
                      <a:pt x="0" y="135197"/>
                      <a:pt x="135198" y="0"/>
                      <a:pt x="301972" y="0"/>
                    </a:cubicBezTo>
                    <a:cubicBezTo>
                      <a:pt x="468746" y="0"/>
                      <a:pt x="603943" y="135197"/>
                      <a:pt x="603943" y="30197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715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E33999B-59F2-B3BE-88EA-27002D6DCBBC}"/>
                  </a:ext>
                </a:extLst>
              </p:cNvPr>
              <p:cNvSpPr txBox="1"/>
              <p:nvPr/>
            </p:nvSpPr>
            <p:spPr>
              <a:xfrm>
                <a:off x="7281834" y="3317823"/>
                <a:ext cx="569154" cy="62670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 anchor="ctr" anchorCtr="0">
                <a:spAutoFit/>
              </a:bodyPr>
              <a:lstStyle/>
              <a:p>
                <a:pPr algn="ctr" rtl="1"/>
                <a:r>
                  <a:rPr lang="fa-IR" sz="3600" b="1" dirty="0">
                    <a:gradFill flip="none" rotWithShape="1">
                      <a:gsLst>
                        <a:gs pos="61000">
                          <a:schemeClr val="accent3">
                            <a:lumMod val="75000"/>
                          </a:schemeClr>
                        </a:gs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5400000" scaled="1"/>
                      <a:tileRect/>
                    </a:gradFill>
                    <a:cs typeface="+mj-cs"/>
                  </a:rPr>
                  <a:t>4</a:t>
                </a:r>
                <a:endParaRPr lang="en-US" sz="36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B29277D-3BCC-4A00-29A2-FB6BC9B8F2A4}"/>
              </a:ext>
            </a:extLst>
          </p:cNvPr>
          <p:cNvGrpSpPr/>
          <p:nvPr/>
        </p:nvGrpSpPr>
        <p:grpSpPr>
          <a:xfrm>
            <a:off x="8374366" y="2329851"/>
            <a:ext cx="1524048" cy="2097709"/>
            <a:chOff x="8227671" y="2955203"/>
            <a:chExt cx="1524048" cy="209770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66E9225-2E7E-813B-8C68-D3CE12B8B20E}"/>
                </a:ext>
              </a:extLst>
            </p:cNvPr>
            <p:cNvSpPr/>
            <p:nvPr/>
          </p:nvSpPr>
          <p:spPr>
            <a:xfrm>
              <a:off x="8227671" y="2955203"/>
              <a:ext cx="1524048" cy="2097709"/>
            </a:xfrm>
            <a:custGeom>
              <a:avLst/>
              <a:gdLst>
                <a:gd name="connsiteX0" fmla="*/ 1199001 w 1445981"/>
                <a:gd name="connsiteY0" fmla="*/ 1990259 h 1990258"/>
                <a:gd name="connsiteX1" fmla="*/ 79265 w 1445981"/>
                <a:gd name="connsiteY1" fmla="*/ 1990259 h 1990258"/>
                <a:gd name="connsiteX2" fmla="*/ 1437 w 1445981"/>
                <a:gd name="connsiteY2" fmla="*/ 1896047 h 1990258"/>
                <a:gd name="connsiteX3" fmla="*/ 178885 w 1445981"/>
                <a:gd name="connsiteY3" fmla="*/ 974730 h 1990258"/>
                <a:gd name="connsiteX4" fmla="*/ 178721 w 1445981"/>
                <a:gd name="connsiteY4" fmla="*/ 943763 h 1990258"/>
                <a:gd name="connsiteX5" fmla="*/ 3076 w 1445981"/>
                <a:gd name="connsiteY5" fmla="*/ 95196 h 1990258"/>
                <a:gd name="connsiteX6" fmla="*/ 80576 w 1445981"/>
                <a:gd name="connsiteY6" fmla="*/ 0 h 1990258"/>
                <a:gd name="connsiteX7" fmla="*/ 1199820 w 1445981"/>
                <a:gd name="connsiteY7" fmla="*/ 0 h 1990258"/>
                <a:gd name="connsiteX8" fmla="*/ 1277648 w 1445981"/>
                <a:gd name="connsiteY8" fmla="*/ 64392 h 1990258"/>
                <a:gd name="connsiteX9" fmla="*/ 1444609 w 1445981"/>
                <a:gd name="connsiteY9" fmla="*/ 944910 h 1990258"/>
                <a:gd name="connsiteX10" fmla="*/ 1444772 w 1445981"/>
                <a:gd name="connsiteY10" fmla="*/ 973420 h 1990258"/>
                <a:gd name="connsiteX11" fmla="*/ 1276828 w 1445981"/>
                <a:gd name="connsiteY11" fmla="*/ 1924720 h 1990258"/>
                <a:gd name="connsiteX12" fmla="*/ 1198837 w 1445981"/>
                <a:gd name="connsiteY12" fmla="*/ 1990095 h 199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5981" h="1990258">
                  <a:moveTo>
                    <a:pt x="1199001" y="1990259"/>
                  </a:moveTo>
                  <a:lnTo>
                    <a:pt x="79265" y="1990259"/>
                  </a:lnTo>
                  <a:cubicBezTo>
                    <a:pt x="29455" y="1990259"/>
                    <a:pt x="-7902" y="1944873"/>
                    <a:pt x="1437" y="1896047"/>
                  </a:cubicBezTo>
                  <a:lnTo>
                    <a:pt x="178885" y="974730"/>
                  </a:lnTo>
                  <a:cubicBezTo>
                    <a:pt x="180851" y="964408"/>
                    <a:pt x="180851" y="953922"/>
                    <a:pt x="178721" y="943763"/>
                  </a:cubicBezTo>
                  <a:lnTo>
                    <a:pt x="3076" y="95196"/>
                  </a:lnTo>
                  <a:cubicBezTo>
                    <a:pt x="-7083" y="46041"/>
                    <a:pt x="30438" y="0"/>
                    <a:pt x="80576" y="0"/>
                  </a:cubicBezTo>
                  <a:lnTo>
                    <a:pt x="1199820" y="0"/>
                  </a:lnTo>
                  <a:cubicBezTo>
                    <a:pt x="1237833" y="0"/>
                    <a:pt x="1270603" y="27035"/>
                    <a:pt x="1277648" y="64392"/>
                  </a:cubicBezTo>
                  <a:lnTo>
                    <a:pt x="1444609" y="944910"/>
                  </a:lnTo>
                  <a:cubicBezTo>
                    <a:pt x="1446411" y="954250"/>
                    <a:pt x="1446411" y="963917"/>
                    <a:pt x="1444772" y="973420"/>
                  </a:cubicBezTo>
                  <a:lnTo>
                    <a:pt x="1276828" y="1924720"/>
                  </a:lnTo>
                  <a:cubicBezTo>
                    <a:pt x="1270111" y="1962569"/>
                    <a:pt x="1237341" y="1990095"/>
                    <a:pt x="1198837" y="1990095"/>
                  </a:cubicBezTo>
                  <a:close/>
                </a:path>
              </a:pathLst>
            </a:custGeom>
            <a:solidFill>
              <a:schemeClr val="accent1"/>
            </a:solidFill>
            <a:ln w="16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C002815-968B-B1B9-09C5-8EC20E1B4181}"/>
                </a:ext>
              </a:extLst>
            </p:cNvPr>
            <p:cNvSpPr txBox="1"/>
            <p:nvPr/>
          </p:nvSpPr>
          <p:spPr>
            <a:xfrm>
              <a:off x="8407463" y="4141389"/>
              <a:ext cx="1164462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>
                  <a:solidFill>
                    <a:srgbClr val="B7F2F2"/>
                  </a:solidFill>
                </a:rPr>
                <a:t>شناسایی</a:t>
              </a:r>
              <a:r>
                <a:rPr lang="en-US" sz="1200" dirty="0">
                  <a:solidFill>
                    <a:srgbClr val="B7F2F2"/>
                  </a:solidFill>
                </a:rPr>
                <a:t> </a:t>
              </a:r>
              <a:r>
                <a:rPr lang="en-US" sz="1200" dirty="0" err="1">
                  <a:solidFill>
                    <a:srgbClr val="B7F2F2"/>
                  </a:solidFill>
                </a:rPr>
                <a:t>مشکلات</a:t>
              </a:r>
              <a:r>
                <a:rPr lang="en-US" sz="1200" dirty="0">
                  <a:solidFill>
                    <a:srgbClr val="B7F2F2"/>
                  </a:solidFill>
                </a:rPr>
                <a:t> </a:t>
              </a:r>
              <a:r>
                <a:rPr lang="en-US" sz="1200" dirty="0" err="1">
                  <a:solidFill>
                    <a:srgbClr val="B7F2F2"/>
                  </a:solidFill>
                </a:rPr>
                <a:t>احتمالی</a:t>
              </a:r>
              <a:r>
                <a:rPr lang="en-US" sz="1200" dirty="0">
                  <a:solidFill>
                    <a:srgbClr val="B7F2F2"/>
                  </a:solidFill>
                </a:rPr>
                <a:t> </a:t>
              </a:r>
              <a:r>
                <a:rPr lang="en-US" sz="1200" dirty="0" err="1">
                  <a:solidFill>
                    <a:srgbClr val="B7F2F2"/>
                  </a:solidFill>
                </a:rPr>
                <a:t>در</a:t>
              </a:r>
              <a:r>
                <a:rPr lang="en-US" sz="1200" dirty="0">
                  <a:solidFill>
                    <a:srgbClr val="B7F2F2"/>
                  </a:solidFill>
                </a:rPr>
                <a:t> </a:t>
              </a:r>
              <a:r>
                <a:rPr lang="en-US" sz="1200" dirty="0" err="1">
                  <a:solidFill>
                    <a:srgbClr val="B7F2F2"/>
                  </a:solidFill>
                </a:rPr>
                <a:t>طراحی</a:t>
              </a:r>
              <a:r>
                <a:rPr lang="en-US" sz="1200" dirty="0">
                  <a:solidFill>
                    <a:srgbClr val="B7F2F2"/>
                  </a:solidFill>
                </a:rPr>
                <a:t> </a:t>
              </a:r>
              <a:r>
                <a:rPr lang="en-US" sz="1200" dirty="0" err="1">
                  <a:solidFill>
                    <a:srgbClr val="B7F2F2"/>
                  </a:solidFill>
                </a:rPr>
                <a:t>کد</a:t>
              </a:r>
              <a:endParaRPr lang="fa-IR" sz="1200" dirty="0">
                <a:solidFill>
                  <a:srgbClr val="B7F2F2"/>
                </a:solidFill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3E5BF61-EF7C-360D-7038-D879B1B1C1BD}"/>
                </a:ext>
              </a:extLst>
            </p:cNvPr>
            <p:cNvGrpSpPr/>
            <p:nvPr/>
          </p:nvGrpSpPr>
          <p:grpSpPr>
            <a:xfrm>
              <a:off x="8698921" y="3300945"/>
              <a:ext cx="636548" cy="643757"/>
              <a:chOff x="8698921" y="3300945"/>
              <a:chExt cx="636548" cy="643757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F93A823-6FB3-812D-61CE-D6A8D5BB70C9}"/>
                  </a:ext>
                </a:extLst>
              </p:cNvPr>
              <p:cNvSpPr/>
              <p:nvPr/>
            </p:nvSpPr>
            <p:spPr>
              <a:xfrm rot="17542200">
                <a:off x="8698921" y="3308154"/>
                <a:ext cx="636548" cy="636548"/>
              </a:xfrm>
              <a:custGeom>
                <a:avLst/>
                <a:gdLst>
                  <a:gd name="connsiteX0" fmla="*/ 603943 w 603942"/>
                  <a:gd name="connsiteY0" fmla="*/ 301971 h 603942"/>
                  <a:gd name="connsiteX1" fmla="*/ 301972 w 603942"/>
                  <a:gd name="connsiteY1" fmla="*/ 603943 h 603942"/>
                  <a:gd name="connsiteX2" fmla="*/ 0 w 603942"/>
                  <a:gd name="connsiteY2" fmla="*/ 301971 h 603942"/>
                  <a:gd name="connsiteX3" fmla="*/ 301972 w 603942"/>
                  <a:gd name="connsiteY3" fmla="*/ 0 h 603942"/>
                  <a:gd name="connsiteX4" fmla="*/ 603943 w 603942"/>
                  <a:gd name="connsiteY4" fmla="*/ 301971 h 60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942" h="603942">
                    <a:moveTo>
                      <a:pt x="603943" y="301971"/>
                    </a:moveTo>
                    <a:cubicBezTo>
                      <a:pt x="603943" y="468746"/>
                      <a:pt x="468746" y="603943"/>
                      <a:pt x="301972" y="603943"/>
                    </a:cubicBezTo>
                    <a:cubicBezTo>
                      <a:pt x="135197" y="603943"/>
                      <a:pt x="0" y="468746"/>
                      <a:pt x="0" y="301971"/>
                    </a:cubicBezTo>
                    <a:cubicBezTo>
                      <a:pt x="0" y="135197"/>
                      <a:pt x="135198" y="0"/>
                      <a:pt x="301972" y="0"/>
                    </a:cubicBezTo>
                    <a:cubicBezTo>
                      <a:pt x="468746" y="0"/>
                      <a:pt x="603943" y="135197"/>
                      <a:pt x="603943" y="30197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715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4D00C6C-E085-BC0D-4133-28C738BDACD8}"/>
                  </a:ext>
                </a:extLst>
              </p:cNvPr>
              <p:cNvSpPr txBox="1"/>
              <p:nvPr/>
            </p:nvSpPr>
            <p:spPr>
              <a:xfrm>
                <a:off x="8732618" y="3300945"/>
                <a:ext cx="569154" cy="62670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 anchor="ctr" anchorCtr="0">
                <a:spAutoFit/>
              </a:bodyPr>
              <a:lstStyle/>
              <a:p>
                <a:pPr algn="ctr" rtl="1"/>
                <a:r>
                  <a:rPr lang="fa-IR" sz="3600" b="1" dirty="0">
                    <a:gradFill flip="none" rotWithShape="1">
                      <a:gsLst>
                        <a:gs pos="61000">
                          <a:schemeClr val="accent3">
                            <a:lumMod val="75000"/>
                          </a:schemeClr>
                        </a:gs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5400000" scaled="1"/>
                      <a:tileRect/>
                    </a:gradFill>
                    <a:cs typeface="+mj-cs"/>
                  </a:rPr>
                  <a:t>5</a:t>
                </a:r>
                <a:endParaRPr lang="en-US" sz="3600" b="1" dirty="0">
                  <a:gradFill flip="none" rotWithShape="1">
                    <a:gsLst>
                      <a:gs pos="61000">
                        <a:schemeClr val="accent3">
                          <a:lumMod val="75000"/>
                        </a:schemeClr>
                      </a:gs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5400000" scaled="1"/>
                    <a:tileRect/>
                  </a:gradFill>
                  <a:cs typeface="+mj-cs"/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7B112D7A-8F19-4F70-5B18-28C9DD88DE98}"/>
              </a:ext>
            </a:extLst>
          </p:cNvPr>
          <p:cNvSpPr txBox="1"/>
          <p:nvPr/>
        </p:nvSpPr>
        <p:spPr>
          <a:xfrm>
            <a:off x="4514865" y="4668813"/>
            <a:ext cx="3315577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2000" dirty="0">
                <a:cs typeface="+mj-cs"/>
              </a:rPr>
              <a:t>اهمیت شناسایی </a:t>
            </a:r>
            <a:r>
              <a:rPr lang="en-US" sz="2000" dirty="0">
                <a:cs typeface="+mj-cs"/>
              </a:rPr>
              <a:t>Code Smell</a:t>
            </a:r>
            <a:endParaRPr lang="fa-IR" sz="2000" dirty="0">
              <a:cs typeface="+mj-cs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EC25FDD-A273-AA9E-B2B8-EBAC504798FC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CBECA7A-8C9E-1A2E-999E-43B13223D200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1EEE41F5-0650-880B-DFC9-BFD8EE6D2350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8CE5A34-A98C-934B-05B4-8624CC984FBA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3E7B9B0-E22B-0CA1-AD46-3C116DC7F2CB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8B5E62B0-7F03-36C7-BFB8-52BFBC89176E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E5246E0-8351-D457-5F98-B3690C4F6A94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4803AB8-466B-057E-1ACB-45D31BFCB780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40D90BC0-1785-4147-6575-7B4F9D631CF1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0CA1814-8D65-8678-AAED-2F155ABB9EE3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41D8F92-2D09-73D2-A113-A4D8EFC308C9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4E38A1F4-CF55-EABD-2BC9-653BC2AEC040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C64AFCE-D728-594B-F267-0683E28250FE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F7AEABA-A8DF-6ABC-E386-0C7DD455A623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8D6B7463-20E3-ECD6-ACCB-9F292326F971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954BAA-1917-B60E-5EB4-6883830BA6DE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ECF93CA-FC7F-51DE-DB04-761184881C24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7E0F3B5F-BAB1-C647-4CA1-CF94D20EDE8E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D5C2E54-E4E4-943F-09AC-515387821E38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96" name="Rectangle: Top Corners Rounded 95">
            <a:extLst>
              <a:ext uri="{FF2B5EF4-FFF2-40B4-BE49-F238E27FC236}">
                <a16:creationId xmlns:a16="http://schemas.microsoft.com/office/drawing/2014/main" id="{54A25E88-C026-8B8E-CA8E-19193977366A}"/>
              </a:ext>
            </a:extLst>
          </p:cNvPr>
          <p:cNvSpPr/>
          <p:nvPr/>
        </p:nvSpPr>
        <p:spPr>
          <a:xfrm>
            <a:off x="10048316" y="6858000"/>
            <a:ext cx="1777490" cy="150127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1A6909CD-7AD6-EB8E-5F43-51F09F4C78E8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BAEE977E-4AD6-C9E1-A848-DF13BA02F82A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: Top Corners Rounded 98">
            <a:extLst>
              <a:ext uri="{FF2B5EF4-FFF2-40B4-BE49-F238E27FC236}">
                <a16:creationId xmlns:a16="http://schemas.microsoft.com/office/drawing/2014/main" id="{E032CA6A-EA93-0CDF-03B8-B01251753A8D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C26EFC87-7AB5-1C89-C4B6-0F9CBC61115B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: Top Corners Rounded 100">
            <a:extLst>
              <a:ext uri="{FF2B5EF4-FFF2-40B4-BE49-F238E27FC236}">
                <a16:creationId xmlns:a16="http://schemas.microsoft.com/office/drawing/2014/main" id="{5D57B012-E384-5D93-0873-8CB2F6A42405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61B689E2-6C99-BD94-90EA-2AF4548D9E00}"/>
              </a:ext>
            </a:extLst>
          </p:cNvPr>
          <p:cNvSpPr/>
          <p:nvPr/>
        </p:nvSpPr>
        <p:spPr>
          <a:xfrm>
            <a:off x="3383798" y="609600"/>
            <a:ext cx="5424404" cy="548286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F1A6DE8-7476-8F3C-8487-BEF2C31E38E0}"/>
              </a:ext>
            </a:extLst>
          </p:cNvPr>
          <p:cNvSpPr txBox="1"/>
          <p:nvPr/>
        </p:nvSpPr>
        <p:spPr>
          <a:xfrm>
            <a:off x="3441735" y="565217"/>
            <a:ext cx="5308530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algn="r" rtl="1">
              <a:defRPr sz="3600" b="1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defRPr>
            </a:lvl1pPr>
          </a:lstStyle>
          <a:p>
            <a:pPr algn="ctr"/>
            <a:r>
              <a:rPr lang="fa-IR" dirty="0"/>
              <a:t>مفهوم </a:t>
            </a:r>
            <a:r>
              <a:rPr lang="en-US" dirty="0"/>
              <a:t>Code Smell</a:t>
            </a:r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16B984B4-C3AF-E086-7E83-8AA4CDF5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7</a:t>
            </a:fld>
            <a:endParaRPr 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A6711868-4302-63DF-B463-CCE6CF602DF7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F0F7E624-7A5D-EEC0-5F59-4362C8D30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53D3D6-8EF6-33CB-A5E1-906361B88DF3}"/>
              </a:ext>
            </a:extLst>
          </p:cNvPr>
          <p:cNvSpPr txBox="1"/>
          <p:nvPr/>
        </p:nvSpPr>
        <p:spPr>
          <a:xfrm>
            <a:off x="908049" y="5074363"/>
            <a:ext cx="10838811" cy="3128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b="1" u="sng" dirty="0" err="1">
                <a:solidFill>
                  <a:srgbClr val="0070C0"/>
                </a:solidFill>
              </a:rPr>
              <a:t>شناسایی</a:t>
            </a:r>
            <a:r>
              <a:rPr lang="en-US" sz="1400" b="1" u="sng" dirty="0">
                <a:solidFill>
                  <a:srgbClr val="0070C0"/>
                </a:solidFill>
              </a:rPr>
              <a:t> Code Smell و </a:t>
            </a:r>
            <a:r>
              <a:rPr lang="en-US" sz="1400" b="1" u="sng" dirty="0" err="1">
                <a:solidFill>
                  <a:srgbClr val="0070C0"/>
                </a:solidFill>
              </a:rPr>
              <a:t>اصلاح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آن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از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طریق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بازآرایی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کد</a:t>
            </a:r>
            <a:r>
              <a:rPr lang="en-US" sz="1400" b="1" u="sng" dirty="0">
                <a:solidFill>
                  <a:srgbClr val="0070C0"/>
                </a:solidFill>
              </a:rPr>
              <a:t> (Refactoring)، </a:t>
            </a:r>
            <a:r>
              <a:rPr lang="en-US" sz="1400" b="1" u="sng" dirty="0" err="1">
                <a:solidFill>
                  <a:srgbClr val="0070C0"/>
                </a:solidFill>
              </a:rPr>
              <a:t>یکی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از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روش‌های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مؤثر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برای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حفظ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کیفیت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نرم‌افزار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در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طول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فرایند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توسعه</a:t>
            </a:r>
            <a:r>
              <a:rPr lang="en-US" sz="1400" b="1" u="sng" dirty="0">
                <a:solidFill>
                  <a:srgbClr val="0070C0"/>
                </a:solidFill>
              </a:rPr>
              <a:t> </a:t>
            </a:r>
            <a:r>
              <a:rPr lang="en-US" sz="1400" b="1" u="sng" dirty="0" err="1">
                <a:solidFill>
                  <a:srgbClr val="0070C0"/>
                </a:solidFill>
              </a:rPr>
              <a:t>است</a:t>
            </a:r>
            <a:r>
              <a:rPr lang="en-US" sz="1400" b="1" u="sng" dirty="0">
                <a:solidFill>
                  <a:srgbClr val="0070C0"/>
                </a:solidFill>
              </a:rPr>
              <a:t>.</a:t>
            </a:r>
            <a:endParaRPr lang="fa-IR" sz="14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106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0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9440EF-3957-7896-C16B-526E7767AF1B}"/>
              </a:ext>
            </a:extLst>
          </p:cNvPr>
          <p:cNvSpPr/>
          <p:nvPr/>
        </p:nvSpPr>
        <p:spPr>
          <a:xfrm rot="16200000">
            <a:off x="975400" y="177545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B31CC7-3881-8B9F-B5AF-465DD7DE9513}"/>
              </a:ext>
            </a:extLst>
          </p:cNvPr>
          <p:cNvGrpSpPr/>
          <p:nvPr/>
        </p:nvGrpSpPr>
        <p:grpSpPr>
          <a:xfrm>
            <a:off x="660712" y="607690"/>
            <a:ext cx="2514546" cy="1385342"/>
            <a:chOff x="82009" y="1811258"/>
            <a:chExt cx="2514546" cy="13853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B8AB60-E046-D1E4-F7A8-746F8FDD4289}"/>
                </a:ext>
              </a:extLst>
            </p:cNvPr>
            <p:cNvSpPr txBox="1"/>
            <p:nvPr/>
          </p:nvSpPr>
          <p:spPr>
            <a:xfrm>
              <a:off x="82009" y="1811258"/>
              <a:ext cx="2514546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b="1" dirty="0">
                  <a:solidFill>
                    <a:schemeClr val="tx1"/>
                  </a:solidFill>
                </a:rPr>
                <a:t>Long Method (</a:t>
              </a:r>
              <a:r>
                <a:rPr lang="en-US" b="1" dirty="0" err="1">
                  <a:solidFill>
                    <a:schemeClr val="tx1"/>
                  </a:solidFill>
                </a:rPr>
                <a:t>متد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 err="1">
                  <a:solidFill>
                    <a:schemeClr val="tx1"/>
                  </a:solidFill>
                </a:rPr>
                <a:t>طولانی</a:t>
              </a:r>
              <a:r>
                <a:rPr lang="en-US" b="1" dirty="0">
                  <a:solidFill>
                    <a:schemeClr val="tx1"/>
                  </a:solidFill>
                </a:rPr>
                <a:t>)</a:t>
              </a:r>
              <a:endParaRPr lang="fa-I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507EC9-9CC8-B858-2BD1-03727251572E}"/>
                </a:ext>
              </a:extLst>
            </p:cNvPr>
            <p:cNvSpPr txBox="1"/>
            <p:nvPr/>
          </p:nvSpPr>
          <p:spPr>
            <a:xfrm>
              <a:off x="113296" y="2258532"/>
              <a:ext cx="2420132" cy="9380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تابعی</a:t>
              </a:r>
              <a:r>
                <a:rPr lang="en-US" sz="1600" dirty="0"/>
                <a:t> </a:t>
              </a:r>
              <a:r>
                <a:rPr lang="en-US" sz="1600" dirty="0" err="1"/>
                <a:t>که</a:t>
              </a:r>
              <a:r>
                <a:rPr lang="en-US" sz="1600" dirty="0"/>
                <a:t> </a:t>
              </a:r>
              <a:r>
                <a:rPr lang="en-US" sz="1600" dirty="0" err="1"/>
                <a:t>وظایف</a:t>
              </a:r>
              <a:r>
                <a:rPr lang="en-US" sz="1600" dirty="0"/>
                <a:t> </a:t>
              </a:r>
              <a:r>
                <a:rPr lang="en-US" sz="1600" dirty="0" err="1"/>
                <a:t>متعددی</a:t>
              </a:r>
              <a:r>
                <a:rPr lang="en-US" sz="1600" dirty="0"/>
                <a:t> </a:t>
              </a:r>
              <a:r>
                <a:rPr lang="en-US" sz="1600" dirty="0" err="1"/>
                <a:t>را</a:t>
              </a:r>
              <a:r>
                <a:rPr lang="en-US" sz="1600" dirty="0"/>
                <a:t> </a:t>
              </a:r>
              <a:r>
                <a:rPr lang="en-US" sz="1600" dirty="0" err="1"/>
                <a:t>انجام</a:t>
              </a:r>
              <a:r>
                <a:rPr lang="en-US" sz="1600" dirty="0"/>
                <a:t> </a:t>
              </a:r>
              <a:r>
                <a:rPr lang="en-US" sz="1600" dirty="0" err="1"/>
                <a:t>می‌دهد</a:t>
              </a:r>
              <a:r>
                <a:rPr lang="en-US" sz="1600" dirty="0"/>
                <a:t> و </a:t>
              </a:r>
              <a:r>
                <a:rPr lang="en-US" sz="1600" dirty="0" err="1"/>
                <a:t>درک</a:t>
              </a:r>
              <a:r>
                <a:rPr lang="en-US" sz="1600" dirty="0"/>
                <a:t> و </a:t>
              </a:r>
              <a:r>
                <a:rPr lang="en-US" sz="1600" dirty="0" err="1"/>
                <a:t>نگهداری</a:t>
              </a:r>
              <a:r>
                <a:rPr lang="en-US" sz="1600" dirty="0"/>
                <a:t> </a:t>
              </a:r>
              <a:r>
                <a:rPr lang="en-US" sz="1600" dirty="0" err="1"/>
                <a:t>آن</a:t>
              </a:r>
              <a:r>
                <a:rPr lang="en-US" sz="1600" dirty="0"/>
                <a:t> </a:t>
              </a:r>
              <a:r>
                <a:rPr lang="en-US" sz="1600" dirty="0" err="1"/>
                <a:t>دشوار</a:t>
              </a:r>
              <a:r>
                <a:rPr lang="en-US" sz="1600" dirty="0"/>
                <a:t> </a:t>
              </a:r>
              <a:r>
                <a:rPr lang="en-US" sz="1600" dirty="0" err="1"/>
                <a:t>است</a:t>
              </a:r>
              <a:r>
                <a:rPr lang="en-US" sz="1600" dirty="0"/>
                <a:t>.</a:t>
              </a:r>
              <a:endParaRPr lang="fa-IR" sz="1100" dirty="0"/>
            </a:p>
          </p:txBody>
        </p:sp>
      </p:grp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39E9C4F-BDA7-29A3-5A76-15E5D809F79C}"/>
              </a:ext>
            </a:extLst>
          </p:cNvPr>
          <p:cNvSpPr/>
          <p:nvPr/>
        </p:nvSpPr>
        <p:spPr>
          <a:xfrm rot="16200000">
            <a:off x="944114" y="2125868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F43839-5475-FC5D-0E3B-34810FF8672C}"/>
              </a:ext>
            </a:extLst>
          </p:cNvPr>
          <p:cNvGrpSpPr/>
          <p:nvPr/>
        </p:nvGrpSpPr>
        <p:grpSpPr>
          <a:xfrm>
            <a:off x="629425" y="2617944"/>
            <a:ext cx="2482706" cy="1367852"/>
            <a:chOff x="-2885941" y="3821512"/>
            <a:chExt cx="2482706" cy="1367852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E4D91F8-99F2-E823-8BF3-ECD2EFA52628}"/>
                </a:ext>
              </a:extLst>
            </p:cNvPr>
            <p:cNvSpPr txBox="1"/>
            <p:nvPr/>
          </p:nvSpPr>
          <p:spPr>
            <a:xfrm>
              <a:off x="-2885941" y="3821512"/>
              <a:ext cx="2482706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sz="1600" b="1" dirty="0">
                  <a:solidFill>
                    <a:schemeClr val="tx1"/>
                  </a:solidFill>
                </a:rPr>
                <a:t>Duplicated Code (</a:t>
              </a:r>
              <a:r>
                <a:rPr lang="en-US" sz="1600" b="1" dirty="0" err="1">
                  <a:solidFill>
                    <a:schemeClr val="tx1"/>
                  </a:solidFill>
                </a:rPr>
                <a:t>کد</a:t>
              </a:r>
              <a:r>
                <a:rPr lang="en-US" sz="1600" b="1" dirty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>
                  <a:solidFill>
                    <a:schemeClr val="tx1"/>
                  </a:solidFill>
                </a:rPr>
                <a:t>تکراری</a:t>
              </a:r>
              <a:r>
                <a:rPr lang="en-US" sz="1600" b="1" dirty="0">
                  <a:solidFill>
                    <a:schemeClr val="tx1"/>
                  </a:solidFill>
                </a:rPr>
                <a:t>)</a:t>
              </a:r>
              <a:r>
                <a:rPr lang="en-US" b="1" dirty="0"/>
                <a:t>)</a:t>
              </a:r>
              <a:endParaRPr lang="fa-I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090A02F-B113-6DEB-688F-E6981AD3413B}"/>
                </a:ext>
              </a:extLst>
            </p:cNvPr>
            <p:cNvSpPr txBox="1"/>
            <p:nvPr/>
          </p:nvSpPr>
          <p:spPr>
            <a:xfrm>
              <a:off x="-2823367" y="4250013"/>
              <a:ext cx="2293878" cy="9393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تکرار</a:t>
              </a:r>
              <a:r>
                <a:rPr lang="en-US" sz="1600" dirty="0"/>
                <a:t> </a:t>
              </a:r>
              <a:r>
                <a:rPr lang="en-US" sz="1600" dirty="0" err="1"/>
                <a:t>یک</a:t>
              </a:r>
              <a:r>
                <a:rPr lang="en-US" sz="1600" dirty="0"/>
                <a:t> </a:t>
              </a:r>
              <a:r>
                <a:rPr lang="en-US" sz="1600" dirty="0" err="1"/>
                <a:t>قطعه</a:t>
              </a:r>
              <a:r>
                <a:rPr lang="en-US" sz="1600" dirty="0"/>
                <a:t> </a:t>
              </a:r>
              <a:r>
                <a:rPr lang="en-US" sz="1600" dirty="0" err="1"/>
                <a:t>کد</a:t>
              </a:r>
              <a:r>
                <a:rPr lang="en-US" sz="1600" dirty="0"/>
                <a:t> </a:t>
              </a:r>
              <a:r>
                <a:rPr lang="en-US" sz="1600" dirty="0" err="1"/>
                <a:t>یا</a:t>
              </a:r>
              <a:r>
                <a:rPr lang="en-US" sz="1600" dirty="0"/>
                <a:t> </a:t>
              </a:r>
              <a:r>
                <a:rPr lang="en-US" sz="1600" dirty="0" err="1"/>
                <a:t>منطق</a:t>
              </a:r>
              <a:r>
                <a:rPr lang="en-US" sz="1600" dirty="0"/>
                <a:t> </a:t>
              </a:r>
              <a:r>
                <a:rPr lang="en-US" sz="1600" dirty="0" err="1"/>
                <a:t>مشابه</a:t>
              </a:r>
              <a:r>
                <a:rPr lang="en-US" sz="1600" dirty="0"/>
                <a:t> </a:t>
              </a:r>
              <a:r>
                <a:rPr lang="en-US" sz="1600" dirty="0" err="1"/>
                <a:t>در</a:t>
              </a:r>
              <a:r>
                <a:rPr lang="en-US" sz="1600" dirty="0"/>
                <a:t> </a:t>
              </a:r>
              <a:r>
                <a:rPr lang="en-US" sz="1600" dirty="0" err="1"/>
                <a:t>بخش‌های</a:t>
              </a:r>
              <a:r>
                <a:rPr lang="en-US" sz="1600" dirty="0"/>
                <a:t> </a:t>
              </a:r>
              <a:r>
                <a:rPr lang="en-US" sz="1600" dirty="0" err="1"/>
                <a:t>مختلف</a:t>
              </a:r>
              <a:r>
                <a:rPr lang="en-US" sz="1600" dirty="0"/>
                <a:t> </a:t>
              </a:r>
              <a:r>
                <a:rPr lang="en-US" sz="1600" dirty="0" err="1"/>
                <a:t>برنام</a:t>
              </a:r>
              <a:endParaRPr lang="fa-IR" sz="1100" dirty="0"/>
            </a:p>
          </p:txBody>
        </p:sp>
      </p:grp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BE26439-82F0-0C52-0713-6BF8F950A815}"/>
              </a:ext>
            </a:extLst>
          </p:cNvPr>
          <p:cNvSpPr/>
          <p:nvPr/>
        </p:nvSpPr>
        <p:spPr>
          <a:xfrm rot="16200000">
            <a:off x="6213893" y="1389469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B78DCD1-7B72-2512-4776-C580DA167A6E}"/>
              </a:ext>
            </a:extLst>
          </p:cNvPr>
          <p:cNvGrpSpPr/>
          <p:nvPr/>
        </p:nvGrpSpPr>
        <p:grpSpPr>
          <a:xfrm>
            <a:off x="5856765" y="1813227"/>
            <a:ext cx="2567586" cy="1174938"/>
            <a:chOff x="-595264" y="3016795"/>
            <a:chExt cx="2567586" cy="1174938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DFAACA8-466A-36AF-5F36-C5E227A0598C}"/>
                </a:ext>
              </a:extLst>
            </p:cNvPr>
            <p:cNvSpPr txBox="1"/>
            <p:nvPr/>
          </p:nvSpPr>
          <p:spPr>
            <a:xfrm>
              <a:off x="-595264" y="3016795"/>
              <a:ext cx="2567586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sz="1600" b="1" dirty="0">
                  <a:solidFill>
                    <a:schemeClr val="tx1"/>
                  </a:solidFill>
                </a:rPr>
                <a:t>Magic Numbers (</a:t>
              </a:r>
              <a:r>
                <a:rPr lang="en-US" sz="1600" b="1" dirty="0" err="1">
                  <a:solidFill>
                    <a:schemeClr val="tx1"/>
                  </a:solidFill>
                </a:rPr>
                <a:t>اعداد</a:t>
              </a:r>
              <a:r>
                <a:rPr lang="en-US" sz="1600" b="1" dirty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>
                  <a:solidFill>
                    <a:schemeClr val="tx1"/>
                  </a:solidFill>
                </a:rPr>
                <a:t>جادویی</a:t>
              </a:r>
              <a:r>
                <a:rPr lang="en-US" sz="1600" b="1" dirty="0">
                  <a:solidFill>
                    <a:schemeClr val="tx1"/>
                  </a:solidFill>
                </a:rPr>
                <a:t>)</a:t>
              </a:r>
              <a:endParaRPr lang="fa-IR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3A23FB3-112E-7733-EED1-343F17703481}"/>
                </a:ext>
              </a:extLst>
            </p:cNvPr>
            <p:cNvSpPr txBox="1"/>
            <p:nvPr/>
          </p:nvSpPr>
          <p:spPr>
            <a:xfrm>
              <a:off x="-473451" y="3549130"/>
              <a:ext cx="2293878" cy="6426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استفاده</a:t>
              </a:r>
              <a:r>
                <a:rPr lang="en-US" sz="1600" dirty="0"/>
                <a:t> </a:t>
              </a:r>
              <a:r>
                <a:rPr lang="en-US" sz="1600" dirty="0" err="1"/>
                <a:t>از</a:t>
              </a:r>
              <a:r>
                <a:rPr lang="en-US" sz="1600" dirty="0"/>
                <a:t> </a:t>
              </a:r>
              <a:r>
                <a:rPr lang="en-US" sz="1600" dirty="0" err="1"/>
                <a:t>اعداد</a:t>
              </a:r>
              <a:r>
                <a:rPr lang="en-US" sz="1600" dirty="0"/>
                <a:t> </a:t>
              </a:r>
              <a:r>
                <a:rPr lang="en-US" sz="1600" dirty="0" err="1"/>
                <a:t>ثابت</a:t>
              </a:r>
              <a:r>
                <a:rPr lang="en-US" sz="1600" dirty="0"/>
                <a:t> </a:t>
              </a:r>
              <a:r>
                <a:rPr lang="en-US" sz="1600" dirty="0" err="1"/>
                <a:t>بدون</a:t>
              </a:r>
              <a:r>
                <a:rPr lang="en-US" sz="1600" dirty="0"/>
                <a:t> </a:t>
              </a:r>
              <a:r>
                <a:rPr lang="en-US" sz="1600" dirty="0" err="1"/>
                <a:t>نام</a:t>
              </a:r>
              <a:r>
                <a:rPr lang="en-US" sz="1600" dirty="0"/>
                <a:t> </a:t>
              </a:r>
              <a:r>
                <a:rPr lang="en-US" sz="1600" dirty="0" err="1"/>
                <a:t>یا</a:t>
              </a:r>
              <a:r>
                <a:rPr lang="en-US" sz="1600" dirty="0"/>
                <a:t> </a:t>
              </a:r>
              <a:r>
                <a:rPr lang="en-US" sz="1600" dirty="0" err="1"/>
                <a:t>توضیح</a:t>
              </a:r>
              <a:r>
                <a:rPr lang="en-US" sz="1600" dirty="0"/>
                <a:t> </a:t>
              </a:r>
              <a:r>
                <a:rPr lang="en-US" sz="1600" dirty="0" err="1"/>
                <a:t>مشخص</a:t>
              </a:r>
              <a:r>
                <a:rPr lang="en-US" sz="1600" dirty="0"/>
                <a:t> </a:t>
              </a:r>
              <a:r>
                <a:rPr lang="en-US" sz="1600" dirty="0" err="1"/>
                <a:t>در</a:t>
              </a:r>
              <a:r>
                <a:rPr lang="en-US" sz="1600" dirty="0"/>
                <a:t> </a:t>
              </a:r>
              <a:r>
                <a:rPr lang="en-US" sz="1600" dirty="0" err="1"/>
                <a:t>کد</a:t>
              </a:r>
              <a:r>
                <a:rPr lang="en-US" sz="1600" dirty="0"/>
                <a:t>.</a:t>
              </a:r>
              <a:endParaRPr lang="fa-IR" sz="1100" dirty="0"/>
            </a:p>
          </p:txBody>
        </p:sp>
      </p:grp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497082A7-DFD9-D10B-0DA2-F53923957FD5}"/>
              </a:ext>
            </a:extLst>
          </p:cNvPr>
          <p:cNvSpPr/>
          <p:nvPr/>
        </p:nvSpPr>
        <p:spPr>
          <a:xfrm rot="16200000">
            <a:off x="3639766" y="677238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25580DC-450C-5676-E605-1432797F28D5}"/>
              </a:ext>
            </a:extLst>
          </p:cNvPr>
          <p:cNvGrpSpPr/>
          <p:nvPr/>
        </p:nvGrpSpPr>
        <p:grpSpPr>
          <a:xfrm>
            <a:off x="3358730" y="1080060"/>
            <a:ext cx="2352579" cy="1602084"/>
            <a:chOff x="168852" y="3541361"/>
            <a:chExt cx="2352579" cy="1602084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E882718-8435-3B84-A980-246E387F2628}"/>
                </a:ext>
              </a:extLst>
            </p:cNvPr>
            <p:cNvSpPr txBox="1"/>
            <p:nvPr/>
          </p:nvSpPr>
          <p:spPr>
            <a:xfrm>
              <a:off x="227553" y="3541361"/>
              <a:ext cx="2293878" cy="626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b="1" dirty="0">
                  <a:solidFill>
                    <a:schemeClr val="tx1"/>
                  </a:solidFill>
                </a:rPr>
                <a:t>Long Parameter List (</a:t>
              </a:r>
              <a:r>
                <a:rPr lang="en-US" b="1" dirty="0" err="1">
                  <a:solidFill>
                    <a:schemeClr val="tx1"/>
                  </a:solidFill>
                </a:rPr>
                <a:t>فهرست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 err="1">
                  <a:solidFill>
                    <a:schemeClr val="tx1"/>
                  </a:solidFill>
                </a:rPr>
                <a:t>طولانی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 err="1">
                  <a:solidFill>
                    <a:schemeClr val="tx1"/>
                  </a:solidFill>
                </a:rPr>
                <a:t>پارامترها</a:t>
              </a:r>
              <a:r>
                <a:rPr lang="en-US" b="1" dirty="0">
                  <a:solidFill>
                    <a:schemeClr val="tx1"/>
                  </a:solidFill>
                </a:rPr>
                <a:t>)</a:t>
              </a:r>
              <a:r>
                <a:rPr lang="en-US" dirty="0"/>
                <a:t>)</a:t>
              </a:r>
              <a:endParaRPr lang="fa-IR" sz="2000" dirty="0">
                <a:solidFill>
                  <a:schemeClr val="tx1"/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FE2CF96-C850-0698-6454-5C392C53DD98}"/>
                </a:ext>
              </a:extLst>
            </p:cNvPr>
            <p:cNvSpPr txBox="1"/>
            <p:nvPr/>
          </p:nvSpPr>
          <p:spPr>
            <a:xfrm>
              <a:off x="168852" y="4205377"/>
              <a:ext cx="2293878" cy="9380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تابعی</a:t>
              </a:r>
              <a:r>
                <a:rPr lang="en-US" sz="1600" dirty="0"/>
                <a:t> </a:t>
              </a:r>
              <a:r>
                <a:rPr lang="en-US" sz="1600" dirty="0" err="1"/>
                <a:t>که</a:t>
              </a:r>
              <a:r>
                <a:rPr lang="en-US" sz="1600" dirty="0"/>
                <a:t> </a:t>
              </a:r>
              <a:r>
                <a:rPr lang="en-US" sz="1600" dirty="0" err="1"/>
                <a:t>تعداد</a:t>
              </a:r>
              <a:r>
                <a:rPr lang="en-US" sz="1600" dirty="0"/>
                <a:t> </a:t>
              </a:r>
              <a:r>
                <a:rPr lang="en-US" sz="1600" dirty="0" err="1"/>
                <a:t>زیادی</a:t>
              </a:r>
              <a:r>
                <a:rPr lang="en-US" sz="1600" dirty="0"/>
                <a:t> </a:t>
              </a:r>
              <a:r>
                <a:rPr lang="en-US" sz="1600" dirty="0" err="1"/>
                <a:t>پارامتر</a:t>
              </a:r>
              <a:r>
                <a:rPr lang="en-US" sz="1600" dirty="0"/>
                <a:t> </a:t>
              </a:r>
              <a:r>
                <a:rPr lang="en-US" sz="1600" dirty="0" err="1"/>
                <a:t>دریافت</a:t>
              </a:r>
              <a:r>
                <a:rPr lang="en-US" sz="1600" dirty="0"/>
                <a:t> </a:t>
              </a:r>
              <a:r>
                <a:rPr lang="en-US" sz="1600" dirty="0" err="1"/>
                <a:t>می‌کند</a:t>
              </a:r>
              <a:r>
                <a:rPr lang="en-US" sz="1600" dirty="0"/>
                <a:t> و </a:t>
              </a:r>
              <a:r>
                <a:rPr lang="en-US" sz="1600" dirty="0" err="1"/>
                <a:t>استفاده</a:t>
              </a:r>
              <a:r>
                <a:rPr lang="en-US" sz="1600" dirty="0"/>
                <a:t> </a:t>
              </a:r>
              <a:r>
                <a:rPr lang="en-US" sz="1600" dirty="0" err="1"/>
                <a:t>از</a:t>
              </a:r>
              <a:r>
                <a:rPr lang="en-US" sz="1600" dirty="0"/>
                <a:t> </a:t>
              </a:r>
              <a:r>
                <a:rPr lang="en-US" sz="1600" dirty="0" err="1"/>
                <a:t>آن</a:t>
              </a:r>
              <a:r>
                <a:rPr lang="en-US" sz="1600" dirty="0"/>
                <a:t> </a:t>
              </a:r>
              <a:r>
                <a:rPr lang="en-US" sz="1600" dirty="0" err="1"/>
                <a:t>پیچیده</a:t>
              </a:r>
              <a:r>
                <a:rPr lang="en-US" sz="1600" dirty="0"/>
                <a:t> </a:t>
              </a:r>
              <a:r>
                <a:rPr lang="en-US" sz="1600" dirty="0" err="1"/>
                <a:t>می‌شود</a:t>
              </a:r>
              <a:endParaRPr lang="fa-IR" sz="1100" dirty="0"/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07B4639-A597-5E89-11AD-F84D4F218512}"/>
              </a:ext>
            </a:extLst>
          </p:cNvPr>
          <p:cNvSpPr/>
          <p:nvPr/>
        </p:nvSpPr>
        <p:spPr>
          <a:xfrm rot="16200000">
            <a:off x="3579004" y="2604888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AF7D34B-E6F9-D5AD-8DB6-4A08B22A9EF0}"/>
              </a:ext>
            </a:extLst>
          </p:cNvPr>
          <p:cNvGrpSpPr/>
          <p:nvPr/>
        </p:nvGrpSpPr>
        <p:grpSpPr>
          <a:xfrm>
            <a:off x="3325078" y="3035561"/>
            <a:ext cx="2415083" cy="1128825"/>
            <a:chOff x="-190288" y="2177355"/>
            <a:chExt cx="2415083" cy="112882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2D305EE-4C51-59BE-EA3B-D862C42463E3}"/>
                </a:ext>
              </a:extLst>
            </p:cNvPr>
            <p:cNvSpPr txBox="1"/>
            <p:nvPr/>
          </p:nvSpPr>
          <p:spPr>
            <a:xfrm>
              <a:off x="-190288" y="2177355"/>
              <a:ext cx="2415083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b="1" dirty="0">
                  <a:solidFill>
                    <a:schemeClr val="tx1"/>
                  </a:solidFill>
                </a:rPr>
                <a:t>Large Class (</a:t>
              </a:r>
              <a:r>
                <a:rPr lang="en-US" b="1" dirty="0" err="1">
                  <a:solidFill>
                    <a:schemeClr val="tx1"/>
                  </a:solidFill>
                </a:rPr>
                <a:t>کلاس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 err="1">
                  <a:solidFill>
                    <a:schemeClr val="tx1"/>
                  </a:solidFill>
                </a:rPr>
                <a:t>بزرگ</a:t>
              </a:r>
              <a:r>
                <a:rPr lang="en-US" b="1" dirty="0">
                  <a:solidFill>
                    <a:schemeClr val="tx1"/>
                  </a:solidFill>
                </a:rPr>
                <a:t>)</a:t>
              </a:r>
              <a:endParaRPr lang="fa-I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96661CC-A2F1-9BD3-9028-C2EEA0BED2E9}"/>
                </a:ext>
              </a:extLst>
            </p:cNvPr>
            <p:cNvSpPr txBox="1"/>
            <p:nvPr/>
          </p:nvSpPr>
          <p:spPr>
            <a:xfrm>
              <a:off x="-129686" y="2663577"/>
              <a:ext cx="2293878" cy="6426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کلاسی</a:t>
              </a:r>
              <a:r>
                <a:rPr lang="en-US" sz="1600" dirty="0"/>
                <a:t> </a:t>
              </a:r>
              <a:r>
                <a:rPr lang="en-US" sz="1600" dirty="0" err="1"/>
                <a:t>که</a:t>
              </a:r>
              <a:r>
                <a:rPr lang="en-US" sz="1600" dirty="0"/>
                <a:t> </a:t>
              </a:r>
              <a:r>
                <a:rPr lang="en-US" sz="1600" dirty="0" err="1"/>
                <a:t>مسئولیت‌های</a:t>
              </a:r>
              <a:r>
                <a:rPr lang="en-US" sz="1600" dirty="0"/>
                <a:t> </a:t>
              </a:r>
              <a:r>
                <a:rPr lang="en-US" sz="1600" dirty="0" err="1"/>
                <a:t>متعدد</a:t>
              </a:r>
              <a:r>
                <a:rPr lang="en-US" sz="1600" dirty="0"/>
                <a:t> و </a:t>
              </a:r>
              <a:r>
                <a:rPr lang="en-US" sz="1600" dirty="0" err="1"/>
                <a:t>نامرتبطی</a:t>
              </a:r>
              <a:r>
                <a:rPr lang="en-US" sz="1600" dirty="0"/>
                <a:t> </a:t>
              </a:r>
              <a:r>
                <a:rPr lang="en-US" sz="1600" dirty="0" err="1"/>
                <a:t>بر</a:t>
              </a:r>
              <a:r>
                <a:rPr lang="en-US" sz="1600" dirty="0"/>
                <a:t> </a:t>
              </a:r>
              <a:r>
                <a:rPr lang="en-US" sz="1600" dirty="0" err="1"/>
                <a:t>عهده</a:t>
              </a:r>
              <a:r>
                <a:rPr lang="en-US" sz="1600" dirty="0"/>
                <a:t> </a:t>
              </a:r>
              <a:r>
                <a:rPr lang="en-US" sz="1600" dirty="0" err="1"/>
                <a:t>دارد</a:t>
              </a:r>
              <a:endParaRPr lang="fa-IR" sz="1100" dirty="0"/>
            </a:p>
          </p:txBody>
        </p: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67DAA6C-BCE5-FC03-2DF1-49C158DCCD58}"/>
              </a:ext>
            </a:extLst>
          </p:cNvPr>
          <p:cNvSpPr/>
          <p:nvPr/>
        </p:nvSpPr>
        <p:spPr>
          <a:xfrm rot="16200000">
            <a:off x="6213894" y="3383042"/>
            <a:ext cx="1853329" cy="2482705"/>
          </a:xfrm>
          <a:prstGeom prst="roundRect">
            <a:avLst>
              <a:gd name="adj" fmla="val 15440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5A720F0-B7B9-8EFC-8111-62C8E68EBA36}"/>
              </a:ext>
            </a:extLst>
          </p:cNvPr>
          <p:cNvGrpSpPr/>
          <p:nvPr/>
        </p:nvGrpSpPr>
        <p:grpSpPr>
          <a:xfrm>
            <a:off x="6026034" y="3703223"/>
            <a:ext cx="2293878" cy="1669979"/>
            <a:chOff x="1433695" y="3046745"/>
            <a:chExt cx="2293878" cy="1669979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F2B4E7B-A86B-2B9A-F932-CB6AE0178D91}"/>
                </a:ext>
              </a:extLst>
            </p:cNvPr>
            <p:cNvSpPr txBox="1"/>
            <p:nvPr/>
          </p:nvSpPr>
          <p:spPr>
            <a:xfrm>
              <a:off x="1618999" y="3046745"/>
              <a:ext cx="1828358" cy="626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pPr rtl="0"/>
              <a:r>
                <a:rPr lang="en-US" b="1" dirty="0">
                  <a:solidFill>
                    <a:schemeClr val="tx1"/>
                  </a:solidFill>
                </a:rPr>
                <a:t>Deep Nesting (</a:t>
              </a:r>
              <a:r>
                <a:rPr lang="en-US" b="1" dirty="0" err="1">
                  <a:solidFill>
                    <a:schemeClr val="tx1"/>
                  </a:solidFill>
                </a:rPr>
                <a:t>تودرتویی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 err="1">
                  <a:solidFill>
                    <a:schemeClr val="tx1"/>
                  </a:solidFill>
                </a:rPr>
                <a:t>بیش‌ازحد</a:t>
              </a:r>
              <a:r>
                <a:rPr lang="en-US" b="1" dirty="0">
                  <a:solidFill>
                    <a:schemeClr val="tx1"/>
                  </a:solidFill>
                </a:rPr>
                <a:t>)</a:t>
              </a:r>
              <a:endParaRPr lang="fa-I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D3DCA0D-EA70-8427-ED25-6ADA5515E994}"/>
                </a:ext>
              </a:extLst>
            </p:cNvPr>
            <p:cNvSpPr txBox="1"/>
            <p:nvPr/>
          </p:nvSpPr>
          <p:spPr>
            <a:xfrm>
              <a:off x="1433695" y="3778656"/>
              <a:ext cx="2293878" cy="9380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600" dirty="0" err="1"/>
                <a:t>قرارگیری</a:t>
              </a:r>
              <a:r>
                <a:rPr lang="en-US" sz="1600" dirty="0"/>
                <a:t> </a:t>
              </a:r>
              <a:r>
                <a:rPr lang="en-US" sz="1600" dirty="0" err="1"/>
                <a:t>چندین</a:t>
              </a:r>
              <a:r>
                <a:rPr lang="en-US" sz="1600" dirty="0"/>
                <a:t> </a:t>
              </a:r>
              <a:r>
                <a:rPr lang="en-US" sz="1600" dirty="0" err="1"/>
                <a:t>شرط</a:t>
              </a:r>
              <a:r>
                <a:rPr lang="en-US" sz="1600" dirty="0"/>
                <a:t> </a:t>
              </a:r>
              <a:r>
                <a:rPr lang="en-US" sz="1600" dirty="0" err="1"/>
                <a:t>یا</a:t>
              </a:r>
              <a:r>
                <a:rPr lang="en-US" sz="1600" dirty="0"/>
                <a:t> </a:t>
              </a:r>
              <a:r>
                <a:rPr lang="en-US" sz="1600" dirty="0" err="1"/>
                <a:t>حلقه</a:t>
              </a:r>
              <a:r>
                <a:rPr lang="en-US" sz="1600" dirty="0"/>
                <a:t> </a:t>
              </a:r>
              <a:r>
                <a:rPr lang="en-US" sz="1600" dirty="0" err="1"/>
                <a:t>در</a:t>
              </a:r>
              <a:r>
                <a:rPr lang="en-US" sz="1600" dirty="0"/>
                <a:t> </a:t>
              </a:r>
              <a:r>
                <a:rPr lang="en-US" sz="1600" dirty="0" err="1"/>
                <a:t>داخل</a:t>
              </a:r>
              <a:r>
                <a:rPr lang="en-US" sz="1600" dirty="0"/>
                <a:t> </a:t>
              </a:r>
              <a:r>
                <a:rPr lang="en-US" sz="1600" dirty="0" err="1"/>
                <a:t>یکدیگر</a:t>
              </a:r>
              <a:r>
                <a:rPr lang="en-US" sz="1600" dirty="0"/>
                <a:t> </a:t>
              </a:r>
              <a:r>
                <a:rPr lang="en-US" sz="1600" dirty="0" err="1"/>
                <a:t>که</a:t>
              </a:r>
              <a:r>
                <a:rPr lang="en-US" sz="1600" dirty="0"/>
                <a:t> </a:t>
              </a:r>
              <a:r>
                <a:rPr lang="en-US" sz="1600" dirty="0" err="1"/>
                <a:t>خوانایی</a:t>
              </a:r>
              <a:r>
                <a:rPr lang="en-US" sz="1600" dirty="0"/>
                <a:t> و </a:t>
              </a:r>
              <a:r>
                <a:rPr lang="en-US" sz="1600" dirty="0" err="1"/>
                <a:t>درک</a:t>
              </a:r>
              <a:r>
                <a:rPr lang="en-US" sz="1600" dirty="0"/>
                <a:t> </a:t>
              </a:r>
              <a:r>
                <a:rPr lang="en-US" sz="1600" dirty="0" err="1"/>
                <a:t>منطق</a:t>
              </a:r>
              <a:r>
                <a:rPr lang="en-US" sz="1600" dirty="0"/>
                <a:t> </a:t>
              </a:r>
              <a:r>
                <a:rPr lang="en-US" sz="1600" dirty="0" err="1"/>
                <a:t>برنامه</a:t>
              </a:r>
              <a:r>
                <a:rPr lang="en-US" sz="1600" dirty="0"/>
                <a:t> </a:t>
              </a:r>
              <a:r>
                <a:rPr lang="en-US" sz="1600" dirty="0" err="1"/>
                <a:t>را</a:t>
              </a:r>
              <a:r>
                <a:rPr lang="en-US" sz="1600" dirty="0"/>
                <a:t> </a:t>
              </a:r>
              <a:r>
                <a:rPr lang="en-US" sz="1600" dirty="0" err="1"/>
                <a:t>کاهش</a:t>
              </a:r>
              <a:r>
                <a:rPr lang="en-US" sz="1600" dirty="0"/>
                <a:t> </a:t>
              </a:r>
              <a:r>
                <a:rPr lang="en-US" sz="1600" dirty="0" err="1"/>
                <a:t>می‌ده</a:t>
              </a:r>
              <a:r>
                <a:rPr lang="fa-IR" sz="1600" dirty="0"/>
                <a:t>د</a:t>
              </a:r>
              <a:endParaRPr lang="fa-IR" sz="1100" dirty="0"/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8CC76B50-E4B1-F40B-414E-4647EC0F43EB}"/>
              </a:ext>
            </a:extLst>
          </p:cNvPr>
          <p:cNvSpPr/>
          <p:nvPr/>
        </p:nvSpPr>
        <p:spPr>
          <a:xfrm>
            <a:off x="8082904" y="393915"/>
            <a:ext cx="3742901" cy="503589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76D01E7-B4D4-68E7-D792-7B97AB21B0DA}"/>
              </a:ext>
            </a:extLst>
          </p:cNvPr>
          <p:cNvSpPr txBox="1"/>
          <p:nvPr/>
        </p:nvSpPr>
        <p:spPr>
          <a:xfrm>
            <a:off x="7531477" y="393914"/>
            <a:ext cx="5296250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28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انواع رایج </a:t>
            </a:r>
            <a:r>
              <a:rPr lang="en-US" sz="28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Code smell</a:t>
            </a:r>
          </a:p>
        </p:txBody>
      </p:sp>
      <p:sp>
        <p:nvSpPr>
          <p:cNvPr id="178" name="Slide Number Placeholder 177">
            <a:extLst>
              <a:ext uri="{FF2B5EF4-FFF2-40B4-BE49-F238E27FC236}">
                <a16:creationId xmlns:a16="http://schemas.microsoft.com/office/drawing/2014/main" id="{C28175A6-5265-073B-F0C0-251F20E2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8</a:t>
            </a:fld>
            <a:endParaRPr lang="en-US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83FE974E-93DD-9F10-74A8-4BABF722CB35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3CA4844E-BD7C-A864-2B11-FC12A60BC3AC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EAD99F1-5700-A2BB-EF67-FC877F7194D4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959A38B2-905D-9675-D95B-71F348A20AA6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4A1FF63-AB22-E987-A9B9-53B9E3486915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146C127-28D8-CCCD-301C-B97370BAB69D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70C18499-7E63-4E95-5E57-DAAF5F5C23C3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4F40359F-D52D-D894-4FC5-98D13A30C8DC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5AD3CD6-3D13-0746-F1A4-A6F019457727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96C27FA7-1ADF-B858-0199-3515F67D9396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C5C152AA-E963-D1E4-AD0C-C127B2A50CDE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6B3AFD9-6847-8139-9C77-2DF111CB7785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8700ACFF-9439-B4F3-56BD-7E0D84447B33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A045B193-B1EA-6FD0-CAA6-44381D50A0B0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F8EA58A-A3D5-41C0-1BCE-94A274669DBD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2B0CCC2A-FD05-C4B8-B28F-947D792E547A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CB421F46-94FD-BE2A-77E6-8791F1DA4C6B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59E4A4F-C105-1CC1-277A-334AE9E6E492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1A6C1B43-0891-99E2-B910-CFE46D141F70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1A936505-5908-34AF-B21D-90C89A883C2C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2FC7D1A5-613D-B398-3034-DAE444437AE3}"/>
              </a:ext>
            </a:extLst>
          </p:cNvPr>
          <p:cNvSpPr/>
          <p:nvPr/>
        </p:nvSpPr>
        <p:spPr>
          <a:xfrm>
            <a:off x="10048316" y="6858000"/>
            <a:ext cx="1777490" cy="150127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2595F8F7-AD73-58F9-B2D5-8182B53CD7FA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DEE48D5D-3B0C-7F16-B025-FDA2F098CC37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: Top Corners Rounded 202">
            <a:extLst>
              <a:ext uri="{FF2B5EF4-FFF2-40B4-BE49-F238E27FC236}">
                <a16:creationId xmlns:a16="http://schemas.microsoft.com/office/drawing/2014/main" id="{23A7D919-3C8C-856B-6B51-3A95CCA72EFA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: Top Corners Rounded 203">
            <a:extLst>
              <a:ext uri="{FF2B5EF4-FFF2-40B4-BE49-F238E27FC236}">
                <a16:creationId xmlns:a16="http://schemas.microsoft.com/office/drawing/2014/main" id="{1F00520E-F202-3940-29FC-0D7FF547C953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: Top Corners Rounded 204">
            <a:extLst>
              <a:ext uri="{FF2B5EF4-FFF2-40B4-BE49-F238E27FC236}">
                <a16:creationId xmlns:a16="http://schemas.microsoft.com/office/drawing/2014/main" id="{6DF47A70-EB92-94B5-3FAE-569A49A9EACC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09FDF992-E884-68FC-6505-FA4604C8C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0C127-05B9-73B0-2353-3780275A6CFF}"/>
              </a:ext>
            </a:extLst>
          </p:cNvPr>
          <p:cNvSpPr txBox="1"/>
          <p:nvPr/>
        </p:nvSpPr>
        <p:spPr>
          <a:xfrm>
            <a:off x="8179264" y="919134"/>
            <a:ext cx="3550180" cy="108958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Code Smell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شکل‌های</a:t>
            </a:r>
            <a:r>
              <a:rPr lang="en-US" sz="1400" dirty="0"/>
              <a:t> </a:t>
            </a:r>
            <a:r>
              <a:rPr lang="en-US" sz="1400" dirty="0" err="1"/>
              <a:t>مختلفی</a:t>
            </a:r>
            <a:r>
              <a:rPr lang="en-US" sz="1400" dirty="0"/>
              <a:t> </a:t>
            </a:r>
            <a:r>
              <a:rPr lang="en-US" sz="1400" dirty="0" err="1"/>
              <a:t>ظاهر</a:t>
            </a:r>
            <a:r>
              <a:rPr lang="en-US" sz="1400" dirty="0"/>
              <a:t> </a:t>
            </a:r>
            <a:r>
              <a:rPr lang="en-US" sz="1400" dirty="0" err="1"/>
              <a:t>می‌شود</a:t>
            </a:r>
            <a:r>
              <a:rPr lang="en-US" sz="1400" dirty="0"/>
              <a:t> </a:t>
            </a:r>
            <a:r>
              <a:rPr lang="en-US" sz="1400" dirty="0" err="1"/>
              <a:t>که</a:t>
            </a:r>
            <a:r>
              <a:rPr lang="en-US" sz="1400" dirty="0"/>
              <a:t> </a:t>
            </a:r>
            <a:r>
              <a:rPr lang="en-US" sz="1400" dirty="0" err="1"/>
              <a:t>هرکدام</a:t>
            </a:r>
            <a:r>
              <a:rPr lang="en-US" sz="1400" dirty="0"/>
              <a:t> </a:t>
            </a:r>
            <a:r>
              <a:rPr lang="en-US" sz="1400" dirty="0" err="1"/>
              <a:t>می‌توانند</a:t>
            </a:r>
            <a:r>
              <a:rPr lang="en-US" sz="1400" dirty="0"/>
              <a:t> </a:t>
            </a:r>
            <a:r>
              <a:rPr lang="en-US" sz="1400" dirty="0" err="1"/>
              <a:t>نشان‌دهنده</a:t>
            </a:r>
            <a:r>
              <a:rPr lang="en-US" sz="1400" dirty="0"/>
              <a:t> </a:t>
            </a:r>
            <a:r>
              <a:rPr lang="en-US" sz="1400" dirty="0" err="1"/>
              <a:t>ضعف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ساختار</a:t>
            </a:r>
            <a:r>
              <a:rPr lang="en-US" sz="1400" dirty="0"/>
              <a:t> </a:t>
            </a:r>
            <a:r>
              <a:rPr lang="en-US" sz="1400" dirty="0" err="1"/>
              <a:t>یا</a:t>
            </a:r>
            <a:r>
              <a:rPr lang="en-US" sz="1400" dirty="0"/>
              <a:t> </a:t>
            </a:r>
            <a:r>
              <a:rPr lang="en-US" sz="1400" dirty="0" err="1"/>
              <a:t>طراحی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باشند</a:t>
            </a:r>
            <a:r>
              <a:rPr lang="en-US" sz="1400" dirty="0"/>
              <a:t>. </a:t>
            </a:r>
            <a:r>
              <a:rPr lang="en-US" sz="1400" dirty="0" err="1"/>
              <a:t>از</a:t>
            </a:r>
            <a:r>
              <a:rPr lang="en-US" sz="1400" dirty="0"/>
              <a:t> </a:t>
            </a:r>
            <a:r>
              <a:rPr lang="en-US" sz="1400" dirty="0" err="1"/>
              <a:t>رایج‌ترین</a:t>
            </a:r>
            <a:r>
              <a:rPr lang="en-US" sz="1400" dirty="0"/>
              <a:t> </a:t>
            </a:r>
            <a:r>
              <a:rPr lang="en-US" sz="1400" dirty="0" err="1"/>
              <a:t>انواع</a:t>
            </a:r>
            <a:r>
              <a:rPr lang="en-US" sz="1400" dirty="0"/>
              <a:t> </a:t>
            </a:r>
            <a:r>
              <a:rPr lang="en-US" sz="1400" dirty="0" err="1"/>
              <a:t>آن</a:t>
            </a:r>
            <a:r>
              <a:rPr lang="en-US" sz="1400" dirty="0"/>
              <a:t> </a:t>
            </a:r>
            <a:r>
              <a:rPr lang="en-US" sz="1400" dirty="0" err="1"/>
              <a:t>می‌توان</a:t>
            </a:r>
            <a:r>
              <a:rPr lang="en-US" sz="1400" dirty="0"/>
              <a:t> </a:t>
            </a:r>
            <a:r>
              <a:rPr lang="en-US" sz="1400" dirty="0" err="1"/>
              <a:t>به</a:t>
            </a:r>
            <a:r>
              <a:rPr lang="en-US" sz="1400" dirty="0"/>
              <a:t> </a:t>
            </a:r>
            <a:r>
              <a:rPr lang="en-US" sz="1400" dirty="0" err="1"/>
              <a:t>موارد</a:t>
            </a:r>
            <a:r>
              <a:rPr lang="en-US" sz="1400" dirty="0"/>
              <a:t> </a:t>
            </a:r>
            <a:r>
              <a:rPr lang="en-US" sz="1400" dirty="0" err="1"/>
              <a:t>زیر</a:t>
            </a:r>
            <a:r>
              <a:rPr lang="en-US" sz="1400" dirty="0"/>
              <a:t> </a:t>
            </a:r>
            <a:r>
              <a:rPr lang="en-US" sz="1400" dirty="0" err="1"/>
              <a:t>اشاره</a:t>
            </a:r>
            <a:r>
              <a:rPr lang="en-US" sz="1400" dirty="0"/>
              <a:t> </a:t>
            </a:r>
            <a:r>
              <a:rPr lang="en-US" sz="1400" dirty="0" err="1"/>
              <a:t>کرد</a:t>
            </a:r>
            <a:endParaRPr lang="fa-I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5C519-2B31-632F-69E4-E594841FEC58}"/>
              </a:ext>
            </a:extLst>
          </p:cNvPr>
          <p:cNvSpPr txBox="1"/>
          <p:nvPr/>
        </p:nvSpPr>
        <p:spPr>
          <a:xfrm>
            <a:off x="8567973" y="3713616"/>
            <a:ext cx="3223258" cy="12335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dirty="0" err="1"/>
              <a:t>شناسایی</a:t>
            </a:r>
            <a:r>
              <a:rPr lang="en-US" sz="1600" dirty="0"/>
              <a:t> </a:t>
            </a:r>
            <a:r>
              <a:rPr lang="en-US" sz="1600" dirty="0" err="1"/>
              <a:t>این</a:t>
            </a:r>
            <a:r>
              <a:rPr lang="en-US" sz="1600" dirty="0"/>
              <a:t> </a:t>
            </a:r>
            <a:r>
              <a:rPr lang="en-US" sz="1600" dirty="0" err="1"/>
              <a:t>الگوها</a:t>
            </a:r>
            <a:r>
              <a:rPr lang="en-US" sz="1600" dirty="0"/>
              <a:t> </a:t>
            </a:r>
            <a:r>
              <a:rPr lang="en-US" sz="1600" dirty="0" err="1"/>
              <a:t>به</a:t>
            </a:r>
            <a:r>
              <a:rPr lang="en-US" sz="1600" dirty="0"/>
              <a:t> </a:t>
            </a:r>
            <a:r>
              <a:rPr lang="en-US" sz="1600" dirty="0" err="1"/>
              <a:t>برنامه‌نویسان</a:t>
            </a:r>
            <a:r>
              <a:rPr lang="en-US" sz="1600" dirty="0"/>
              <a:t> </a:t>
            </a:r>
            <a:r>
              <a:rPr lang="en-US" sz="1600" dirty="0" err="1"/>
              <a:t>کمک</a:t>
            </a:r>
            <a:r>
              <a:rPr lang="en-US" sz="1600" dirty="0"/>
              <a:t> </a:t>
            </a:r>
            <a:r>
              <a:rPr lang="en-US" sz="1600" dirty="0" err="1"/>
              <a:t>می‌کند</a:t>
            </a:r>
            <a:r>
              <a:rPr lang="en-US" sz="1600" dirty="0"/>
              <a:t> </a:t>
            </a:r>
            <a:r>
              <a:rPr lang="en-US" sz="1600" dirty="0" err="1"/>
              <a:t>تا</a:t>
            </a:r>
            <a:r>
              <a:rPr lang="en-US" sz="1600" dirty="0"/>
              <a:t> </a:t>
            </a:r>
            <a:r>
              <a:rPr lang="en-US" sz="1600" dirty="0" err="1"/>
              <a:t>با</a:t>
            </a:r>
            <a:r>
              <a:rPr lang="en-US" sz="1600" dirty="0"/>
              <a:t> </a:t>
            </a:r>
            <a:r>
              <a:rPr lang="en-US" sz="1600" dirty="0" err="1"/>
              <a:t>بازآرایی</a:t>
            </a:r>
            <a:r>
              <a:rPr lang="en-US" sz="1600" dirty="0"/>
              <a:t> </a:t>
            </a:r>
            <a:r>
              <a:rPr lang="en-US" sz="1600" dirty="0" err="1"/>
              <a:t>کد</a:t>
            </a:r>
            <a:r>
              <a:rPr lang="en-US" sz="1600" dirty="0"/>
              <a:t> (Refactoring)، </a:t>
            </a:r>
            <a:r>
              <a:rPr lang="en-US" sz="1600" dirty="0" err="1"/>
              <a:t>ساختار</a:t>
            </a:r>
            <a:r>
              <a:rPr lang="en-US" sz="1600" dirty="0"/>
              <a:t> </a:t>
            </a:r>
            <a:r>
              <a:rPr lang="en-US" sz="1600" dirty="0" err="1"/>
              <a:t>نرم‌افزار</a:t>
            </a:r>
            <a:r>
              <a:rPr lang="en-US" sz="1600" dirty="0"/>
              <a:t> </a:t>
            </a:r>
            <a:r>
              <a:rPr lang="en-US" sz="1600" dirty="0" err="1"/>
              <a:t>را</a:t>
            </a:r>
            <a:r>
              <a:rPr lang="en-US" sz="1600" dirty="0"/>
              <a:t> </a:t>
            </a:r>
            <a:r>
              <a:rPr lang="en-US" sz="1600" dirty="0" err="1"/>
              <a:t>بهبود</a:t>
            </a:r>
            <a:r>
              <a:rPr lang="en-US" sz="1600" dirty="0"/>
              <a:t> </a:t>
            </a:r>
            <a:r>
              <a:rPr lang="en-US" sz="1600" dirty="0" err="1"/>
              <a:t>دهند</a:t>
            </a:r>
            <a:r>
              <a:rPr lang="en-US" sz="1600" dirty="0"/>
              <a:t> و </a:t>
            </a:r>
            <a:r>
              <a:rPr lang="en-US" sz="1600" dirty="0" err="1"/>
              <a:t>نگهداری</a:t>
            </a:r>
            <a:r>
              <a:rPr lang="en-US" sz="1600" dirty="0"/>
              <a:t> </a:t>
            </a:r>
            <a:r>
              <a:rPr lang="en-US" sz="1600" dirty="0" err="1"/>
              <a:t>آن</a:t>
            </a:r>
            <a:r>
              <a:rPr lang="en-US" sz="1600" dirty="0"/>
              <a:t> </a:t>
            </a:r>
            <a:r>
              <a:rPr lang="en-US" sz="1600" dirty="0" err="1"/>
              <a:t>را</a:t>
            </a:r>
            <a:r>
              <a:rPr lang="en-US" sz="1600" dirty="0"/>
              <a:t> </a:t>
            </a:r>
            <a:r>
              <a:rPr lang="en-US" sz="1600" dirty="0" err="1"/>
              <a:t>آسان‌تر</a:t>
            </a:r>
            <a:r>
              <a:rPr lang="en-US" sz="1600" dirty="0"/>
              <a:t> </a:t>
            </a:r>
            <a:r>
              <a:rPr lang="en-US" sz="1600" dirty="0" err="1"/>
              <a:t>کنند</a:t>
            </a:r>
            <a:r>
              <a:rPr lang="en-US" sz="1600" dirty="0"/>
              <a:t>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2523420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7276-A486-B1BB-821E-36E2AC95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9ABADC-E5F2-4940-8029-99C24DD64F30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CD15352-181D-7A1F-9F71-18B37712291D}"/>
              </a:ext>
            </a:extLst>
          </p:cNvPr>
          <p:cNvSpPr/>
          <p:nvPr/>
        </p:nvSpPr>
        <p:spPr>
          <a:xfrm rot="16200000">
            <a:off x="7221391" y="717050"/>
            <a:ext cx="3122375" cy="4968931"/>
          </a:xfrm>
          <a:prstGeom prst="roundRect">
            <a:avLst>
              <a:gd name="adj" fmla="val 5726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7F175-38D2-82A2-2C52-A30CE0D07B71}"/>
              </a:ext>
            </a:extLst>
          </p:cNvPr>
          <p:cNvSpPr txBox="1"/>
          <p:nvPr/>
        </p:nvSpPr>
        <p:spPr>
          <a:xfrm>
            <a:off x="5998914" y="387709"/>
            <a:ext cx="5249657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fa-IR" sz="28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روش های شناسایی و اصلاح </a:t>
            </a:r>
            <a:r>
              <a:rPr lang="en-US" sz="28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Code Smell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B9F5897-46F0-FC29-A7EC-7B33CE06B4F5}"/>
              </a:ext>
            </a:extLst>
          </p:cNvPr>
          <p:cNvSpPr/>
          <p:nvPr/>
        </p:nvSpPr>
        <p:spPr>
          <a:xfrm>
            <a:off x="11360837" y="506092"/>
            <a:ext cx="305621" cy="305621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BFEBE4-A829-F51E-4E28-B8835C79FD0E}"/>
              </a:ext>
            </a:extLst>
          </p:cNvPr>
          <p:cNvSpPr txBox="1"/>
          <p:nvPr/>
        </p:nvSpPr>
        <p:spPr>
          <a:xfrm>
            <a:off x="5528498" y="1914025"/>
            <a:ext cx="5047736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>
                <a:solidFill>
                  <a:schemeClr val="bg2"/>
                </a:solidFill>
              </a:rPr>
              <a:t>بازبینی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کد</a:t>
            </a:r>
            <a:r>
              <a:rPr lang="en-US" sz="1600" b="1" dirty="0">
                <a:solidFill>
                  <a:schemeClr val="bg2"/>
                </a:solidFill>
              </a:rPr>
              <a:t> (Code Review) </a:t>
            </a:r>
            <a:r>
              <a:rPr lang="en-US" sz="1600" b="1" dirty="0" err="1">
                <a:solidFill>
                  <a:schemeClr val="bg2"/>
                </a:solidFill>
              </a:rPr>
              <a:t>توسط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برنامه‌نویسان</a:t>
            </a:r>
            <a:endParaRPr lang="fa-IR" sz="1600" b="1" dirty="0">
              <a:solidFill>
                <a:schemeClr val="bg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8E1CA-7F6F-E7E1-8C02-183924D6151D}"/>
              </a:ext>
            </a:extLst>
          </p:cNvPr>
          <p:cNvSpPr txBox="1"/>
          <p:nvPr/>
        </p:nvSpPr>
        <p:spPr>
          <a:xfrm>
            <a:off x="5467138" y="2544384"/>
            <a:ext cx="5047736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>
                <a:solidFill>
                  <a:schemeClr val="bg2"/>
                </a:solidFill>
              </a:rPr>
              <a:t>استفاده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از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ابزارهای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تحلیل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ایستا</a:t>
            </a:r>
            <a:r>
              <a:rPr lang="en-US" sz="1600" b="1" dirty="0">
                <a:solidFill>
                  <a:schemeClr val="bg2"/>
                </a:solidFill>
              </a:rPr>
              <a:t> (Static Analysis)</a:t>
            </a:r>
            <a:endParaRPr lang="fa-IR" sz="1600" b="1" dirty="0">
              <a:solidFill>
                <a:schemeClr val="bg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DCD9B-B0F0-B9F6-C136-8E3DD534BEE9}"/>
              </a:ext>
            </a:extLst>
          </p:cNvPr>
          <p:cNvSpPr txBox="1"/>
          <p:nvPr/>
        </p:nvSpPr>
        <p:spPr>
          <a:xfrm>
            <a:off x="5477730" y="3095469"/>
            <a:ext cx="5047736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>
                <a:solidFill>
                  <a:schemeClr val="bg2"/>
                </a:solidFill>
              </a:rPr>
              <a:t>بررسی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پیچیدگی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توابع</a:t>
            </a:r>
            <a:r>
              <a:rPr lang="en-US" sz="1600" b="1" dirty="0">
                <a:solidFill>
                  <a:schemeClr val="bg2"/>
                </a:solidFill>
              </a:rPr>
              <a:t> و </a:t>
            </a:r>
            <a:r>
              <a:rPr lang="en-US" sz="1600" b="1" dirty="0" err="1">
                <a:solidFill>
                  <a:schemeClr val="bg2"/>
                </a:solidFill>
              </a:rPr>
              <a:t>میزان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تکرار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کد</a:t>
            </a:r>
            <a:endParaRPr lang="fa-IR" sz="1600" b="1" dirty="0">
              <a:solidFill>
                <a:schemeClr val="bg2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A13FBD-90B0-2827-1C1F-7D91B66EDF7D}"/>
              </a:ext>
            </a:extLst>
          </p:cNvPr>
          <p:cNvSpPr txBox="1"/>
          <p:nvPr/>
        </p:nvSpPr>
        <p:spPr>
          <a:xfrm>
            <a:off x="5540564" y="3725828"/>
            <a:ext cx="5047736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>
                <a:solidFill>
                  <a:schemeClr val="bg2"/>
                </a:solidFill>
              </a:rPr>
              <a:t>اجرای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تست‌ها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برای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اطمینان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از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حفظ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عملکرد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برنامه</a:t>
            </a:r>
            <a:endParaRPr lang="fa-IR" sz="1600" b="1" dirty="0">
              <a:solidFill>
                <a:schemeClr val="bg2"/>
              </a:solidFill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DC5D48B4-B222-4436-90BC-1FFCA428016B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1511E94-C6F6-AAC6-872C-D9A4BBFD3AC5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6F3447BE-D922-F253-6D33-73E568BBF7E8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3ED4531-FEB6-CB55-E615-2AEA4AE39181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0CFC99C-AAA3-B35F-374E-B74493046068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F88EB2CA-17D8-C8DA-1BA7-5ECD96C3ABC8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32ADCAE-D68B-5FEF-B286-934113833F8C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23931A8-CE93-5CD1-AE85-FFECA31CC6D5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61D9DFD6-ADDA-3211-A3AD-8119F5B1B27E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493909C-0F26-FB88-73A3-BCB736138780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شناسایی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340311D-561F-1F79-6FED-2CCD0595006B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64D26637-9941-12C6-34A5-3DF656C7912E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69E0054-C836-27A5-FD30-D4F84A27996F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D8686B5-01D2-F1F7-CD60-30246BF352D5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E84B7295-EE3F-9C9A-2BEC-DE10E1DF53D6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CFF91F4-62B7-E242-46AA-DDE0072E8CDD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DF6068D-E7D0-331F-65B0-5EB6DCE3FBEB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5BC9F8E7-5D7D-7AE9-F909-063E7E4BD984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28AEEDA-8015-7043-9888-FA4FE5E38C09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168" name="Rectangle: Top Corners Rounded 167">
            <a:extLst>
              <a:ext uri="{FF2B5EF4-FFF2-40B4-BE49-F238E27FC236}">
                <a16:creationId xmlns:a16="http://schemas.microsoft.com/office/drawing/2014/main" id="{E44905E6-DD0D-534F-97F0-BAFD7DFF9DE7}"/>
              </a:ext>
            </a:extLst>
          </p:cNvPr>
          <p:cNvSpPr/>
          <p:nvPr/>
        </p:nvSpPr>
        <p:spPr>
          <a:xfrm>
            <a:off x="100483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: Top Corners Rounded 168">
            <a:extLst>
              <a:ext uri="{FF2B5EF4-FFF2-40B4-BE49-F238E27FC236}">
                <a16:creationId xmlns:a16="http://schemas.microsoft.com/office/drawing/2014/main" id="{2CE5D9CC-C08F-E6FD-7F77-941B59EAE244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: Top Corners Rounded 169">
            <a:extLst>
              <a:ext uri="{FF2B5EF4-FFF2-40B4-BE49-F238E27FC236}">
                <a16:creationId xmlns:a16="http://schemas.microsoft.com/office/drawing/2014/main" id="{54A26839-22F2-E703-1EBE-F5C159C491E3}"/>
              </a:ext>
            </a:extLst>
          </p:cNvPr>
          <p:cNvSpPr/>
          <p:nvPr/>
        </p:nvSpPr>
        <p:spPr>
          <a:xfrm>
            <a:off x="6496596" y="6858000"/>
            <a:ext cx="1777490" cy="15012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: Top Corners Rounded 170">
            <a:extLst>
              <a:ext uri="{FF2B5EF4-FFF2-40B4-BE49-F238E27FC236}">
                <a16:creationId xmlns:a16="http://schemas.microsoft.com/office/drawing/2014/main" id="{A189D251-28A1-B284-FBB6-E98655BCDCD5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: Top Corners Rounded 171">
            <a:extLst>
              <a:ext uri="{FF2B5EF4-FFF2-40B4-BE49-F238E27FC236}">
                <a16:creationId xmlns:a16="http://schemas.microsoft.com/office/drawing/2014/main" id="{FA70D133-460E-B5FA-0B0B-142F684428FE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: Top Corners Rounded 172">
            <a:extLst>
              <a:ext uri="{FF2B5EF4-FFF2-40B4-BE49-F238E27FC236}">
                <a16:creationId xmlns:a16="http://schemas.microsoft.com/office/drawing/2014/main" id="{7DC0EBE4-0570-5954-90E3-A46C930BD25D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Slide Number Placeholder 173">
            <a:extLst>
              <a:ext uri="{FF2B5EF4-FFF2-40B4-BE49-F238E27FC236}">
                <a16:creationId xmlns:a16="http://schemas.microsoft.com/office/drawing/2014/main" id="{74D7FDA4-87CB-7DAC-E4E4-78069C68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9</a:t>
            </a:fld>
            <a:endParaRPr lang="en-US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4F10DB56-1636-67B4-8D31-3511682902B4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B23687-8037-16D2-782C-630717F712CE}"/>
              </a:ext>
            </a:extLst>
          </p:cNvPr>
          <p:cNvGrpSpPr/>
          <p:nvPr/>
        </p:nvGrpSpPr>
        <p:grpSpPr>
          <a:xfrm>
            <a:off x="10652959" y="1926243"/>
            <a:ext cx="350180" cy="350180"/>
            <a:chOff x="10652959" y="1926243"/>
            <a:chExt cx="350180" cy="35018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D0B6469-3C8C-42E5-A308-94C4A6B99A6F}"/>
                </a:ext>
              </a:extLst>
            </p:cNvPr>
            <p:cNvSpPr/>
            <p:nvPr/>
          </p:nvSpPr>
          <p:spPr>
            <a:xfrm rot="16200000">
              <a:off x="10652959" y="1926243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0495EF55-237A-AFA9-8313-29BCF6CA35FE}"/>
                </a:ext>
              </a:extLst>
            </p:cNvPr>
            <p:cNvSpPr/>
            <p:nvPr/>
          </p:nvSpPr>
          <p:spPr>
            <a:xfrm>
              <a:off x="10729684" y="2002968"/>
              <a:ext cx="196730" cy="196730"/>
            </a:xfrm>
            <a:prstGeom prst="star5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31E41D-E2C8-488C-92D9-1D4018190C23}"/>
              </a:ext>
            </a:extLst>
          </p:cNvPr>
          <p:cNvGrpSpPr/>
          <p:nvPr/>
        </p:nvGrpSpPr>
        <p:grpSpPr>
          <a:xfrm>
            <a:off x="10644193" y="2566882"/>
            <a:ext cx="350180" cy="350180"/>
            <a:chOff x="10652959" y="2815618"/>
            <a:chExt cx="350180" cy="35018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B263E02-3728-DDCE-2BE5-9E80EF064BCB}"/>
                </a:ext>
              </a:extLst>
            </p:cNvPr>
            <p:cNvSpPr/>
            <p:nvPr/>
          </p:nvSpPr>
          <p:spPr>
            <a:xfrm rot="16200000">
              <a:off x="10652959" y="2815618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8D973591-BE22-5BCF-0546-CF63838DE69B}"/>
                </a:ext>
              </a:extLst>
            </p:cNvPr>
            <p:cNvSpPr/>
            <p:nvPr/>
          </p:nvSpPr>
          <p:spPr>
            <a:xfrm>
              <a:off x="10729684" y="2892343"/>
              <a:ext cx="196730" cy="196730"/>
            </a:xfrm>
            <a:prstGeom prst="star5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4AE426-E8F4-AF74-9B0F-46126550F05C}"/>
              </a:ext>
            </a:extLst>
          </p:cNvPr>
          <p:cNvGrpSpPr/>
          <p:nvPr/>
        </p:nvGrpSpPr>
        <p:grpSpPr>
          <a:xfrm>
            <a:off x="10644193" y="3161954"/>
            <a:ext cx="350180" cy="350180"/>
            <a:chOff x="10652959" y="3749055"/>
            <a:chExt cx="350180" cy="3501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DECCE0F-6EC0-9944-A804-9D2BDD76923C}"/>
                </a:ext>
              </a:extLst>
            </p:cNvPr>
            <p:cNvSpPr/>
            <p:nvPr/>
          </p:nvSpPr>
          <p:spPr>
            <a:xfrm rot="16200000">
              <a:off x="10652959" y="3749055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148C1DF4-7C93-D40E-AE17-3C4AF592672A}"/>
                </a:ext>
              </a:extLst>
            </p:cNvPr>
            <p:cNvSpPr/>
            <p:nvPr/>
          </p:nvSpPr>
          <p:spPr>
            <a:xfrm>
              <a:off x="10729684" y="3825780"/>
              <a:ext cx="196730" cy="196730"/>
            </a:xfrm>
            <a:prstGeom prst="star5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44F4F1-1CF2-3D09-6FFC-0C939D7D95E6}"/>
              </a:ext>
            </a:extLst>
          </p:cNvPr>
          <p:cNvGrpSpPr/>
          <p:nvPr/>
        </p:nvGrpSpPr>
        <p:grpSpPr>
          <a:xfrm>
            <a:off x="10652959" y="3751001"/>
            <a:ext cx="350180" cy="350180"/>
            <a:chOff x="10652959" y="4641509"/>
            <a:chExt cx="350180" cy="35018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6A52534-4C4C-D332-DCAA-DE5871538CC1}"/>
                </a:ext>
              </a:extLst>
            </p:cNvPr>
            <p:cNvSpPr/>
            <p:nvPr/>
          </p:nvSpPr>
          <p:spPr>
            <a:xfrm rot="16200000">
              <a:off x="10652959" y="4641509"/>
              <a:ext cx="350180" cy="350180"/>
            </a:xfrm>
            <a:prstGeom prst="ellipse">
              <a:avLst/>
            </a:prstGeom>
            <a:solidFill>
              <a:schemeClr val="accent5"/>
            </a:solidFill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tar: 5 Points 10">
              <a:extLst>
                <a:ext uri="{FF2B5EF4-FFF2-40B4-BE49-F238E27FC236}">
                  <a16:creationId xmlns:a16="http://schemas.microsoft.com/office/drawing/2014/main" id="{81841EB3-B678-9A6F-881F-DB9D4C835248}"/>
                </a:ext>
              </a:extLst>
            </p:cNvPr>
            <p:cNvSpPr/>
            <p:nvPr/>
          </p:nvSpPr>
          <p:spPr>
            <a:xfrm>
              <a:off x="10729684" y="4718234"/>
              <a:ext cx="196730" cy="196730"/>
            </a:xfrm>
            <a:prstGeom prst="star5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Graphic 22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8FBE92C-EB6D-C86D-397A-B1C342CB0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4EB1D0-3168-FE9E-526A-CF7B1667CAE6}"/>
              </a:ext>
            </a:extLst>
          </p:cNvPr>
          <p:cNvSpPr txBox="1"/>
          <p:nvPr/>
        </p:nvSpPr>
        <p:spPr>
          <a:xfrm>
            <a:off x="557442" y="923094"/>
            <a:ext cx="11075642" cy="6426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dirty="0" err="1"/>
              <a:t>شناسایی</a:t>
            </a:r>
            <a:r>
              <a:rPr lang="en-US" sz="1600" dirty="0"/>
              <a:t> و </a:t>
            </a:r>
            <a:r>
              <a:rPr lang="en-US" sz="1600" dirty="0" err="1"/>
              <a:t>اصلاح</a:t>
            </a:r>
            <a:r>
              <a:rPr lang="en-US" sz="1600" dirty="0"/>
              <a:t> Code Smell </a:t>
            </a:r>
            <a:r>
              <a:rPr lang="en-US" sz="1600" dirty="0" err="1"/>
              <a:t>نقش</a:t>
            </a:r>
            <a:r>
              <a:rPr lang="en-US" sz="1600" dirty="0"/>
              <a:t> </a:t>
            </a:r>
            <a:r>
              <a:rPr lang="en-US" sz="1600" dirty="0" err="1"/>
              <a:t>مهمی</a:t>
            </a:r>
            <a:r>
              <a:rPr lang="en-US" sz="1600" dirty="0"/>
              <a:t> </a:t>
            </a:r>
            <a:r>
              <a:rPr lang="en-US" sz="1600" dirty="0" err="1"/>
              <a:t>در</a:t>
            </a:r>
            <a:r>
              <a:rPr lang="en-US" sz="1600" dirty="0"/>
              <a:t> </a:t>
            </a:r>
            <a:r>
              <a:rPr lang="en-US" sz="1600" dirty="0" err="1"/>
              <a:t>بهبود</a:t>
            </a:r>
            <a:r>
              <a:rPr lang="en-US" sz="1600" dirty="0"/>
              <a:t> </a:t>
            </a:r>
            <a:r>
              <a:rPr lang="en-US" sz="1600" dirty="0" err="1"/>
              <a:t>کیفیت</a:t>
            </a:r>
            <a:r>
              <a:rPr lang="en-US" sz="1600" dirty="0"/>
              <a:t> و </a:t>
            </a:r>
            <a:r>
              <a:rPr lang="en-US" sz="1600" dirty="0" err="1"/>
              <a:t>ساختار</a:t>
            </a:r>
            <a:r>
              <a:rPr lang="en-US" sz="1600" dirty="0"/>
              <a:t> </a:t>
            </a:r>
            <a:r>
              <a:rPr lang="en-US" sz="1600" dirty="0" err="1"/>
              <a:t>نرم‌افزار</a:t>
            </a:r>
            <a:r>
              <a:rPr lang="en-US" sz="1600" dirty="0"/>
              <a:t> </a:t>
            </a:r>
            <a:r>
              <a:rPr lang="en-US" sz="1600" dirty="0" err="1"/>
              <a:t>دارد</a:t>
            </a:r>
            <a:r>
              <a:rPr lang="en-US" sz="1600" dirty="0"/>
              <a:t>. </a:t>
            </a:r>
            <a:r>
              <a:rPr lang="en-US" sz="1600" dirty="0" err="1"/>
              <a:t>این</a:t>
            </a:r>
            <a:r>
              <a:rPr lang="en-US" sz="1600" dirty="0"/>
              <a:t> </a:t>
            </a:r>
            <a:r>
              <a:rPr lang="en-US" sz="1600" dirty="0" err="1"/>
              <a:t>فرایند</a:t>
            </a:r>
            <a:r>
              <a:rPr lang="en-US" sz="1600" dirty="0"/>
              <a:t> </a:t>
            </a:r>
            <a:r>
              <a:rPr lang="en-US" sz="1600" dirty="0" err="1"/>
              <a:t>از</a:t>
            </a:r>
            <a:r>
              <a:rPr lang="en-US" sz="1600" dirty="0"/>
              <a:t> </a:t>
            </a:r>
            <a:r>
              <a:rPr lang="en-US" sz="1600" dirty="0" err="1"/>
              <a:t>طریق</a:t>
            </a:r>
            <a:r>
              <a:rPr lang="en-US" sz="1600" dirty="0"/>
              <a:t> </a:t>
            </a:r>
            <a:r>
              <a:rPr lang="en-US" sz="1600" dirty="0" err="1"/>
              <a:t>بررسی</a:t>
            </a:r>
            <a:r>
              <a:rPr lang="en-US" sz="1600" dirty="0"/>
              <a:t> </a:t>
            </a:r>
            <a:r>
              <a:rPr lang="en-US" sz="1600" dirty="0" err="1"/>
              <a:t>کد</a:t>
            </a:r>
            <a:r>
              <a:rPr lang="en-US" sz="1600" dirty="0"/>
              <a:t> و </a:t>
            </a:r>
            <a:r>
              <a:rPr lang="en-US" sz="1600" dirty="0" err="1"/>
              <a:t>استفاده</a:t>
            </a:r>
            <a:r>
              <a:rPr lang="en-US" sz="1600" dirty="0"/>
              <a:t> </a:t>
            </a:r>
            <a:r>
              <a:rPr lang="en-US" sz="1600" dirty="0" err="1"/>
              <a:t>از</a:t>
            </a:r>
            <a:r>
              <a:rPr lang="en-US" sz="1600" dirty="0"/>
              <a:t> </a:t>
            </a:r>
            <a:r>
              <a:rPr lang="en-US" sz="1600" dirty="0" err="1"/>
              <a:t>روش‌ها</a:t>
            </a:r>
            <a:r>
              <a:rPr lang="en-US" sz="1600" dirty="0"/>
              <a:t> و </a:t>
            </a:r>
            <a:r>
              <a:rPr lang="en-US" sz="1600" dirty="0" err="1"/>
              <a:t>ابزارهای</a:t>
            </a:r>
            <a:r>
              <a:rPr lang="en-US" sz="1600" dirty="0"/>
              <a:t> </a:t>
            </a:r>
            <a:r>
              <a:rPr lang="en-US" sz="1600" dirty="0" err="1"/>
              <a:t>مناسب</a:t>
            </a:r>
            <a:r>
              <a:rPr lang="en-US" sz="1600" dirty="0"/>
              <a:t> </a:t>
            </a:r>
            <a:r>
              <a:rPr lang="en-US" sz="1600" dirty="0" err="1"/>
              <a:t>انجام</a:t>
            </a:r>
            <a:r>
              <a:rPr lang="en-US" sz="1600" dirty="0"/>
              <a:t> </a:t>
            </a:r>
            <a:r>
              <a:rPr lang="en-US" sz="1600" dirty="0" err="1"/>
              <a:t>می‌شود</a:t>
            </a:r>
            <a:r>
              <a:rPr lang="en-US" sz="1600" dirty="0"/>
              <a:t>.</a:t>
            </a:r>
            <a:endParaRPr lang="fa-IR" sz="16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1106FE-0D68-7A71-3E03-1B384A14F545}"/>
              </a:ext>
            </a:extLst>
          </p:cNvPr>
          <p:cNvSpPr/>
          <p:nvPr/>
        </p:nvSpPr>
        <p:spPr>
          <a:xfrm rot="16200000">
            <a:off x="2058585" y="679843"/>
            <a:ext cx="2998063" cy="4919039"/>
          </a:xfrm>
          <a:prstGeom prst="roundRect">
            <a:avLst>
              <a:gd name="adj" fmla="val 9283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02308-9175-EC21-8A9D-FFD784FD1C95}"/>
              </a:ext>
            </a:extLst>
          </p:cNvPr>
          <p:cNvSpPr txBox="1"/>
          <p:nvPr/>
        </p:nvSpPr>
        <p:spPr>
          <a:xfrm>
            <a:off x="1508317" y="1914281"/>
            <a:ext cx="4356419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/>
              <a:t>بازآرایی</a:t>
            </a:r>
            <a:r>
              <a:rPr lang="en-US" sz="1600" b="1" dirty="0"/>
              <a:t> </a:t>
            </a:r>
            <a:r>
              <a:rPr lang="en-US" sz="1600" b="1" dirty="0" err="1"/>
              <a:t>کد</a:t>
            </a:r>
            <a:r>
              <a:rPr lang="en-US" sz="1600" b="1" dirty="0"/>
              <a:t> (Refactoring) </a:t>
            </a:r>
            <a:r>
              <a:rPr lang="en-US" sz="1600" b="1" dirty="0" err="1"/>
              <a:t>بدون</a:t>
            </a:r>
            <a:r>
              <a:rPr lang="en-US" sz="1600" b="1" dirty="0"/>
              <a:t> </a:t>
            </a:r>
            <a:r>
              <a:rPr lang="en-US" sz="1600" b="1" dirty="0" err="1"/>
              <a:t>تغییر</a:t>
            </a:r>
            <a:r>
              <a:rPr lang="en-US" sz="1600" b="1" dirty="0"/>
              <a:t> </a:t>
            </a:r>
            <a:r>
              <a:rPr lang="en-US" sz="1600" b="1" dirty="0" err="1"/>
              <a:t>رفتار</a:t>
            </a:r>
            <a:r>
              <a:rPr lang="en-US" sz="1600" b="1" dirty="0"/>
              <a:t> </a:t>
            </a:r>
            <a:r>
              <a:rPr lang="en-US" sz="1600" b="1" dirty="0" err="1"/>
              <a:t>اصلی</a:t>
            </a:r>
            <a:r>
              <a:rPr lang="en-US" sz="1600" b="1" dirty="0"/>
              <a:t> </a:t>
            </a:r>
            <a:r>
              <a:rPr lang="en-US" sz="1600" b="1" dirty="0" err="1"/>
              <a:t>برنامه</a:t>
            </a:r>
            <a:endParaRPr lang="fa-IR" sz="16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F3EB96-5D62-3C22-AD7F-484678344D5E}"/>
              </a:ext>
            </a:extLst>
          </p:cNvPr>
          <p:cNvSpPr/>
          <p:nvPr/>
        </p:nvSpPr>
        <p:spPr>
          <a:xfrm>
            <a:off x="5916908" y="2019150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A9785-2F9E-DAD9-50C4-DBA083A60570}"/>
              </a:ext>
            </a:extLst>
          </p:cNvPr>
          <p:cNvSpPr txBox="1"/>
          <p:nvPr/>
        </p:nvSpPr>
        <p:spPr>
          <a:xfrm>
            <a:off x="1453719" y="2390192"/>
            <a:ext cx="4356419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/>
              <a:t>تقسیم</a:t>
            </a:r>
            <a:r>
              <a:rPr lang="en-US" sz="1600" b="1" dirty="0"/>
              <a:t> </a:t>
            </a:r>
            <a:r>
              <a:rPr lang="en-US" sz="1600" b="1" dirty="0" err="1"/>
              <a:t>توابع</a:t>
            </a:r>
            <a:r>
              <a:rPr lang="en-US" sz="1600" b="1" dirty="0"/>
              <a:t> </a:t>
            </a:r>
            <a:r>
              <a:rPr lang="en-US" sz="1600" b="1" dirty="0" err="1"/>
              <a:t>طولانی</a:t>
            </a:r>
            <a:r>
              <a:rPr lang="en-US" sz="1600" b="1" dirty="0"/>
              <a:t> </a:t>
            </a:r>
            <a:r>
              <a:rPr lang="en-US" sz="1600" b="1" dirty="0" err="1"/>
              <a:t>به</a:t>
            </a:r>
            <a:r>
              <a:rPr lang="en-US" sz="1600" b="1" dirty="0"/>
              <a:t> </a:t>
            </a:r>
            <a:r>
              <a:rPr lang="en-US" sz="1600" b="1" dirty="0" err="1"/>
              <a:t>توابع</a:t>
            </a:r>
            <a:r>
              <a:rPr lang="en-US" sz="1600" b="1" dirty="0"/>
              <a:t> </a:t>
            </a:r>
            <a:r>
              <a:rPr lang="en-US" sz="1600" b="1" dirty="0" err="1"/>
              <a:t>کوچک‌تر</a:t>
            </a:r>
            <a:endParaRPr lang="fa-IR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6955C5-5127-119C-AA0A-0DB6D14E67CB}"/>
              </a:ext>
            </a:extLst>
          </p:cNvPr>
          <p:cNvSpPr txBox="1"/>
          <p:nvPr/>
        </p:nvSpPr>
        <p:spPr>
          <a:xfrm>
            <a:off x="1453718" y="2817780"/>
            <a:ext cx="4356419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/>
              <a:t>حذف</a:t>
            </a:r>
            <a:r>
              <a:rPr lang="en-US" sz="1600" b="1" dirty="0"/>
              <a:t> </a:t>
            </a:r>
            <a:r>
              <a:rPr lang="en-US" sz="1600" b="1" dirty="0" err="1"/>
              <a:t>کدهای</a:t>
            </a:r>
            <a:r>
              <a:rPr lang="en-US" sz="1600" b="1" dirty="0"/>
              <a:t> </a:t>
            </a:r>
            <a:r>
              <a:rPr lang="en-US" sz="1600" b="1" dirty="0" err="1"/>
              <a:t>تکراری</a:t>
            </a:r>
            <a:endParaRPr lang="fa-IR" sz="16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40E236-BCDA-8B3C-EE9A-274C82E2AC06}"/>
              </a:ext>
            </a:extLst>
          </p:cNvPr>
          <p:cNvSpPr/>
          <p:nvPr/>
        </p:nvSpPr>
        <p:spPr>
          <a:xfrm>
            <a:off x="5935407" y="3409399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52EEF6-0178-CFBB-CFD1-75A60CE96817}"/>
              </a:ext>
            </a:extLst>
          </p:cNvPr>
          <p:cNvSpPr txBox="1"/>
          <p:nvPr/>
        </p:nvSpPr>
        <p:spPr>
          <a:xfrm>
            <a:off x="1508317" y="3304610"/>
            <a:ext cx="4356419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/>
              <a:t>بهبود</a:t>
            </a:r>
            <a:r>
              <a:rPr lang="en-US" sz="1600" b="1" dirty="0"/>
              <a:t> </a:t>
            </a:r>
            <a:r>
              <a:rPr lang="en-US" sz="1600" b="1" dirty="0" err="1"/>
              <a:t>نام‌گذاری</a:t>
            </a:r>
            <a:r>
              <a:rPr lang="en-US" sz="1600" b="1" dirty="0"/>
              <a:t> </a:t>
            </a:r>
            <a:r>
              <a:rPr lang="en-US" sz="1600" b="1" dirty="0" err="1"/>
              <a:t>متغیرها</a:t>
            </a:r>
            <a:r>
              <a:rPr lang="en-US" sz="1600" b="1" dirty="0"/>
              <a:t> و </a:t>
            </a:r>
            <a:r>
              <a:rPr lang="en-US" sz="1600" b="1" dirty="0" err="1"/>
              <a:t>توابع</a:t>
            </a:r>
            <a:endParaRPr lang="fa-IR" sz="1600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5DC00A8-83E2-3CDC-8A24-99ED8CCFE9E9}"/>
              </a:ext>
            </a:extLst>
          </p:cNvPr>
          <p:cNvSpPr/>
          <p:nvPr/>
        </p:nvSpPr>
        <p:spPr>
          <a:xfrm>
            <a:off x="5948632" y="3872509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FB18D9-0BC2-108B-F9C8-A74650693199}"/>
              </a:ext>
            </a:extLst>
          </p:cNvPr>
          <p:cNvSpPr/>
          <p:nvPr/>
        </p:nvSpPr>
        <p:spPr>
          <a:xfrm>
            <a:off x="5939457" y="2522828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F55F58-E6AD-2E12-48BF-3AC43DBBAE10}"/>
              </a:ext>
            </a:extLst>
          </p:cNvPr>
          <p:cNvSpPr/>
          <p:nvPr/>
        </p:nvSpPr>
        <p:spPr>
          <a:xfrm>
            <a:off x="5920179" y="2914790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4E10A-2E58-7EDB-C0DA-010E3D319FCD}"/>
              </a:ext>
            </a:extLst>
          </p:cNvPr>
          <p:cNvSpPr txBox="1"/>
          <p:nvPr/>
        </p:nvSpPr>
        <p:spPr>
          <a:xfrm>
            <a:off x="1560489" y="3751001"/>
            <a:ext cx="4356419" cy="347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600" b="1" dirty="0" err="1"/>
              <a:t>ساده‌سازی</a:t>
            </a:r>
            <a:r>
              <a:rPr lang="en-US" sz="1600" b="1" dirty="0"/>
              <a:t> </a:t>
            </a:r>
            <a:r>
              <a:rPr lang="en-US" sz="1600" b="1" dirty="0" err="1"/>
              <a:t>شرط‌ها</a:t>
            </a:r>
            <a:r>
              <a:rPr lang="en-US" sz="1600" b="1" dirty="0"/>
              <a:t> و </a:t>
            </a:r>
            <a:r>
              <a:rPr lang="en-US" sz="1600" b="1" dirty="0" err="1"/>
              <a:t>ساختارهای</a:t>
            </a:r>
            <a:r>
              <a:rPr lang="en-US" sz="1600" b="1" dirty="0"/>
              <a:t> </a:t>
            </a:r>
            <a:r>
              <a:rPr lang="en-US" sz="1600" b="1" dirty="0" err="1"/>
              <a:t>پیچیده</a:t>
            </a:r>
            <a:endParaRPr lang="fa-IR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3C154A-2BF3-DCEE-9B41-BDD81FFF1EFC}"/>
              </a:ext>
            </a:extLst>
          </p:cNvPr>
          <p:cNvSpPr txBox="1"/>
          <p:nvPr/>
        </p:nvSpPr>
        <p:spPr>
          <a:xfrm>
            <a:off x="1261948" y="5001350"/>
            <a:ext cx="10005096" cy="57136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 err="1"/>
              <a:t>اصلاح</a:t>
            </a:r>
            <a:r>
              <a:rPr lang="en-US" sz="1400" dirty="0"/>
              <a:t> Code Smell </a:t>
            </a:r>
            <a:r>
              <a:rPr lang="en-US" sz="1400" dirty="0" err="1"/>
              <a:t>باید</a:t>
            </a:r>
            <a:r>
              <a:rPr lang="en-US" sz="1400" dirty="0"/>
              <a:t> </a:t>
            </a:r>
            <a:r>
              <a:rPr lang="en-US" sz="1400" dirty="0" err="1"/>
              <a:t>به‌صورت</a:t>
            </a:r>
            <a:r>
              <a:rPr lang="en-US" sz="1400" dirty="0"/>
              <a:t> </a:t>
            </a:r>
            <a:r>
              <a:rPr lang="en-US" sz="1400" dirty="0" err="1"/>
              <a:t>تدریجی</a:t>
            </a:r>
            <a:r>
              <a:rPr lang="en-US" sz="1400" dirty="0"/>
              <a:t> و </a:t>
            </a:r>
            <a:r>
              <a:rPr lang="en-US" sz="1400" dirty="0" err="1"/>
              <a:t>همراه</a:t>
            </a:r>
            <a:r>
              <a:rPr lang="en-US" sz="1400" dirty="0"/>
              <a:t> </a:t>
            </a:r>
            <a:r>
              <a:rPr lang="en-US" sz="1400" dirty="0" err="1"/>
              <a:t>با</a:t>
            </a:r>
            <a:r>
              <a:rPr lang="en-US" sz="1400" dirty="0"/>
              <a:t> </a:t>
            </a:r>
            <a:r>
              <a:rPr lang="en-US" sz="1400" dirty="0" err="1"/>
              <a:t>بررسی</a:t>
            </a:r>
            <a:r>
              <a:rPr lang="en-US" sz="1400" dirty="0"/>
              <a:t> و </a:t>
            </a:r>
            <a:r>
              <a:rPr lang="en-US" sz="1400" dirty="0" err="1"/>
              <a:t>اجرای</a:t>
            </a:r>
            <a:r>
              <a:rPr lang="en-US" sz="1400" dirty="0"/>
              <a:t> </a:t>
            </a:r>
            <a:r>
              <a:rPr lang="en-US" sz="1400" dirty="0" err="1"/>
              <a:t>تست‌ها</a:t>
            </a:r>
            <a:r>
              <a:rPr lang="en-US" sz="1400" dirty="0"/>
              <a:t> </a:t>
            </a:r>
            <a:r>
              <a:rPr lang="en-US" sz="1400" dirty="0" err="1"/>
              <a:t>انجام</a:t>
            </a:r>
            <a:r>
              <a:rPr lang="en-US" sz="1400" dirty="0"/>
              <a:t> </a:t>
            </a:r>
            <a:r>
              <a:rPr lang="en-US" sz="1400" dirty="0" err="1"/>
              <a:t>شود</a:t>
            </a:r>
            <a:r>
              <a:rPr lang="en-US" sz="1400" dirty="0"/>
              <a:t> </a:t>
            </a:r>
            <a:r>
              <a:rPr lang="en-US" sz="1400" dirty="0" err="1"/>
              <a:t>تا</a:t>
            </a:r>
            <a:r>
              <a:rPr lang="en-US" sz="1400" dirty="0"/>
              <a:t> </a:t>
            </a:r>
            <a:r>
              <a:rPr lang="en-US" sz="1400" dirty="0" err="1"/>
              <a:t>کیفیت</a:t>
            </a:r>
            <a:r>
              <a:rPr lang="en-US" sz="1400" dirty="0"/>
              <a:t> </a:t>
            </a:r>
            <a:r>
              <a:rPr lang="en-US" sz="1400" dirty="0" err="1"/>
              <a:t>ساختار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افزایش</a:t>
            </a:r>
            <a:r>
              <a:rPr lang="en-US" sz="1400" dirty="0"/>
              <a:t> </a:t>
            </a:r>
            <a:r>
              <a:rPr lang="en-US" sz="1400" dirty="0" err="1"/>
              <a:t>یابد</a:t>
            </a:r>
            <a:r>
              <a:rPr lang="en-US" sz="1400" dirty="0"/>
              <a:t>، </a:t>
            </a:r>
            <a:r>
              <a:rPr lang="en-US" sz="1400" dirty="0" err="1"/>
              <a:t>بدون</a:t>
            </a:r>
            <a:r>
              <a:rPr lang="en-US" sz="1400" dirty="0"/>
              <a:t> </a:t>
            </a:r>
            <a:r>
              <a:rPr lang="en-US" sz="1400" dirty="0" err="1"/>
              <a:t>آنکه</a:t>
            </a:r>
            <a:r>
              <a:rPr lang="en-US" sz="1400" dirty="0"/>
              <a:t> </a:t>
            </a:r>
            <a:r>
              <a:rPr lang="en-US" sz="1400" dirty="0" err="1"/>
              <a:t>عملکرد</a:t>
            </a:r>
            <a:r>
              <a:rPr lang="en-US" sz="1400" dirty="0"/>
              <a:t> </a:t>
            </a:r>
            <a:r>
              <a:rPr lang="en-US" sz="1400" dirty="0" err="1"/>
              <a:t>مورد</a:t>
            </a:r>
            <a:r>
              <a:rPr lang="en-US" sz="1400" dirty="0"/>
              <a:t> </a:t>
            </a:r>
            <a:r>
              <a:rPr lang="en-US" sz="1400" dirty="0" err="1"/>
              <a:t>انتظار</a:t>
            </a:r>
            <a:r>
              <a:rPr lang="en-US" sz="1400" dirty="0"/>
              <a:t> </a:t>
            </a:r>
            <a:r>
              <a:rPr lang="en-US" sz="1400" dirty="0" err="1"/>
              <a:t>نرم‌افزار</a:t>
            </a:r>
            <a:r>
              <a:rPr lang="en-US" sz="1400" dirty="0"/>
              <a:t> </a:t>
            </a:r>
            <a:r>
              <a:rPr lang="en-US" sz="1400" dirty="0" err="1"/>
              <a:t>تغییر</a:t>
            </a:r>
            <a:r>
              <a:rPr lang="en-US" sz="1400" dirty="0"/>
              <a:t> </a:t>
            </a:r>
            <a:r>
              <a:rPr lang="en-US" sz="1400" dirty="0" err="1"/>
              <a:t>کند</a:t>
            </a:r>
            <a:r>
              <a:rPr lang="en-US" sz="1400" dirty="0"/>
              <a:t>.</a:t>
            </a:r>
            <a:endParaRPr lang="fa-IR" sz="1400" dirty="0"/>
          </a:p>
        </p:txBody>
      </p:sp>
    </p:spTree>
    <p:extLst>
      <p:ext uri="{BB962C8B-B14F-4D97-AF65-F5344CB8AC3E}">
        <p14:creationId xmlns:p14="http://schemas.microsoft.com/office/powerpoint/2010/main" val="2704823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0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0" grpId="0"/>
      <p:bldP spid="27" grpId="0"/>
      <p:bldP spid="63" grpId="0"/>
      <p:bldP spid="2" grpId="0"/>
      <p:bldP spid="5" grpId="0"/>
      <p:bldP spid="6" grpId="0" animBg="1"/>
      <p:bldP spid="7" grpId="0"/>
      <p:bldP spid="18" grpId="0"/>
      <p:bldP spid="19" grpId="0" animBg="1"/>
      <p:bldP spid="22" grpId="0"/>
      <p:bldP spid="25" grpId="0" animBg="1"/>
      <p:bldP spid="26" grpId="0" animBg="1"/>
      <p:bldP spid="30" grpId="0" animBg="1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BE35-E3D5-386D-C041-AA527190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D17C4E-48F6-898F-894C-8908F2EA0E99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58F37D-4533-3EDD-5DE4-D2069BCDA499}"/>
              </a:ext>
            </a:extLst>
          </p:cNvPr>
          <p:cNvSpPr/>
          <p:nvPr/>
        </p:nvSpPr>
        <p:spPr>
          <a:xfrm>
            <a:off x="6096000" y="404555"/>
            <a:ext cx="5628176" cy="548286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41B80-1352-D311-2F1C-72B356F259F2}"/>
              </a:ext>
            </a:extLst>
          </p:cNvPr>
          <p:cNvSpPr txBox="1"/>
          <p:nvPr/>
        </p:nvSpPr>
        <p:spPr>
          <a:xfrm>
            <a:off x="5956369" y="348527"/>
            <a:ext cx="5869437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نقش </a:t>
            </a:r>
            <a:r>
              <a:rPr lang="en-US" sz="3600" b="1" dirty="0" err="1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Git,GitHub</a:t>
            </a:r>
            <a:r>
              <a:rPr lang="fa-IR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در بهبود کیفیت </a:t>
            </a:r>
            <a:endParaRPr lang="en-US" sz="36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034E4-79A4-43DA-9BC9-680507664100}"/>
              </a:ext>
            </a:extLst>
          </p:cNvPr>
          <p:cNvSpPr txBox="1"/>
          <p:nvPr/>
        </p:nvSpPr>
        <p:spPr>
          <a:xfrm>
            <a:off x="1485570" y="4193083"/>
            <a:ext cx="2055916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2000" dirty="0">
                <a:solidFill>
                  <a:schemeClr val="bg1"/>
                </a:solidFill>
                <a:cs typeface="+mj-cs"/>
              </a:rPr>
              <a:t>عنوان را بنویسید</a:t>
            </a:r>
            <a:endParaRPr lang="en-US" sz="2000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3265A-EB81-9B9A-0DF1-583BE0640FC0}"/>
              </a:ext>
            </a:extLst>
          </p:cNvPr>
          <p:cNvSpPr txBox="1"/>
          <p:nvPr/>
        </p:nvSpPr>
        <p:spPr>
          <a:xfrm>
            <a:off x="1485570" y="4579342"/>
            <a:ext cx="2055916" cy="5159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fa-IR" sz="1200" dirty="0">
                <a:solidFill>
                  <a:schemeClr val="bg1"/>
                </a:solidFill>
              </a:rPr>
              <a:t>لورم ایپسوم متن ساختگی با تولید از مورد استفاده قرار گیرد.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22EE5D-247E-6E95-5875-096424439B2B}"/>
              </a:ext>
            </a:extLst>
          </p:cNvPr>
          <p:cNvSpPr txBox="1"/>
          <p:nvPr/>
        </p:nvSpPr>
        <p:spPr>
          <a:xfrm>
            <a:off x="6254478" y="4193083"/>
            <a:ext cx="2055916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2000" dirty="0">
                <a:solidFill>
                  <a:schemeClr val="bg1"/>
                </a:solidFill>
                <a:cs typeface="+mj-cs"/>
              </a:rPr>
              <a:t>عنوان را بنویسید</a:t>
            </a:r>
            <a:endParaRPr lang="en-US" sz="2000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8A7175-05F4-B7C3-F3AE-11DFD0646EEE}"/>
              </a:ext>
            </a:extLst>
          </p:cNvPr>
          <p:cNvSpPr txBox="1"/>
          <p:nvPr/>
        </p:nvSpPr>
        <p:spPr>
          <a:xfrm>
            <a:off x="6254478" y="4579342"/>
            <a:ext cx="2055916" cy="5159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fa-IR" sz="1200" dirty="0">
                <a:solidFill>
                  <a:schemeClr val="bg1"/>
                </a:solidFill>
              </a:rPr>
              <a:t>لورم ایپسوم متن ساختگی با تولید از مورد استفاده قرار گیرد.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5979C1-AA00-B1A1-620E-AAF087A7173C}"/>
              </a:ext>
            </a:extLst>
          </p:cNvPr>
          <p:cNvSpPr txBox="1"/>
          <p:nvPr/>
        </p:nvSpPr>
        <p:spPr>
          <a:xfrm>
            <a:off x="405929" y="756479"/>
            <a:ext cx="1526174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2000" dirty="0">
                <a:solidFill>
                  <a:srgbClr val="1B2A88"/>
                </a:solidFill>
              </a:rPr>
              <a:t>Version Control</a:t>
            </a:r>
            <a:endParaRPr lang="en-US" sz="2000" dirty="0">
              <a:solidFill>
                <a:srgbClr val="1B2A88"/>
              </a:solidFill>
              <a:cs typeface="+mj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253785-355D-C752-A6BA-B50A468105AA}"/>
              </a:ext>
            </a:extLst>
          </p:cNvPr>
          <p:cNvSpPr txBox="1"/>
          <p:nvPr/>
        </p:nvSpPr>
        <p:spPr>
          <a:xfrm>
            <a:off x="1135613" y="477943"/>
            <a:ext cx="2055916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fa-IR" sz="1400" b="1" dirty="0"/>
              <a:t>مهم ترین کاربردها: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DFD46C54-2E39-F41A-6DF4-65B713D3A251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E1EF6D1-B7DF-934F-8305-236BF23CB096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A4356A16-D862-C0B1-C6B7-AF848B7B4566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6171E0E-9DF6-977B-C56A-B5851BE58DFB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55F58D2-DC2E-58CD-DCB2-7CB8D59F3751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6BD2DAA4-D337-968E-7AF5-BE139425C842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6B48967-C9A3-731B-FEF5-6383AF5F5299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CC3E20F-43D9-489F-B183-52F0DF71CB04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88189387-38F1-3256-5AF2-45AC4A28B47C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15DC1AA5-F69B-115C-DD8C-47D21857A2F8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C3C272B-57F3-6AC5-5DB3-85DE1527522A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9C316C27-8DAA-94C3-8AF0-A190A743D371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686639D-6EF9-6C38-79D4-175A960A68FA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en-US" sz="2400" dirty="0" err="1">
                  <a:solidFill>
                    <a:schemeClr val="bg1"/>
                  </a:solidFill>
                  <a:cs typeface="+mj-cs"/>
                </a:rPr>
                <a:t>GitHub,Git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02BEFA8-8830-F7C1-1292-891ADCB58BDE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20FB964D-2121-43F3-ED20-10DF9A9BFD14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0E68E3A-63CF-5452-F943-B4169DD8D767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D948172-3418-B13A-27C2-7B7B32220E35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F5C6204A-F5E5-9BAA-5253-F58EA55D6505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6812CC4-DE50-A695-5A58-E1CAABB2E492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184" name="Rectangle: Top Corners Rounded 183">
            <a:extLst>
              <a:ext uri="{FF2B5EF4-FFF2-40B4-BE49-F238E27FC236}">
                <a16:creationId xmlns:a16="http://schemas.microsoft.com/office/drawing/2014/main" id="{0C6D2D58-2EF8-D36C-F96B-FA21901AAC66}"/>
              </a:ext>
            </a:extLst>
          </p:cNvPr>
          <p:cNvSpPr/>
          <p:nvPr/>
        </p:nvSpPr>
        <p:spPr>
          <a:xfrm>
            <a:off x="100483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: Top Corners Rounded 184">
            <a:extLst>
              <a:ext uri="{FF2B5EF4-FFF2-40B4-BE49-F238E27FC236}">
                <a16:creationId xmlns:a16="http://schemas.microsoft.com/office/drawing/2014/main" id="{3C6BB1D6-7A07-1674-BB66-4E5632A35A17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: Top Corners Rounded 185">
            <a:extLst>
              <a:ext uri="{FF2B5EF4-FFF2-40B4-BE49-F238E27FC236}">
                <a16:creationId xmlns:a16="http://schemas.microsoft.com/office/drawing/2014/main" id="{72FCC0B9-9172-7A63-9BE2-2479B2A658B7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: Top Corners Rounded 186">
            <a:extLst>
              <a:ext uri="{FF2B5EF4-FFF2-40B4-BE49-F238E27FC236}">
                <a16:creationId xmlns:a16="http://schemas.microsoft.com/office/drawing/2014/main" id="{3B549A0A-17E4-A2A5-9FD4-5A5AA79FC64E}"/>
              </a:ext>
            </a:extLst>
          </p:cNvPr>
          <p:cNvSpPr/>
          <p:nvPr/>
        </p:nvSpPr>
        <p:spPr>
          <a:xfrm>
            <a:off x="4720736" y="6858000"/>
            <a:ext cx="1777490" cy="15012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: Top Corners Rounded 187">
            <a:extLst>
              <a:ext uri="{FF2B5EF4-FFF2-40B4-BE49-F238E27FC236}">
                <a16:creationId xmlns:a16="http://schemas.microsoft.com/office/drawing/2014/main" id="{6934C744-0894-CDC5-9C11-7D8CE4B947D0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: Top Corners Rounded 188">
            <a:extLst>
              <a:ext uri="{FF2B5EF4-FFF2-40B4-BE49-F238E27FC236}">
                <a16:creationId xmlns:a16="http://schemas.microsoft.com/office/drawing/2014/main" id="{61F7C21C-8EA7-CE3D-EE8D-86B721797ADD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Slide Number Placeholder 189">
            <a:extLst>
              <a:ext uri="{FF2B5EF4-FFF2-40B4-BE49-F238E27FC236}">
                <a16:creationId xmlns:a16="http://schemas.microsoft.com/office/drawing/2014/main" id="{74FC9ED6-E4E8-D782-2BAB-E81C1CA4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10</a:t>
            </a:fld>
            <a:endParaRPr lang="en-US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59F955BD-DBD5-40A2-6C55-F3AB27F9F697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C9D9CC99-EA5D-92BC-B91B-81FA19390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17" name="Freeform 38">
            <a:extLst>
              <a:ext uri="{FF2B5EF4-FFF2-40B4-BE49-F238E27FC236}">
                <a16:creationId xmlns:a16="http://schemas.microsoft.com/office/drawing/2014/main" id="{5C78D201-C4C5-8DA6-3809-6EC6CEBBC261}"/>
              </a:ext>
            </a:extLst>
          </p:cNvPr>
          <p:cNvSpPr>
            <a:spLocks noEditPoints="1"/>
          </p:cNvSpPr>
          <p:nvPr/>
        </p:nvSpPr>
        <p:spPr bwMode="auto">
          <a:xfrm rot="4906186">
            <a:off x="181422" y="571290"/>
            <a:ext cx="2070100" cy="1614488"/>
          </a:xfrm>
          <a:custGeom>
            <a:avLst/>
            <a:gdLst>
              <a:gd name="T0" fmla="*/ 544 w 544"/>
              <a:gd name="T1" fmla="*/ 207 h 424"/>
              <a:gd name="T2" fmla="*/ 518 w 544"/>
              <a:gd name="T3" fmla="*/ 188 h 424"/>
              <a:gd name="T4" fmla="*/ 423 w 544"/>
              <a:gd name="T5" fmla="*/ 192 h 424"/>
              <a:gd name="T6" fmla="*/ 212 w 544"/>
              <a:gd name="T7" fmla="*/ 0 h 424"/>
              <a:gd name="T8" fmla="*/ 0 w 544"/>
              <a:gd name="T9" fmla="*/ 212 h 424"/>
              <a:gd name="T10" fmla="*/ 212 w 544"/>
              <a:gd name="T11" fmla="*/ 424 h 424"/>
              <a:gd name="T12" fmla="*/ 423 w 544"/>
              <a:gd name="T13" fmla="*/ 232 h 424"/>
              <a:gd name="T14" fmla="*/ 520 w 544"/>
              <a:gd name="T15" fmla="*/ 227 h 424"/>
              <a:gd name="T16" fmla="*/ 544 w 544"/>
              <a:gd name="T17" fmla="*/ 207 h 424"/>
              <a:gd name="T18" fmla="*/ 212 w 544"/>
              <a:gd name="T19" fmla="*/ 384 h 424"/>
              <a:gd name="T20" fmla="*/ 40 w 544"/>
              <a:gd name="T21" fmla="*/ 212 h 424"/>
              <a:gd name="T22" fmla="*/ 212 w 544"/>
              <a:gd name="T23" fmla="*/ 40 h 424"/>
              <a:gd name="T24" fmla="*/ 384 w 544"/>
              <a:gd name="T25" fmla="*/ 212 h 424"/>
              <a:gd name="T26" fmla="*/ 212 w 544"/>
              <a:gd name="T27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" h="424">
                <a:moveTo>
                  <a:pt x="544" y="207"/>
                </a:moveTo>
                <a:cubicBezTo>
                  <a:pt x="518" y="188"/>
                  <a:pt x="518" y="188"/>
                  <a:pt x="518" y="188"/>
                </a:cubicBezTo>
                <a:cubicBezTo>
                  <a:pt x="486" y="190"/>
                  <a:pt x="455" y="191"/>
                  <a:pt x="423" y="192"/>
                </a:cubicBezTo>
                <a:cubicBezTo>
                  <a:pt x="413" y="84"/>
                  <a:pt x="322" y="0"/>
                  <a:pt x="212" y="0"/>
                </a:cubicBez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2" y="424"/>
                  <a:pt x="413" y="339"/>
                  <a:pt x="423" y="232"/>
                </a:cubicBezTo>
                <a:cubicBezTo>
                  <a:pt x="455" y="231"/>
                  <a:pt x="486" y="229"/>
                  <a:pt x="520" y="227"/>
                </a:cubicBezTo>
                <a:lnTo>
                  <a:pt x="544" y="207"/>
                </a:ln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8" name="Freeform 39">
            <a:extLst>
              <a:ext uri="{FF2B5EF4-FFF2-40B4-BE49-F238E27FC236}">
                <a16:creationId xmlns:a16="http://schemas.microsoft.com/office/drawing/2014/main" id="{570E560E-462E-C389-AA69-0CA69E483697}"/>
              </a:ext>
            </a:extLst>
          </p:cNvPr>
          <p:cNvSpPr>
            <a:spLocks noEditPoints="1"/>
          </p:cNvSpPr>
          <p:nvPr/>
        </p:nvSpPr>
        <p:spPr bwMode="auto">
          <a:xfrm rot="5616578">
            <a:off x="281310" y="2707912"/>
            <a:ext cx="2363787" cy="1614488"/>
          </a:xfrm>
          <a:custGeom>
            <a:avLst/>
            <a:gdLst>
              <a:gd name="T0" fmla="*/ 621 w 621"/>
              <a:gd name="T1" fmla="*/ 115 h 424"/>
              <a:gd name="T2" fmla="*/ 587 w 621"/>
              <a:gd name="T3" fmla="*/ 105 h 424"/>
              <a:gd name="T4" fmla="*/ 513 w 621"/>
              <a:gd name="T5" fmla="*/ 135 h 424"/>
              <a:gd name="T6" fmla="*/ 315 w 621"/>
              <a:gd name="T7" fmla="*/ 0 h 424"/>
              <a:gd name="T8" fmla="*/ 103 w 621"/>
              <a:gd name="T9" fmla="*/ 212 h 424"/>
              <a:gd name="T10" fmla="*/ 104 w 621"/>
              <a:gd name="T11" fmla="*/ 225 h 424"/>
              <a:gd name="T12" fmla="*/ 0 w 621"/>
              <a:gd name="T13" fmla="*/ 234 h 424"/>
              <a:gd name="T14" fmla="*/ 26 w 621"/>
              <a:gd name="T15" fmla="*/ 255 h 424"/>
              <a:gd name="T16" fmla="*/ 3 w 621"/>
              <a:gd name="T17" fmla="*/ 274 h 424"/>
              <a:gd name="T18" fmla="*/ 110 w 621"/>
              <a:gd name="T19" fmla="*/ 264 h 424"/>
              <a:gd name="T20" fmla="*/ 315 w 621"/>
              <a:gd name="T21" fmla="*/ 424 h 424"/>
              <a:gd name="T22" fmla="*/ 527 w 621"/>
              <a:gd name="T23" fmla="*/ 212 h 424"/>
              <a:gd name="T24" fmla="*/ 524 w 621"/>
              <a:gd name="T25" fmla="*/ 175 h 424"/>
              <a:gd name="T26" fmla="*/ 603 w 621"/>
              <a:gd name="T27" fmla="*/ 144 h 424"/>
              <a:gd name="T28" fmla="*/ 621 w 621"/>
              <a:gd name="T29" fmla="*/ 115 h 424"/>
              <a:gd name="T30" fmla="*/ 315 w 621"/>
              <a:gd name="T31" fmla="*/ 384 h 424"/>
              <a:gd name="T32" fmla="*/ 143 w 621"/>
              <a:gd name="T33" fmla="*/ 212 h 424"/>
              <a:gd name="T34" fmla="*/ 315 w 621"/>
              <a:gd name="T35" fmla="*/ 40 h 424"/>
              <a:gd name="T36" fmla="*/ 487 w 621"/>
              <a:gd name="T37" fmla="*/ 212 h 424"/>
              <a:gd name="T38" fmla="*/ 315 w 621"/>
              <a:gd name="T39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21" h="424">
                <a:moveTo>
                  <a:pt x="621" y="115"/>
                </a:moveTo>
                <a:cubicBezTo>
                  <a:pt x="587" y="105"/>
                  <a:pt x="587" y="105"/>
                  <a:pt x="587" y="105"/>
                </a:cubicBezTo>
                <a:cubicBezTo>
                  <a:pt x="563" y="116"/>
                  <a:pt x="538" y="126"/>
                  <a:pt x="513" y="135"/>
                </a:cubicBezTo>
                <a:cubicBezTo>
                  <a:pt x="482" y="56"/>
                  <a:pt x="405" y="0"/>
                  <a:pt x="315" y="0"/>
                </a:cubicBezTo>
                <a:cubicBezTo>
                  <a:pt x="198" y="0"/>
                  <a:pt x="103" y="95"/>
                  <a:pt x="103" y="212"/>
                </a:cubicBezTo>
                <a:cubicBezTo>
                  <a:pt x="103" y="216"/>
                  <a:pt x="103" y="221"/>
                  <a:pt x="104" y="225"/>
                </a:cubicBezTo>
                <a:cubicBezTo>
                  <a:pt x="70" y="229"/>
                  <a:pt x="35" y="232"/>
                  <a:pt x="0" y="234"/>
                </a:cubicBezTo>
                <a:cubicBezTo>
                  <a:pt x="26" y="255"/>
                  <a:pt x="26" y="255"/>
                  <a:pt x="26" y="255"/>
                </a:cubicBezTo>
                <a:cubicBezTo>
                  <a:pt x="3" y="274"/>
                  <a:pt x="3" y="274"/>
                  <a:pt x="3" y="274"/>
                </a:cubicBezTo>
                <a:cubicBezTo>
                  <a:pt x="40" y="271"/>
                  <a:pt x="75" y="268"/>
                  <a:pt x="110" y="264"/>
                </a:cubicBezTo>
                <a:cubicBezTo>
                  <a:pt x="133" y="356"/>
                  <a:pt x="216" y="424"/>
                  <a:pt x="315" y="424"/>
                </a:cubicBezTo>
                <a:cubicBezTo>
                  <a:pt x="432" y="424"/>
                  <a:pt x="527" y="328"/>
                  <a:pt x="527" y="212"/>
                </a:cubicBezTo>
                <a:cubicBezTo>
                  <a:pt x="527" y="199"/>
                  <a:pt x="526" y="187"/>
                  <a:pt x="524" y="175"/>
                </a:cubicBezTo>
                <a:cubicBezTo>
                  <a:pt x="551" y="165"/>
                  <a:pt x="577" y="155"/>
                  <a:pt x="603" y="144"/>
                </a:cubicBezTo>
                <a:lnTo>
                  <a:pt x="621" y="115"/>
                </a:lnTo>
                <a:close/>
                <a:moveTo>
                  <a:pt x="315" y="384"/>
                </a:moveTo>
                <a:cubicBezTo>
                  <a:pt x="220" y="384"/>
                  <a:pt x="143" y="306"/>
                  <a:pt x="143" y="212"/>
                </a:cubicBezTo>
                <a:cubicBezTo>
                  <a:pt x="143" y="117"/>
                  <a:pt x="220" y="40"/>
                  <a:pt x="315" y="40"/>
                </a:cubicBezTo>
                <a:cubicBezTo>
                  <a:pt x="410" y="40"/>
                  <a:pt x="487" y="117"/>
                  <a:pt x="487" y="212"/>
                </a:cubicBezTo>
                <a:cubicBezTo>
                  <a:pt x="487" y="306"/>
                  <a:pt x="410" y="384"/>
                  <a:pt x="315" y="38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9" name="Freeform 40">
            <a:extLst>
              <a:ext uri="{FF2B5EF4-FFF2-40B4-BE49-F238E27FC236}">
                <a16:creationId xmlns:a16="http://schemas.microsoft.com/office/drawing/2014/main" id="{81E79837-CE97-2A03-FD91-B258186D6F79}"/>
              </a:ext>
            </a:extLst>
          </p:cNvPr>
          <p:cNvSpPr>
            <a:spLocks noEditPoints="1"/>
          </p:cNvSpPr>
          <p:nvPr/>
        </p:nvSpPr>
        <p:spPr bwMode="auto">
          <a:xfrm rot="684127">
            <a:off x="6209967" y="3051258"/>
            <a:ext cx="1612900" cy="1709738"/>
          </a:xfrm>
          <a:custGeom>
            <a:avLst/>
            <a:gdLst>
              <a:gd name="T0" fmla="*/ 212 w 424"/>
              <a:gd name="T1" fmla="*/ 0 h 449"/>
              <a:gd name="T2" fmla="*/ 0 w 424"/>
              <a:gd name="T3" fmla="*/ 212 h 449"/>
              <a:gd name="T4" fmla="*/ 67 w 424"/>
              <a:gd name="T5" fmla="*/ 366 h 449"/>
              <a:gd name="T6" fmla="*/ 17 w 424"/>
              <a:gd name="T7" fmla="*/ 423 h 449"/>
              <a:gd name="T8" fmla="*/ 50 w 424"/>
              <a:gd name="T9" fmla="*/ 419 h 449"/>
              <a:gd name="T10" fmla="*/ 48 w 424"/>
              <a:gd name="T11" fmla="*/ 449 h 449"/>
              <a:gd name="T12" fmla="*/ 98 w 424"/>
              <a:gd name="T13" fmla="*/ 391 h 449"/>
              <a:gd name="T14" fmla="*/ 212 w 424"/>
              <a:gd name="T15" fmla="*/ 424 h 449"/>
              <a:gd name="T16" fmla="*/ 424 w 424"/>
              <a:gd name="T17" fmla="*/ 212 h 449"/>
              <a:gd name="T18" fmla="*/ 212 w 424"/>
              <a:gd name="T19" fmla="*/ 0 h 449"/>
              <a:gd name="T20" fmla="*/ 212 w 424"/>
              <a:gd name="T21" fmla="*/ 384 h 449"/>
              <a:gd name="T22" fmla="*/ 40 w 424"/>
              <a:gd name="T23" fmla="*/ 212 h 449"/>
              <a:gd name="T24" fmla="*/ 212 w 424"/>
              <a:gd name="T25" fmla="*/ 40 h 449"/>
              <a:gd name="T26" fmla="*/ 384 w 424"/>
              <a:gd name="T27" fmla="*/ 212 h 449"/>
              <a:gd name="T28" fmla="*/ 212 w 424"/>
              <a:gd name="T29" fmla="*/ 3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4" h="449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272"/>
                  <a:pt x="26" y="327"/>
                  <a:pt x="67" y="366"/>
                </a:cubicBezTo>
                <a:cubicBezTo>
                  <a:pt x="50" y="386"/>
                  <a:pt x="33" y="405"/>
                  <a:pt x="17" y="423"/>
                </a:cubicBezTo>
                <a:cubicBezTo>
                  <a:pt x="50" y="419"/>
                  <a:pt x="50" y="419"/>
                  <a:pt x="50" y="419"/>
                </a:cubicBezTo>
                <a:cubicBezTo>
                  <a:pt x="48" y="449"/>
                  <a:pt x="48" y="449"/>
                  <a:pt x="48" y="449"/>
                </a:cubicBezTo>
                <a:cubicBezTo>
                  <a:pt x="64" y="431"/>
                  <a:pt x="81" y="411"/>
                  <a:pt x="98" y="391"/>
                </a:cubicBezTo>
                <a:cubicBezTo>
                  <a:pt x="131" y="412"/>
                  <a:pt x="170" y="424"/>
                  <a:pt x="212" y="424"/>
                </a:cubicBezTo>
                <a:cubicBezTo>
                  <a:pt x="329" y="424"/>
                  <a:pt x="424" y="329"/>
                  <a:pt x="424" y="212"/>
                </a:cubicBezTo>
                <a:cubicBezTo>
                  <a:pt x="424" y="95"/>
                  <a:pt x="329" y="0"/>
                  <a:pt x="212" y="0"/>
                </a:cubicBez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20" name="Freeform 41">
            <a:extLst>
              <a:ext uri="{FF2B5EF4-FFF2-40B4-BE49-F238E27FC236}">
                <a16:creationId xmlns:a16="http://schemas.microsoft.com/office/drawing/2014/main" id="{04DB50A3-9609-FE3E-41B7-5AE77E30BCFA}"/>
              </a:ext>
            </a:extLst>
          </p:cNvPr>
          <p:cNvSpPr>
            <a:spLocks noEditPoints="1"/>
          </p:cNvSpPr>
          <p:nvPr/>
        </p:nvSpPr>
        <p:spPr bwMode="auto">
          <a:xfrm rot="2881174">
            <a:off x="1776925" y="4095899"/>
            <a:ext cx="1879600" cy="1620838"/>
          </a:xfrm>
          <a:custGeom>
            <a:avLst/>
            <a:gdLst>
              <a:gd name="T0" fmla="*/ 492 w 494"/>
              <a:gd name="T1" fmla="*/ 31 h 426"/>
              <a:gd name="T2" fmla="*/ 494 w 494"/>
              <a:gd name="T3" fmla="*/ 0 h 426"/>
              <a:gd name="T4" fmla="*/ 462 w 494"/>
              <a:gd name="T5" fmla="*/ 4 h 426"/>
              <a:gd name="T6" fmla="*/ 408 w 494"/>
              <a:gd name="T7" fmla="*/ 58 h 426"/>
              <a:gd name="T8" fmla="*/ 264 w 494"/>
              <a:gd name="T9" fmla="*/ 2 h 426"/>
              <a:gd name="T10" fmla="*/ 52 w 494"/>
              <a:gd name="T11" fmla="*/ 214 h 426"/>
              <a:gd name="T12" fmla="*/ 75 w 494"/>
              <a:gd name="T13" fmla="*/ 309 h 426"/>
              <a:gd name="T14" fmla="*/ 0 w 494"/>
              <a:gd name="T15" fmla="*/ 347 h 426"/>
              <a:gd name="T16" fmla="*/ 35 w 494"/>
              <a:gd name="T17" fmla="*/ 356 h 426"/>
              <a:gd name="T18" fmla="*/ 18 w 494"/>
              <a:gd name="T19" fmla="*/ 384 h 426"/>
              <a:gd name="T20" fmla="*/ 27 w 494"/>
              <a:gd name="T21" fmla="*/ 380 h 426"/>
              <a:gd name="T22" fmla="*/ 98 w 494"/>
              <a:gd name="T23" fmla="*/ 345 h 426"/>
              <a:gd name="T24" fmla="*/ 264 w 494"/>
              <a:gd name="T25" fmla="*/ 426 h 426"/>
              <a:gd name="T26" fmla="*/ 476 w 494"/>
              <a:gd name="T27" fmla="*/ 214 h 426"/>
              <a:gd name="T28" fmla="*/ 436 w 494"/>
              <a:gd name="T29" fmla="*/ 89 h 426"/>
              <a:gd name="T30" fmla="*/ 492 w 494"/>
              <a:gd name="T31" fmla="*/ 31 h 426"/>
              <a:gd name="T32" fmla="*/ 264 w 494"/>
              <a:gd name="T33" fmla="*/ 386 h 426"/>
              <a:gd name="T34" fmla="*/ 92 w 494"/>
              <a:gd name="T35" fmla="*/ 214 h 426"/>
              <a:gd name="T36" fmla="*/ 264 w 494"/>
              <a:gd name="T37" fmla="*/ 42 h 426"/>
              <a:gd name="T38" fmla="*/ 436 w 494"/>
              <a:gd name="T39" fmla="*/ 214 h 426"/>
              <a:gd name="T40" fmla="*/ 264 w 494"/>
              <a:gd name="T41" fmla="*/ 38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94" h="426">
                <a:moveTo>
                  <a:pt x="492" y="31"/>
                </a:moveTo>
                <a:cubicBezTo>
                  <a:pt x="494" y="0"/>
                  <a:pt x="494" y="0"/>
                  <a:pt x="494" y="0"/>
                </a:cubicBezTo>
                <a:cubicBezTo>
                  <a:pt x="462" y="4"/>
                  <a:pt x="462" y="4"/>
                  <a:pt x="462" y="4"/>
                </a:cubicBezTo>
                <a:cubicBezTo>
                  <a:pt x="442" y="25"/>
                  <a:pt x="426" y="41"/>
                  <a:pt x="408" y="58"/>
                </a:cubicBezTo>
                <a:cubicBezTo>
                  <a:pt x="370" y="23"/>
                  <a:pt x="320" y="2"/>
                  <a:pt x="264" y="2"/>
                </a:cubicBezTo>
                <a:cubicBezTo>
                  <a:pt x="147" y="2"/>
                  <a:pt x="52" y="97"/>
                  <a:pt x="52" y="214"/>
                </a:cubicBezTo>
                <a:cubicBezTo>
                  <a:pt x="52" y="248"/>
                  <a:pt x="61" y="281"/>
                  <a:pt x="75" y="309"/>
                </a:cubicBezTo>
                <a:cubicBezTo>
                  <a:pt x="50" y="322"/>
                  <a:pt x="26" y="335"/>
                  <a:pt x="0" y="347"/>
                </a:cubicBezTo>
                <a:cubicBezTo>
                  <a:pt x="35" y="356"/>
                  <a:pt x="35" y="356"/>
                  <a:pt x="35" y="356"/>
                </a:cubicBezTo>
                <a:cubicBezTo>
                  <a:pt x="18" y="384"/>
                  <a:pt x="18" y="384"/>
                  <a:pt x="18" y="384"/>
                </a:cubicBezTo>
                <a:cubicBezTo>
                  <a:pt x="21" y="383"/>
                  <a:pt x="24" y="382"/>
                  <a:pt x="27" y="380"/>
                </a:cubicBezTo>
                <a:cubicBezTo>
                  <a:pt x="51" y="369"/>
                  <a:pt x="74" y="357"/>
                  <a:pt x="98" y="345"/>
                </a:cubicBezTo>
                <a:cubicBezTo>
                  <a:pt x="136" y="394"/>
                  <a:pt x="197" y="426"/>
                  <a:pt x="264" y="426"/>
                </a:cubicBezTo>
                <a:cubicBezTo>
                  <a:pt x="381" y="426"/>
                  <a:pt x="476" y="331"/>
                  <a:pt x="476" y="214"/>
                </a:cubicBezTo>
                <a:cubicBezTo>
                  <a:pt x="476" y="167"/>
                  <a:pt x="461" y="124"/>
                  <a:pt x="436" y="89"/>
                </a:cubicBezTo>
                <a:cubicBezTo>
                  <a:pt x="455" y="70"/>
                  <a:pt x="471" y="53"/>
                  <a:pt x="492" y="31"/>
                </a:cubicBezTo>
                <a:close/>
                <a:moveTo>
                  <a:pt x="264" y="386"/>
                </a:moveTo>
                <a:cubicBezTo>
                  <a:pt x="169" y="386"/>
                  <a:pt x="92" y="309"/>
                  <a:pt x="92" y="214"/>
                </a:cubicBezTo>
                <a:cubicBezTo>
                  <a:pt x="92" y="119"/>
                  <a:pt x="169" y="42"/>
                  <a:pt x="264" y="42"/>
                </a:cubicBezTo>
                <a:cubicBezTo>
                  <a:pt x="359" y="42"/>
                  <a:pt x="436" y="119"/>
                  <a:pt x="436" y="214"/>
                </a:cubicBezTo>
                <a:cubicBezTo>
                  <a:pt x="436" y="309"/>
                  <a:pt x="359" y="386"/>
                  <a:pt x="264" y="386"/>
                </a:cubicBez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27" name="Freeform 39">
            <a:extLst>
              <a:ext uri="{FF2B5EF4-FFF2-40B4-BE49-F238E27FC236}">
                <a16:creationId xmlns:a16="http://schemas.microsoft.com/office/drawing/2014/main" id="{80872E65-1BF8-1AFC-8748-3330998CA898}"/>
              </a:ext>
            </a:extLst>
          </p:cNvPr>
          <p:cNvSpPr>
            <a:spLocks noEditPoints="1"/>
          </p:cNvSpPr>
          <p:nvPr/>
        </p:nvSpPr>
        <p:spPr bwMode="auto">
          <a:xfrm>
            <a:off x="3890691" y="4099074"/>
            <a:ext cx="2363787" cy="1614488"/>
          </a:xfrm>
          <a:custGeom>
            <a:avLst/>
            <a:gdLst>
              <a:gd name="T0" fmla="*/ 621 w 621"/>
              <a:gd name="T1" fmla="*/ 115 h 424"/>
              <a:gd name="T2" fmla="*/ 587 w 621"/>
              <a:gd name="T3" fmla="*/ 105 h 424"/>
              <a:gd name="T4" fmla="*/ 513 w 621"/>
              <a:gd name="T5" fmla="*/ 135 h 424"/>
              <a:gd name="T6" fmla="*/ 315 w 621"/>
              <a:gd name="T7" fmla="*/ 0 h 424"/>
              <a:gd name="T8" fmla="*/ 103 w 621"/>
              <a:gd name="T9" fmla="*/ 212 h 424"/>
              <a:gd name="T10" fmla="*/ 104 w 621"/>
              <a:gd name="T11" fmla="*/ 225 h 424"/>
              <a:gd name="T12" fmla="*/ 0 w 621"/>
              <a:gd name="T13" fmla="*/ 234 h 424"/>
              <a:gd name="T14" fmla="*/ 26 w 621"/>
              <a:gd name="T15" fmla="*/ 255 h 424"/>
              <a:gd name="T16" fmla="*/ 3 w 621"/>
              <a:gd name="T17" fmla="*/ 274 h 424"/>
              <a:gd name="T18" fmla="*/ 110 w 621"/>
              <a:gd name="T19" fmla="*/ 264 h 424"/>
              <a:gd name="T20" fmla="*/ 315 w 621"/>
              <a:gd name="T21" fmla="*/ 424 h 424"/>
              <a:gd name="T22" fmla="*/ 527 w 621"/>
              <a:gd name="T23" fmla="*/ 212 h 424"/>
              <a:gd name="T24" fmla="*/ 524 w 621"/>
              <a:gd name="T25" fmla="*/ 175 h 424"/>
              <a:gd name="T26" fmla="*/ 603 w 621"/>
              <a:gd name="T27" fmla="*/ 144 h 424"/>
              <a:gd name="T28" fmla="*/ 621 w 621"/>
              <a:gd name="T29" fmla="*/ 115 h 424"/>
              <a:gd name="T30" fmla="*/ 315 w 621"/>
              <a:gd name="T31" fmla="*/ 384 h 424"/>
              <a:gd name="T32" fmla="*/ 143 w 621"/>
              <a:gd name="T33" fmla="*/ 212 h 424"/>
              <a:gd name="T34" fmla="*/ 315 w 621"/>
              <a:gd name="T35" fmla="*/ 40 h 424"/>
              <a:gd name="T36" fmla="*/ 487 w 621"/>
              <a:gd name="T37" fmla="*/ 212 h 424"/>
              <a:gd name="T38" fmla="*/ 315 w 621"/>
              <a:gd name="T39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21" h="424">
                <a:moveTo>
                  <a:pt x="621" y="115"/>
                </a:moveTo>
                <a:cubicBezTo>
                  <a:pt x="587" y="105"/>
                  <a:pt x="587" y="105"/>
                  <a:pt x="587" y="105"/>
                </a:cubicBezTo>
                <a:cubicBezTo>
                  <a:pt x="563" y="116"/>
                  <a:pt x="538" y="126"/>
                  <a:pt x="513" y="135"/>
                </a:cubicBezTo>
                <a:cubicBezTo>
                  <a:pt x="482" y="56"/>
                  <a:pt x="405" y="0"/>
                  <a:pt x="315" y="0"/>
                </a:cubicBezTo>
                <a:cubicBezTo>
                  <a:pt x="198" y="0"/>
                  <a:pt x="103" y="95"/>
                  <a:pt x="103" y="212"/>
                </a:cubicBezTo>
                <a:cubicBezTo>
                  <a:pt x="103" y="216"/>
                  <a:pt x="103" y="221"/>
                  <a:pt x="104" y="225"/>
                </a:cubicBezTo>
                <a:cubicBezTo>
                  <a:pt x="70" y="229"/>
                  <a:pt x="35" y="232"/>
                  <a:pt x="0" y="234"/>
                </a:cubicBezTo>
                <a:cubicBezTo>
                  <a:pt x="26" y="255"/>
                  <a:pt x="26" y="255"/>
                  <a:pt x="26" y="255"/>
                </a:cubicBezTo>
                <a:cubicBezTo>
                  <a:pt x="3" y="274"/>
                  <a:pt x="3" y="274"/>
                  <a:pt x="3" y="274"/>
                </a:cubicBezTo>
                <a:cubicBezTo>
                  <a:pt x="40" y="271"/>
                  <a:pt x="75" y="268"/>
                  <a:pt x="110" y="264"/>
                </a:cubicBezTo>
                <a:cubicBezTo>
                  <a:pt x="133" y="356"/>
                  <a:pt x="216" y="424"/>
                  <a:pt x="315" y="424"/>
                </a:cubicBezTo>
                <a:cubicBezTo>
                  <a:pt x="432" y="424"/>
                  <a:pt x="527" y="328"/>
                  <a:pt x="527" y="212"/>
                </a:cubicBezTo>
                <a:cubicBezTo>
                  <a:pt x="527" y="199"/>
                  <a:pt x="526" y="187"/>
                  <a:pt x="524" y="175"/>
                </a:cubicBezTo>
                <a:cubicBezTo>
                  <a:pt x="551" y="165"/>
                  <a:pt x="577" y="155"/>
                  <a:pt x="603" y="144"/>
                </a:cubicBezTo>
                <a:lnTo>
                  <a:pt x="621" y="115"/>
                </a:lnTo>
                <a:close/>
                <a:moveTo>
                  <a:pt x="315" y="384"/>
                </a:moveTo>
                <a:cubicBezTo>
                  <a:pt x="220" y="384"/>
                  <a:pt x="143" y="306"/>
                  <a:pt x="143" y="212"/>
                </a:cubicBezTo>
                <a:cubicBezTo>
                  <a:pt x="143" y="117"/>
                  <a:pt x="220" y="40"/>
                  <a:pt x="315" y="40"/>
                </a:cubicBezTo>
                <a:cubicBezTo>
                  <a:pt x="410" y="40"/>
                  <a:pt x="487" y="117"/>
                  <a:pt x="487" y="212"/>
                </a:cubicBezTo>
                <a:cubicBezTo>
                  <a:pt x="487" y="306"/>
                  <a:pt x="410" y="384"/>
                  <a:pt x="315" y="38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B89DF6-F336-B64C-A944-F6BC854D9312}"/>
              </a:ext>
            </a:extLst>
          </p:cNvPr>
          <p:cNvSpPr txBox="1"/>
          <p:nvPr/>
        </p:nvSpPr>
        <p:spPr>
          <a:xfrm>
            <a:off x="6210095" y="1100607"/>
            <a:ext cx="5686629" cy="160549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400" dirty="0"/>
              <a:t>Git </a:t>
            </a:r>
            <a:r>
              <a:rPr lang="en-US" sz="1400" dirty="0" err="1"/>
              <a:t>یک</a:t>
            </a:r>
            <a:r>
              <a:rPr lang="en-US" sz="1400" dirty="0"/>
              <a:t> </a:t>
            </a:r>
            <a:r>
              <a:rPr lang="en-US" sz="1400" dirty="0" err="1"/>
              <a:t>سیستم</a:t>
            </a:r>
            <a:r>
              <a:rPr lang="en-US" sz="1400" dirty="0"/>
              <a:t> </a:t>
            </a:r>
            <a:r>
              <a:rPr lang="en-US" sz="1400" dirty="0" err="1"/>
              <a:t>کنترل</a:t>
            </a:r>
            <a:r>
              <a:rPr lang="en-US" sz="1400" dirty="0"/>
              <a:t> </a:t>
            </a:r>
            <a:r>
              <a:rPr lang="en-US" sz="1400" dirty="0" err="1"/>
              <a:t>نسخه</a:t>
            </a:r>
            <a:r>
              <a:rPr lang="en-US" sz="1400" dirty="0"/>
              <a:t> </a:t>
            </a:r>
            <a:r>
              <a:rPr lang="en-US" sz="1400" dirty="0" err="1"/>
              <a:t>است</a:t>
            </a:r>
            <a:r>
              <a:rPr lang="en-US" sz="1400" dirty="0"/>
              <a:t> </a:t>
            </a:r>
            <a:r>
              <a:rPr lang="en-US" sz="1400" dirty="0" err="1"/>
              <a:t>که</a:t>
            </a:r>
            <a:r>
              <a:rPr lang="en-US" sz="1400" dirty="0"/>
              <a:t> </a:t>
            </a:r>
            <a:r>
              <a:rPr lang="en-US" sz="1400" dirty="0" err="1"/>
              <a:t>تغییرات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را</a:t>
            </a:r>
            <a:r>
              <a:rPr lang="en-US" sz="1400" dirty="0"/>
              <a:t> </a:t>
            </a:r>
            <a:r>
              <a:rPr lang="en-US" sz="1400" dirty="0" err="1"/>
              <a:t>ثبت</a:t>
            </a:r>
            <a:r>
              <a:rPr lang="en-US" sz="1400" dirty="0"/>
              <a:t> و </a:t>
            </a:r>
            <a:r>
              <a:rPr lang="en-US" sz="1400" dirty="0" err="1"/>
              <a:t>مدیریت</a:t>
            </a:r>
            <a:r>
              <a:rPr lang="en-US" sz="1400" dirty="0"/>
              <a:t> </a:t>
            </a:r>
            <a:r>
              <a:rPr lang="en-US" sz="1400" dirty="0" err="1"/>
              <a:t>می‌کند</a:t>
            </a:r>
            <a:r>
              <a:rPr lang="en-US" sz="1400" dirty="0"/>
              <a:t>. GitHub </a:t>
            </a:r>
            <a:r>
              <a:rPr lang="en-US" sz="1400" dirty="0" err="1"/>
              <a:t>نیز</a:t>
            </a:r>
            <a:r>
              <a:rPr lang="en-US" sz="1400" dirty="0"/>
              <a:t> </a:t>
            </a:r>
            <a:r>
              <a:rPr lang="en-US" sz="1400" dirty="0" err="1"/>
              <a:t>پلتفرمی</a:t>
            </a:r>
            <a:r>
              <a:rPr lang="en-US" sz="1400" dirty="0"/>
              <a:t> </a:t>
            </a:r>
            <a:r>
              <a:rPr lang="en-US" sz="1400" dirty="0" err="1"/>
              <a:t>برای</a:t>
            </a:r>
            <a:r>
              <a:rPr lang="en-US" sz="1400" dirty="0"/>
              <a:t> </a:t>
            </a:r>
            <a:r>
              <a:rPr lang="en-US" sz="1400" dirty="0" err="1"/>
              <a:t>میزبانی</a:t>
            </a:r>
            <a:r>
              <a:rPr lang="en-US" sz="1400" dirty="0"/>
              <a:t> </a:t>
            </a:r>
            <a:r>
              <a:rPr lang="en-US" sz="1400" dirty="0" err="1"/>
              <a:t>مخزن‌های</a:t>
            </a:r>
            <a:r>
              <a:rPr lang="en-US" sz="1400" dirty="0"/>
              <a:t> Git و </a:t>
            </a:r>
            <a:r>
              <a:rPr lang="en-US" sz="1400" dirty="0" err="1"/>
              <a:t>همکاری</a:t>
            </a:r>
            <a:r>
              <a:rPr lang="en-US" sz="1400" dirty="0"/>
              <a:t> </a:t>
            </a:r>
            <a:r>
              <a:rPr lang="en-US" sz="1400" dirty="0" err="1"/>
              <a:t>برنامه‌نویسان</a:t>
            </a:r>
            <a:r>
              <a:rPr lang="en-US" sz="1400" dirty="0"/>
              <a:t> </a:t>
            </a: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توسعه</a:t>
            </a:r>
            <a:r>
              <a:rPr lang="en-US" sz="1400" dirty="0"/>
              <a:t> </a:t>
            </a:r>
            <a:r>
              <a:rPr lang="en-US" sz="1400" dirty="0" err="1"/>
              <a:t>نرم‌افزار</a:t>
            </a:r>
            <a:r>
              <a:rPr lang="en-US" sz="1400" dirty="0"/>
              <a:t> </a:t>
            </a:r>
            <a:r>
              <a:rPr lang="en-US" sz="1400" dirty="0" err="1"/>
              <a:t>است</a:t>
            </a:r>
            <a:r>
              <a:rPr lang="en-US" sz="1400" dirty="0"/>
              <a:t>. </a:t>
            </a:r>
            <a:r>
              <a:rPr lang="en-US" sz="1400" dirty="0" err="1"/>
              <a:t>این</a:t>
            </a:r>
            <a:r>
              <a:rPr lang="en-US" sz="1400" dirty="0"/>
              <a:t> </a:t>
            </a:r>
            <a:r>
              <a:rPr lang="en-US" sz="1400" dirty="0" err="1"/>
              <a:t>ابزارها</a:t>
            </a:r>
            <a:r>
              <a:rPr lang="en-US" sz="1400" dirty="0"/>
              <a:t> </a:t>
            </a:r>
            <a:r>
              <a:rPr lang="en-US" sz="1400" dirty="0" err="1"/>
              <a:t>با</a:t>
            </a:r>
            <a:r>
              <a:rPr lang="en-US" sz="1400" dirty="0"/>
              <a:t> </a:t>
            </a:r>
            <a:r>
              <a:rPr lang="en-US" sz="1400" dirty="0" err="1"/>
              <a:t>فراهم</a:t>
            </a:r>
            <a:r>
              <a:rPr lang="en-US" sz="1400" dirty="0"/>
              <a:t> </a:t>
            </a:r>
            <a:r>
              <a:rPr lang="en-US" sz="1400" dirty="0" err="1"/>
              <a:t>کردن</a:t>
            </a:r>
            <a:r>
              <a:rPr lang="en-US" sz="1400" dirty="0"/>
              <a:t> </a:t>
            </a:r>
            <a:r>
              <a:rPr lang="en-US" sz="1400" dirty="0" err="1"/>
              <a:t>امکاناتی</a:t>
            </a:r>
            <a:r>
              <a:rPr lang="en-US" sz="1400" dirty="0"/>
              <a:t> </a:t>
            </a:r>
            <a:r>
              <a:rPr lang="en-US" sz="1400" dirty="0" err="1"/>
              <a:t>برای</a:t>
            </a:r>
            <a:r>
              <a:rPr lang="en-US" sz="1400" dirty="0"/>
              <a:t> </a:t>
            </a:r>
            <a:r>
              <a:rPr lang="en-US" sz="1400" dirty="0" err="1"/>
              <a:t>بررسی</a:t>
            </a:r>
            <a:r>
              <a:rPr lang="en-US" sz="1400" dirty="0"/>
              <a:t> </a:t>
            </a:r>
            <a:r>
              <a:rPr lang="en-US" sz="1400" dirty="0" err="1"/>
              <a:t>تغییرات</a:t>
            </a:r>
            <a:r>
              <a:rPr lang="en-US" sz="1400" dirty="0"/>
              <a:t> و </a:t>
            </a:r>
            <a:r>
              <a:rPr lang="en-US" sz="1400" dirty="0" err="1"/>
              <a:t>همکاری</a:t>
            </a:r>
            <a:r>
              <a:rPr lang="en-US" sz="1400" dirty="0"/>
              <a:t> </a:t>
            </a:r>
            <a:r>
              <a:rPr lang="en-US" sz="1400" dirty="0" err="1"/>
              <a:t>تیمی</a:t>
            </a:r>
            <a:r>
              <a:rPr lang="en-US" sz="1400" dirty="0"/>
              <a:t>، </a:t>
            </a:r>
            <a:r>
              <a:rPr lang="en-US" sz="1400" dirty="0" err="1"/>
              <a:t>به</a:t>
            </a:r>
            <a:r>
              <a:rPr lang="en-US" sz="1400" dirty="0"/>
              <a:t> </a:t>
            </a:r>
            <a:r>
              <a:rPr lang="en-US" sz="1400" dirty="0" err="1"/>
              <a:t>بهبود</a:t>
            </a:r>
            <a:r>
              <a:rPr lang="en-US" sz="1400" dirty="0"/>
              <a:t> </a:t>
            </a:r>
            <a:r>
              <a:rPr lang="en-US" sz="1400" dirty="0" err="1"/>
              <a:t>کیفیت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</a:t>
            </a:r>
            <a:r>
              <a:rPr lang="en-US" sz="1400" dirty="0" err="1"/>
              <a:t>کمک</a:t>
            </a:r>
            <a:r>
              <a:rPr lang="en-US" sz="1400" dirty="0"/>
              <a:t> </a:t>
            </a:r>
            <a:r>
              <a:rPr lang="en-US" sz="1400" dirty="0" err="1"/>
              <a:t>می‌کنند</a:t>
            </a:r>
            <a:r>
              <a:rPr lang="en-US" sz="1400" dirty="0"/>
              <a:t>.</a:t>
            </a:r>
            <a:endParaRPr lang="fa-IR" sz="1400" dirty="0"/>
          </a:p>
          <a:p>
            <a:pPr algn="just" rtl="1">
              <a:lnSpc>
                <a:spcPct val="120000"/>
              </a:lnSpc>
            </a:pPr>
            <a:r>
              <a:rPr lang="en-US" sz="1400" dirty="0" err="1"/>
              <a:t>در</a:t>
            </a:r>
            <a:r>
              <a:rPr lang="en-US" sz="1400" dirty="0"/>
              <a:t> </a:t>
            </a:r>
            <a:r>
              <a:rPr lang="en-US" sz="1400" dirty="0" err="1"/>
              <a:t>مجموع</a:t>
            </a:r>
            <a:r>
              <a:rPr lang="en-US" sz="1400" dirty="0"/>
              <a:t>، Git و GitHub </a:t>
            </a:r>
            <a:r>
              <a:rPr lang="en-US" sz="1400" dirty="0" err="1"/>
              <a:t>به‌تنهایی</a:t>
            </a:r>
            <a:r>
              <a:rPr lang="en-US" sz="1400" dirty="0"/>
              <a:t> </a:t>
            </a:r>
            <a:r>
              <a:rPr lang="en-US" sz="1400" dirty="0" err="1"/>
              <a:t>تضمین‌کننده</a:t>
            </a:r>
            <a:r>
              <a:rPr lang="en-US" sz="1400" dirty="0"/>
              <a:t> Clean Code </a:t>
            </a:r>
            <a:r>
              <a:rPr lang="en-US" sz="1400" dirty="0" err="1"/>
              <a:t>نیستند</a:t>
            </a:r>
            <a:r>
              <a:rPr lang="en-US" sz="1400" dirty="0"/>
              <a:t>، </a:t>
            </a:r>
            <a:r>
              <a:rPr lang="en-US" sz="1400" dirty="0" err="1"/>
              <a:t>اما</a:t>
            </a:r>
            <a:r>
              <a:rPr lang="en-US" sz="1400" dirty="0"/>
              <a:t> </a:t>
            </a:r>
            <a:r>
              <a:rPr lang="en-US" sz="1400" dirty="0" err="1"/>
              <a:t>با</a:t>
            </a:r>
            <a:r>
              <a:rPr lang="en-US" sz="1400" dirty="0"/>
              <a:t> </a:t>
            </a:r>
            <a:r>
              <a:rPr lang="en-US" sz="1400" dirty="0" err="1"/>
              <a:t>فراهم</a:t>
            </a:r>
            <a:r>
              <a:rPr lang="en-US" sz="1400" dirty="0"/>
              <a:t> </a:t>
            </a:r>
            <a:r>
              <a:rPr lang="en-US" sz="1400" dirty="0" err="1"/>
              <a:t>کردن</a:t>
            </a:r>
            <a:r>
              <a:rPr lang="en-US" sz="1400" dirty="0"/>
              <a:t> </a:t>
            </a:r>
            <a:r>
              <a:rPr lang="en-US" sz="1400" dirty="0" err="1"/>
              <a:t>ابزارهای</a:t>
            </a:r>
            <a:r>
              <a:rPr lang="en-US" sz="1400" dirty="0"/>
              <a:t> </a:t>
            </a:r>
            <a:r>
              <a:rPr lang="en-US" sz="1400" dirty="0" err="1"/>
              <a:t>مدیریت</a:t>
            </a:r>
            <a:r>
              <a:rPr lang="en-US" sz="1400" dirty="0"/>
              <a:t> </a:t>
            </a:r>
            <a:r>
              <a:rPr lang="en-US" sz="1400" dirty="0" err="1"/>
              <a:t>تغییرات</a:t>
            </a:r>
            <a:r>
              <a:rPr lang="en-US" sz="1400" dirty="0"/>
              <a:t>، </a:t>
            </a:r>
            <a:r>
              <a:rPr lang="en-US" sz="1400" dirty="0" err="1"/>
              <a:t>بازبینی</a:t>
            </a:r>
            <a:r>
              <a:rPr lang="en-US" sz="1400" dirty="0"/>
              <a:t> </a:t>
            </a:r>
            <a:r>
              <a:rPr lang="en-US" sz="1400" dirty="0" err="1"/>
              <a:t>کد</a:t>
            </a:r>
            <a:r>
              <a:rPr lang="en-US" sz="1400" dirty="0"/>
              <a:t> و </a:t>
            </a:r>
            <a:r>
              <a:rPr lang="en-US" sz="1400" dirty="0" err="1"/>
              <a:t>خودکارسازی</a:t>
            </a:r>
            <a:r>
              <a:rPr lang="en-US" sz="1400" dirty="0"/>
              <a:t> </a:t>
            </a:r>
            <a:r>
              <a:rPr lang="en-US" sz="1400" dirty="0" err="1"/>
              <a:t>بررسی‌ها</a:t>
            </a:r>
            <a:r>
              <a:rPr lang="en-US" sz="1400" dirty="0"/>
              <a:t>، </a:t>
            </a:r>
            <a:r>
              <a:rPr lang="en-US" sz="1400" dirty="0" err="1"/>
              <a:t>به</a:t>
            </a:r>
            <a:r>
              <a:rPr lang="en-US" sz="1400" dirty="0"/>
              <a:t> </a:t>
            </a:r>
            <a:r>
              <a:rPr lang="en-US" sz="1400" dirty="0" err="1"/>
              <a:t>شناسایی</a:t>
            </a:r>
            <a:r>
              <a:rPr lang="en-US" sz="1400" dirty="0"/>
              <a:t> و </a:t>
            </a:r>
            <a:r>
              <a:rPr lang="en-US" sz="1400" dirty="0" err="1"/>
              <a:t>اصلاح</a:t>
            </a:r>
            <a:r>
              <a:rPr lang="en-US" sz="1400" dirty="0"/>
              <a:t> Code Smell </a:t>
            </a:r>
            <a:r>
              <a:rPr lang="en-US" sz="1400" dirty="0" err="1"/>
              <a:t>کمک</a:t>
            </a:r>
            <a:r>
              <a:rPr lang="en-US" sz="1400" dirty="0"/>
              <a:t> </a:t>
            </a:r>
            <a:r>
              <a:rPr lang="en-US" sz="1400" dirty="0" err="1"/>
              <a:t>می‌کنند</a:t>
            </a:r>
            <a:r>
              <a:rPr lang="en-US" sz="1400" dirty="0"/>
              <a:t>.</a:t>
            </a:r>
            <a:endParaRPr lang="fa-I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2C4236-CF7A-2FE0-03B6-E56B59A8B973}"/>
              </a:ext>
            </a:extLst>
          </p:cNvPr>
          <p:cNvSpPr txBox="1"/>
          <p:nvPr/>
        </p:nvSpPr>
        <p:spPr>
          <a:xfrm>
            <a:off x="792688" y="3114757"/>
            <a:ext cx="1341029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2000" dirty="0">
                <a:solidFill>
                  <a:srgbClr val="6FC7F3"/>
                </a:solidFill>
              </a:rPr>
              <a:t>Code Review</a:t>
            </a:r>
            <a:endParaRPr lang="en-US" sz="2000" dirty="0">
              <a:solidFill>
                <a:srgbClr val="6FC7F3"/>
              </a:solidFill>
              <a:cs typeface="+mj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45CBEF-984F-7369-27F7-E7D9CAC4C7AD}"/>
              </a:ext>
            </a:extLst>
          </p:cNvPr>
          <p:cNvSpPr txBox="1"/>
          <p:nvPr/>
        </p:nvSpPr>
        <p:spPr>
          <a:xfrm>
            <a:off x="2109166" y="4528529"/>
            <a:ext cx="1243328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Pull Request</a:t>
            </a:r>
            <a:endParaRPr lang="en-US" sz="2000" dirty="0">
              <a:solidFill>
                <a:schemeClr val="bg1">
                  <a:lumMod val="50000"/>
                </a:schemeClr>
              </a:solidFill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E1F7F7-36D7-AE3F-4787-9A204F82217B}"/>
              </a:ext>
            </a:extLst>
          </p:cNvPr>
          <p:cNvSpPr txBox="1"/>
          <p:nvPr/>
        </p:nvSpPr>
        <p:spPr>
          <a:xfrm>
            <a:off x="4335353" y="4493164"/>
            <a:ext cx="1526174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2000" dirty="0">
                <a:solidFill>
                  <a:srgbClr val="107AAE"/>
                </a:solidFill>
              </a:rPr>
              <a:t>GitHub Actions</a:t>
            </a:r>
            <a:endParaRPr lang="en-US" sz="2000" dirty="0">
              <a:solidFill>
                <a:srgbClr val="107AAE"/>
              </a:solidFill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3B0E86-0EE7-D974-B510-28D9C27B69F7}"/>
              </a:ext>
            </a:extLst>
          </p:cNvPr>
          <p:cNvSpPr txBox="1"/>
          <p:nvPr/>
        </p:nvSpPr>
        <p:spPr>
          <a:xfrm>
            <a:off x="6265723" y="3617832"/>
            <a:ext cx="1526174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2000" dirty="0" err="1">
                <a:solidFill>
                  <a:srgbClr val="2129E9"/>
                </a:solidFill>
              </a:rPr>
              <a:t>همکاری</a:t>
            </a:r>
            <a:r>
              <a:rPr lang="en-US" sz="2000" dirty="0">
                <a:solidFill>
                  <a:srgbClr val="2129E9"/>
                </a:solidFill>
              </a:rPr>
              <a:t> </a:t>
            </a:r>
            <a:r>
              <a:rPr lang="en-US" sz="2000" dirty="0" err="1">
                <a:solidFill>
                  <a:srgbClr val="2129E9"/>
                </a:solidFill>
              </a:rPr>
              <a:t>تیمی</a:t>
            </a:r>
            <a:endParaRPr lang="en-US" sz="2000" dirty="0">
              <a:solidFill>
                <a:srgbClr val="2129E9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5085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59" grpId="0"/>
      <p:bldP spid="61" grpId="0"/>
      <p:bldP spid="66" grpId="0"/>
      <p:bldP spid="68" grpId="0"/>
      <p:bldP spid="17" grpId="0" animBg="1"/>
      <p:bldP spid="18" grpId="0" animBg="1"/>
      <p:bldP spid="19" grpId="0" animBg="1"/>
      <p:bldP spid="20" grpId="0" animBg="1"/>
      <p:bldP spid="27" grpId="0" animBg="1"/>
      <p:bldP spid="29" grpId="0"/>
      <p:bldP spid="30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D825A-9274-F9EB-6468-97A70D3C2EA0}"/>
              </a:ext>
            </a:extLst>
          </p:cNvPr>
          <p:cNvGrpSpPr/>
          <p:nvPr/>
        </p:nvGrpSpPr>
        <p:grpSpPr>
          <a:xfrm>
            <a:off x="5572676" y="1419910"/>
            <a:ext cx="1046543" cy="1446315"/>
            <a:chOff x="2935309" y="818866"/>
            <a:chExt cx="1478572" cy="204337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D216C73-0E6A-51B7-B4E6-5E467D248843}"/>
                </a:ext>
              </a:extLst>
            </p:cNvPr>
            <p:cNvSpPr/>
            <p:nvPr/>
          </p:nvSpPr>
          <p:spPr>
            <a:xfrm>
              <a:off x="2935309" y="818866"/>
              <a:ext cx="1478572" cy="2043377"/>
            </a:xfrm>
            <a:custGeom>
              <a:avLst/>
              <a:gdLst>
                <a:gd name="connsiteX0" fmla="*/ 1478573 w 1478572"/>
                <a:gd name="connsiteY0" fmla="*/ 739286 h 2043377"/>
                <a:gd name="connsiteX1" fmla="*/ 739287 w 1478572"/>
                <a:gd name="connsiteY1" fmla="*/ 2043377 h 2043377"/>
                <a:gd name="connsiteX2" fmla="*/ 0 w 1478572"/>
                <a:gd name="connsiteY2" fmla="*/ 739286 h 2043377"/>
                <a:gd name="connsiteX3" fmla="*/ 739287 w 1478572"/>
                <a:gd name="connsiteY3" fmla="*/ 0 h 2043377"/>
                <a:gd name="connsiteX4" fmla="*/ 1478573 w 1478572"/>
                <a:gd name="connsiteY4" fmla="*/ 739286 h 204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8572" h="2043377">
                  <a:moveTo>
                    <a:pt x="1478573" y="739286"/>
                  </a:moveTo>
                  <a:cubicBezTo>
                    <a:pt x="1478573" y="1147576"/>
                    <a:pt x="861074" y="2043377"/>
                    <a:pt x="739287" y="2043377"/>
                  </a:cubicBezTo>
                  <a:cubicBezTo>
                    <a:pt x="617499" y="2043377"/>
                    <a:pt x="0" y="1147455"/>
                    <a:pt x="0" y="739286"/>
                  </a:cubicBezTo>
                  <a:cubicBezTo>
                    <a:pt x="0" y="331117"/>
                    <a:pt x="330997" y="0"/>
                    <a:pt x="739287" y="0"/>
                  </a:cubicBezTo>
                  <a:cubicBezTo>
                    <a:pt x="1147576" y="0"/>
                    <a:pt x="1478573" y="330997"/>
                    <a:pt x="1478573" y="739286"/>
                  </a:cubicBezTo>
                  <a:close/>
                </a:path>
              </a:pathLst>
            </a:custGeom>
            <a:solidFill>
              <a:schemeClr val="accent1"/>
            </a:solidFill>
            <a:ln w="120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122AD6-9165-2776-4CBA-1FE250C770BD}"/>
                </a:ext>
              </a:extLst>
            </p:cNvPr>
            <p:cNvSpPr/>
            <p:nvPr/>
          </p:nvSpPr>
          <p:spPr>
            <a:xfrm>
              <a:off x="3002473" y="890491"/>
              <a:ext cx="1344244" cy="1877215"/>
            </a:xfrm>
            <a:custGeom>
              <a:avLst/>
              <a:gdLst>
                <a:gd name="connsiteX0" fmla="*/ 1344245 w 1344244"/>
                <a:gd name="connsiteY0" fmla="*/ 672122 h 1877215"/>
                <a:gd name="connsiteX1" fmla="*/ 672123 w 1344244"/>
                <a:gd name="connsiteY1" fmla="*/ 1877216 h 1877215"/>
                <a:gd name="connsiteX2" fmla="*/ 0 w 1344244"/>
                <a:gd name="connsiteY2" fmla="*/ 672122 h 1877215"/>
                <a:gd name="connsiteX3" fmla="*/ 672123 w 1344244"/>
                <a:gd name="connsiteY3" fmla="*/ 0 h 1877215"/>
                <a:gd name="connsiteX4" fmla="*/ 1344245 w 1344244"/>
                <a:gd name="connsiteY4" fmla="*/ 672122 h 187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44" h="1877215">
                  <a:moveTo>
                    <a:pt x="1344245" y="672122"/>
                  </a:moveTo>
                  <a:cubicBezTo>
                    <a:pt x="1344245" y="1043273"/>
                    <a:pt x="782816" y="1877216"/>
                    <a:pt x="672123" y="1877216"/>
                  </a:cubicBezTo>
                  <a:cubicBezTo>
                    <a:pt x="561428" y="1877216"/>
                    <a:pt x="0" y="1043273"/>
                    <a:pt x="0" y="672122"/>
                  </a:cubicBezTo>
                  <a:cubicBezTo>
                    <a:pt x="0" y="300972"/>
                    <a:pt x="300851" y="0"/>
                    <a:pt x="672123" y="0"/>
                  </a:cubicBezTo>
                  <a:cubicBezTo>
                    <a:pt x="1043394" y="0"/>
                    <a:pt x="1344245" y="300972"/>
                    <a:pt x="1344245" y="672122"/>
                  </a:cubicBezTo>
                  <a:close/>
                </a:path>
              </a:pathLst>
            </a:custGeom>
            <a:noFill/>
            <a:ln w="11797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C30D09-36FC-EFC8-2DDC-49A64F21D26F}"/>
              </a:ext>
            </a:extLst>
          </p:cNvPr>
          <p:cNvGrpSpPr/>
          <p:nvPr/>
        </p:nvGrpSpPr>
        <p:grpSpPr>
          <a:xfrm>
            <a:off x="6240885" y="1963209"/>
            <a:ext cx="1324539" cy="1065211"/>
            <a:chOff x="3879363" y="1586447"/>
            <a:chExt cx="1871329" cy="150494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EA8B829-0620-2D2B-C266-B499E1533698}"/>
                </a:ext>
              </a:extLst>
            </p:cNvPr>
            <p:cNvSpPr/>
            <p:nvPr/>
          </p:nvSpPr>
          <p:spPr>
            <a:xfrm>
              <a:off x="3879363" y="1586447"/>
              <a:ext cx="1871329" cy="1504947"/>
            </a:xfrm>
            <a:custGeom>
              <a:avLst/>
              <a:gdLst>
                <a:gd name="connsiteX0" fmla="*/ 1504479 w 1871329"/>
                <a:gd name="connsiteY0" fmla="*/ 1377808 h 1504947"/>
                <a:gd name="connsiteX1" fmla="*/ 5527 w 1871329"/>
                <a:gd name="connsiteY1" fmla="*/ 1396618 h 1504947"/>
                <a:gd name="connsiteX2" fmla="*/ 759404 w 1871329"/>
                <a:gd name="connsiteY2" fmla="*/ 100848 h 1504947"/>
                <a:gd name="connsiteX3" fmla="*/ 1770482 w 1871329"/>
                <a:gd name="connsiteY3" fmla="*/ 366730 h 1504947"/>
                <a:gd name="connsiteX4" fmla="*/ 1504599 w 1871329"/>
                <a:gd name="connsiteY4" fmla="*/ 1377808 h 150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1329" h="1504947">
                  <a:moveTo>
                    <a:pt x="1504479" y="1377808"/>
                  </a:moveTo>
                  <a:cubicBezTo>
                    <a:pt x="1151897" y="1583520"/>
                    <a:pt x="66903" y="1501766"/>
                    <a:pt x="5527" y="1396618"/>
                  </a:cubicBezTo>
                  <a:cubicBezTo>
                    <a:pt x="-55849" y="1291351"/>
                    <a:pt x="406703" y="306560"/>
                    <a:pt x="759404" y="100848"/>
                  </a:cubicBezTo>
                  <a:cubicBezTo>
                    <a:pt x="1111985" y="-104865"/>
                    <a:pt x="1564769" y="14149"/>
                    <a:pt x="1770482" y="366730"/>
                  </a:cubicBezTo>
                  <a:cubicBezTo>
                    <a:pt x="1976194" y="719311"/>
                    <a:pt x="1857180" y="1172095"/>
                    <a:pt x="1504599" y="1377808"/>
                  </a:cubicBezTo>
                  <a:close/>
                </a:path>
              </a:pathLst>
            </a:custGeom>
            <a:solidFill>
              <a:schemeClr val="accent1"/>
            </a:solidFill>
            <a:ln w="120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627CACE-9B66-D294-ED05-BFC4634E9EAE}"/>
                </a:ext>
              </a:extLst>
            </p:cNvPr>
            <p:cNvSpPr/>
            <p:nvPr/>
          </p:nvSpPr>
          <p:spPr>
            <a:xfrm>
              <a:off x="3985548" y="1668858"/>
              <a:ext cx="1684662" cy="1355015"/>
            </a:xfrm>
            <a:custGeom>
              <a:avLst/>
              <a:gdLst>
                <a:gd name="connsiteX0" fmla="*/ 1354522 w 1684662"/>
                <a:gd name="connsiteY0" fmla="*/ 1240532 h 1355015"/>
                <a:gd name="connsiteX1" fmla="*/ 4972 w 1684662"/>
                <a:gd name="connsiteY1" fmla="*/ 1257414 h 1355015"/>
                <a:gd name="connsiteX2" fmla="*/ 683605 w 1684662"/>
                <a:gd name="connsiteY2" fmla="*/ 90786 h 1355015"/>
                <a:gd name="connsiteX3" fmla="*/ 1593877 w 1684662"/>
                <a:gd name="connsiteY3" fmla="*/ 330261 h 1355015"/>
                <a:gd name="connsiteX4" fmla="*/ 1354401 w 1684662"/>
                <a:gd name="connsiteY4" fmla="*/ 1240532 h 1355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4662" h="1355015">
                  <a:moveTo>
                    <a:pt x="1354522" y="1240532"/>
                  </a:moveTo>
                  <a:cubicBezTo>
                    <a:pt x="1037030" y="1425746"/>
                    <a:pt x="60198" y="1352191"/>
                    <a:pt x="4972" y="1257414"/>
                  </a:cubicBezTo>
                  <a:cubicBezTo>
                    <a:pt x="-50255" y="1162636"/>
                    <a:pt x="366114" y="275999"/>
                    <a:pt x="683605" y="90786"/>
                  </a:cubicBezTo>
                  <a:cubicBezTo>
                    <a:pt x="1001097" y="-94428"/>
                    <a:pt x="1408663" y="12769"/>
                    <a:pt x="1593877" y="330261"/>
                  </a:cubicBezTo>
                  <a:cubicBezTo>
                    <a:pt x="1779090" y="647752"/>
                    <a:pt x="1671893" y="1055319"/>
                    <a:pt x="1354401" y="1240532"/>
                  </a:cubicBezTo>
                  <a:close/>
                </a:path>
              </a:pathLst>
            </a:custGeom>
            <a:noFill/>
            <a:ln w="12037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D810FC-733D-4A2C-3C7A-3A11D4DB2987}"/>
              </a:ext>
            </a:extLst>
          </p:cNvPr>
          <p:cNvGrpSpPr/>
          <p:nvPr/>
        </p:nvGrpSpPr>
        <p:grpSpPr>
          <a:xfrm>
            <a:off x="6241102" y="3047038"/>
            <a:ext cx="1325627" cy="1064647"/>
            <a:chOff x="3879670" y="3117698"/>
            <a:chExt cx="1872867" cy="150415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1545ED-45C3-0DB1-BB36-6F2C38F2841D}"/>
                </a:ext>
              </a:extLst>
            </p:cNvPr>
            <p:cNvSpPr/>
            <p:nvPr/>
          </p:nvSpPr>
          <p:spPr>
            <a:xfrm>
              <a:off x="3879670" y="3117698"/>
              <a:ext cx="1872867" cy="1504150"/>
            </a:xfrm>
            <a:custGeom>
              <a:avLst/>
              <a:gdLst>
                <a:gd name="connsiteX0" fmla="*/ 762353 w 1872867"/>
                <a:gd name="connsiteY0" fmla="*/ 1404111 h 1504150"/>
                <a:gd name="connsiteX1" fmla="*/ 5462 w 1872867"/>
                <a:gd name="connsiteY1" fmla="*/ 110149 h 1504150"/>
                <a:gd name="connsiteX2" fmla="*/ 1504534 w 1872867"/>
                <a:gd name="connsiteY2" fmla="*/ 125342 h 1504150"/>
                <a:gd name="connsiteX3" fmla="*/ 1772828 w 1872867"/>
                <a:gd name="connsiteY3" fmla="*/ 1135817 h 1504150"/>
                <a:gd name="connsiteX4" fmla="*/ 762353 w 1872867"/>
                <a:gd name="connsiteY4" fmla="*/ 1404111 h 150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867" h="1504150">
                  <a:moveTo>
                    <a:pt x="762353" y="1404111"/>
                  </a:moveTo>
                  <a:cubicBezTo>
                    <a:pt x="409169" y="1199122"/>
                    <a:pt x="-55673" y="215537"/>
                    <a:pt x="5462" y="110149"/>
                  </a:cubicBezTo>
                  <a:cubicBezTo>
                    <a:pt x="66597" y="4760"/>
                    <a:pt x="1151350" y="-79526"/>
                    <a:pt x="1504534" y="125342"/>
                  </a:cubicBezTo>
                  <a:cubicBezTo>
                    <a:pt x="1857717" y="330331"/>
                    <a:pt x="1977817" y="782633"/>
                    <a:pt x="1772828" y="1135817"/>
                  </a:cubicBezTo>
                  <a:cubicBezTo>
                    <a:pt x="1567839" y="1489001"/>
                    <a:pt x="1115537" y="1609100"/>
                    <a:pt x="762353" y="1404111"/>
                  </a:cubicBezTo>
                  <a:close/>
                </a:path>
              </a:pathLst>
            </a:custGeom>
            <a:solidFill>
              <a:schemeClr val="accent3"/>
            </a:solidFill>
            <a:ln w="120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B9475E-13DF-B5D2-70B3-F9DA3B0E652D}"/>
                </a:ext>
              </a:extLst>
            </p:cNvPr>
            <p:cNvSpPr/>
            <p:nvPr/>
          </p:nvSpPr>
          <p:spPr>
            <a:xfrm>
              <a:off x="3985606" y="3189898"/>
              <a:ext cx="1683657" cy="1352174"/>
            </a:xfrm>
            <a:custGeom>
              <a:avLst/>
              <a:gdLst>
                <a:gd name="connsiteX0" fmla="*/ 685356 w 1683657"/>
                <a:gd name="connsiteY0" fmla="*/ 1262335 h 1352174"/>
                <a:gd name="connsiteX1" fmla="*/ 4914 w 1683657"/>
                <a:gd name="connsiteY1" fmla="*/ 99084 h 1352174"/>
                <a:gd name="connsiteX2" fmla="*/ 1352535 w 1683657"/>
                <a:gd name="connsiteY2" fmla="*/ 112709 h 1352174"/>
                <a:gd name="connsiteX3" fmla="*/ 1593819 w 1683657"/>
                <a:gd name="connsiteY3" fmla="*/ 1021051 h 1352174"/>
                <a:gd name="connsiteX4" fmla="*/ 685477 w 1683657"/>
                <a:gd name="connsiteY4" fmla="*/ 1262335 h 135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1352174">
                  <a:moveTo>
                    <a:pt x="685356" y="1262335"/>
                  </a:moveTo>
                  <a:cubicBezTo>
                    <a:pt x="367865" y="1078086"/>
                    <a:pt x="-50071" y="193740"/>
                    <a:pt x="4914" y="99084"/>
                  </a:cubicBezTo>
                  <a:cubicBezTo>
                    <a:pt x="59899" y="4306"/>
                    <a:pt x="1035043" y="-71540"/>
                    <a:pt x="1352535" y="112709"/>
                  </a:cubicBezTo>
                  <a:cubicBezTo>
                    <a:pt x="1670026" y="296958"/>
                    <a:pt x="1777947" y="703680"/>
                    <a:pt x="1593819" y="1021051"/>
                  </a:cubicBezTo>
                  <a:cubicBezTo>
                    <a:pt x="1409570" y="1338543"/>
                    <a:pt x="1002848" y="1446463"/>
                    <a:pt x="685477" y="1262335"/>
                  </a:cubicBezTo>
                  <a:close/>
                </a:path>
              </a:pathLst>
            </a:custGeom>
            <a:noFill/>
            <a:ln w="1215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EC07F-E2F0-F37F-C39B-8662F02A820B}"/>
              </a:ext>
            </a:extLst>
          </p:cNvPr>
          <p:cNvGrpSpPr/>
          <p:nvPr/>
        </p:nvGrpSpPr>
        <p:grpSpPr>
          <a:xfrm>
            <a:off x="5572676" y="3210863"/>
            <a:ext cx="1046543" cy="1446315"/>
            <a:chOff x="2935309" y="3349152"/>
            <a:chExt cx="1478572" cy="2043377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0C6435-8322-9D80-86F8-244272383E59}"/>
                </a:ext>
              </a:extLst>
            </p:cNvPr>
            <p:cNvSpPr/>
            <p:nvPr/>
          </p:nvSpPr>
          <p:spPr>
            <a:xfrm>
              <a:off x="2935309" y="3349152"/>
              <a:ext cx="1478572" cy="2043377"/>
            </a:xfrm>
            <a:custGeom>
              <a:avLst/>
              <a:gdLst>
                <a:gd name="connsiteX0" fmla="*/ 1478573 w 1478572"/>
                <a:gd name="connsiteY0" fmla="*/ 1304091 h 2043377"/>
                <a:gd name="connsiteX1" fmla="*/ 739287 w 1478572"/>
                <a:gd name="connsiteY1" fmla="*/ 0 h 2043377"/>
                <a:gd name="connsiteX2" fmla="*/ 0 w 1478572"/>
                <a:gd name="connsiteY2" fmla="*/ 1304091 h 2043377"/>
                <a:gd name="connsiteX3" fmla="*/ 739287 w 1478572"/>
                <a:gd name="connsiteY3" fmla="*/ 2043377 h 2043377"/>
                <a:gd name="connsiteX4" fmla="*/ 1478573 w 1478572"/>
                <a:gd name="connsiteY4" fmla="*/ 1304091 h 204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8572" h="2043377">
                  <a:moveTo>
                    <a:pt x="1478573" y="1304091"/>
                  </a:moveTo>
                  <a:cubicBezTo>
                    <a:pt x="1478573" y="895801"/>
                    <a:pt x="861074" y="0"/>
                    <a:pt x="739287" y="0"/>
                  </a:cubicBezTo>
                  <a:cubicBezTo>
                    <a:pt x="617499" y="0"/>
                    <a:pt x="0" y="895922"/>
                    <a:pt x="0" y="1304091"/>
                  </a:cubicBezTo>
                  <a:cubicBezTo>
                    <a:pt x="0" y="1712260"/>
                    <a:pt x="330997" y="2043377"/>
                    <a:pt x="739287" y="2043377"/>
                  </a:cubicBezTo>
                  <a:cubicBezTo>
                    <a:pt x="1147576" y="2043377"/>
                    <a:pt x="1478573" y="1712381"/>
                    <a:pt x="1478573" y="1304091"/>
                  </a:cubicBezTo>
                  <a:close/>
                </a:path>
              </a:pathLst>
            </a:custGeom>
            <a:solidFill>
              <a:schemeClr val="accent3"/>
            </a:solidFill>
            <a:ln w="120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066F86-2F31-8940-4035-0F914023A549}"/>
                </a:ext>
              </a:extLst>
            </p:cNvPr>
            <p:cNvSpPr/>
            <p:nvPr/>
          </p:nvSpPr>
          <p:spPr>
            <a:xfrm>
              <a:off x="3017063" y="3481791"/>
              <a:ext cx="1315064" cy="1817648"/>
            </a:xfrm>
            <a:custGeom>
              <a:avLst/>
              <a:gdLst>
                <a:gd name="connsiteX0" fmla="*/ 1315064 w 1315064"/>
                <a:gd name="connsiteY0" fmla="*/ 1160116 h 1817648"/>
                <a:gd name="connsiteX1" fmla="*/ 657532 w 1315064"/>
                <a:gd name="connsiteY1" fmla="*/ 0 h 1817648"/>
                <a:gd name="connsiteX2" fmla="*/ 0 w 1315064"/>
                <a:gd name="connsiteY2" fmla="*/ 1160116 h 1817648"/>
                <a:gd name="connsiteX3" fmla="*/ 657532 w 1315064"/>
                <a:gd name="connsiteY3" fmla="*/ 1817648 h 1817648"/>
                <a:gd name="connsiteX4" fmla="*/ 1315064 w 1315064"/>
                <a:gd name="connsiteY4" fmla="*/ 1160116 h 1817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5064" h="1817648">
                  <a:moveTo>
                    <a:pt x="1315064" y="1160116"/>
                  </a:moveTo>
                  <a:cubicBezTo>
                    <a:pt x="1315064" y="796924"/>
                    <a:pt x="765814" y="0"/>
                    <a:pt x="657532" y="0"/>
                  </a:cubicBezTo>
                  <a:cubicBezTo>
                    <a:pt x="549250" y="0"/>
                    <a:pt x="0" y="796924"/>
                    <a:pt x="0" y="1160116"/>
                  </a:cubicBezTo>
                  <a:cubicBezTo>
                    <a:pt x="0" y="1523309"/>
                    <a:pt x="294461" y="1817648"/>
                    <a:pt x="657532" y="1817648"/>
                  </a:cubicBezTo>
                  <a:cubicBezTo>
                    <a:pt x="1020604" y="1817648"/>
                    <a:pt x="1315064" y="1523188"/>
                    <a:pt x="1315064" y="1160116"/>
                  </a:cubicBezTo>
                  <a:close/>
                </a:path>
              </a:pathLst>
            </a:custGeom>
            <a:noFill/>
            <a:ln w="1215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ECE177-4813-B69A-7690-22042E7F953F}"/>
              </a:ext>
            </a:extLst>
          </p:cNvPr>
          <p:cNvGrpSpPr/>
          <p:nvPr/>
        </p:nvGrpSpPr>
        <p:grpSpPr>
          <a:xfrm>
            <a:off x="4626607" y="3048604"/>
            <a:ext cx="1324490" cy="1065313"/>
            <a:chOff x="1598687" y="3119910"/>
            <a:chExt cx="1871260" cy="1505091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2BC9C7-8188-557B-90E1-ADDFEF8BA5E9}"/>
                </a:ext>
              </a:extLst>
            </p:cNvPr>
            <p:cNvSpPr/>
            <p:nvPr/>
          </p:nvSpPr>
          <p:spPr>
            <a:xfrm>
              <a:off x="1598687" y="3119910"/>
              <a:ext cx="1871260" cy="1505091"/>
            </a:xfrm>
            <a:custGeom>
              <a:avLst/>
              <a:gdLst>
                <a:gd name="connsiteX0" fmla="*/ 1111858 w 1871260"/>
                <a:gd name="connsiteY0" fmla="*/ 1404190 h 1505091"/>
                <a:gd name="connsiteX1" fmla="*/ 1865735 w 1871260"/>
                <a:gd name="connsiteY1" fmla="*/ 108419 h 1505091"/>
                <a:gd name="connsiteX2" fmla="*/ 366784 w 1871260"/>
                <a:gd name="connsiteY2" fmla="*/ 127230 h 1505091"/>
                <a:gd name="connsiteX3" fmla="*/ 100901 w 1871260"/>
                <a:gd name="connsiteY3" fmla="*/ 1138308 h 1505091"/>
                <a:gd name="connsiteX4" fmla="*/ 1111979 w 1871260"/>
                <a:gd name="connsiteY4" fmla="*/ 1404190 h 150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1260" h="1505091">
                  <a:moveTo>
                    <a:pt x="1111858" y="1404190"/>
                  </a:moveTo>
                  <a:cubicBezTo>
                    <a:pt x="1464439" y="1198478"/>
                    <a:pt x="1927111" y="213566"/>
                    <a:pt x="1865735" y="108419"/>
                  </a:cubicBezTo>
                  <a:cubicBezTo>
                    <a:pt x="1804359" y="3151"/>
                    <a:pt x="719365" y="-78603"/>
                    <a:pt x="366784" y="127230"/>
                  </a:cubicBezTo>
                  <a:cubicBezTo>
                    <a:pt x="14203" y="332942"/>
                    <a:pt x="-104932" y="785727"/>
                    <a:pt x="100901" y="1138308"/>
                  </a:cubicBezTo>
                  <a:cubicBezTo>
                    <a:pt x="306614" y="1490888"/>
                    <a:pt x="759398" y="1610023"/>
                    <a:pt x="1111979" y="1404190"/>
                  </a:cubicBezTo>
                  <a:close/>
                </a:path>
              </a:pathLst>
            </a:custGeom>
            <a:solidFill>
              <a:schemeClr val="accent3"/>
            </a:solidFill>
            <a:ln w="12037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6C9F080-4930-AD04-6A8F-73FD69D5CBFE}"/>
                </a:ext>
              </a:extLst>
            </p:cNvPr>
            <p:cNvSpPr/>
            <p:nvPr/>
          </p:nvSpPr>
          <p:spPr>
            <a:xfrm>
              <a:off x="1690043" y="3189285"/>
              <a:ext cx="1679500" cy="1350749"/>
            </a:xfrm>
            <a:custGeom>
              <a:avLst/>
              <a:gdLst>
                <a:gd name="connsiteX0" fmla="*/ 997953 w 1679500"/>
                <a:gd name="connsiteY0" fmla="*/ 1260174 h 1350749"/>
                <a:gd name="connsiteX1" fmla="*/ 1674537 w 1679500"/>
                <a:gd name="connsiteY1" fmla="*/ 97284 h 1350749"/>
                <a:gd name="connsiteX2" fmla="*/ 329207 w 1679500"/>
                <a:gd name="connsiteY2" fmla="*/ 114166 h 1350749"/>
                <a:gd name="connsiteX3" fmla="*/ 90576 w 1679500"/>
                <a:gd name="connsiteY3" fmla="*/ 1021543 h 1350749"/>
                <a:gd name="connsiteX4" fmla="*/ 997953 w 1679500"/>
                <a:gd name="connsiteY4" fmla="*/ 1260174 h 135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9500" h="1350749">
                  <a:moveTo>
                    <a:pt x="997953" y="1260174"/>
                  </a:moveTo>
                  <a:cubicBezTo>
                    <a:pt x="1314480" y="1075443"/>
                    <a:pt x="1729643" y="191700"/>
                    <a:pt x="1674537" y="97284"/>
                  </a:cubicBezTo>
                  <a:cubicBezTo>
                    <a:pt x="1619431" y="2869"/>
                    <a:pt x="645734" y="-70565"/>
                    <a:pt x="329207" y="114166"/>
                  </a:cubicBezTo>
                  <a:cubicBezTo>
                    <a:pt x="12680" y="298776"/>
                    <a:pt x="-94156" y="705016"/>
                    <a:pt x="90576" y="1021543"/>
                  </a:cubicBezTo>
                  <a:cubicBezTo>
                    <a:pt x="275307" y="1338070"/>
                    <a:pt x="681547" y="1444905"/>
                    <a:pt x="997953" y="1260174"/>
                  </a:cubicBezTo>
                  <a:close/>
                </a:path>
              </a:pathLst>
            </a:custGeom>
            <a:noFill/>
            <a:ln w="1227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B9C775-75D0-CBE5-B4DF-D060E2E91E10}"/>
              </a:ext>
            </a:extLst>
          </p:cNvPr>
          <p:cNvGrpSpPr/>
          <p:nvPr/>
        </p:nvGrpSpPr>
        <p:grpSpPr>
          <a:xfrm>
            <a:off x="4625272" y="1965422"/>
            <a:ext cx="1325607" cy="1064663"/>
            <a:chOff x="1596801" y="1589573"/>
            <a:chExt cx="1872839" cy="1504173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D3AD3B8-1973-EDBD-B6DF-7E3A848B03DE}"/>
                </a:ext>
              </a:extLst>
            </p:cNvPr>
            <p:cNvSpPr/>
            <p:nvPr/>
          </p:nvSpPr>
          <p:spPr>
            <a:xfrm>
              <a:off x="1596801" y="1589573"/>
              <a:ext cx="1872839" cy="1504173"/>
            </a:xfrm>
            <a:custGeom>
              <a:avLst/>
              <a:gdLst>
                <a:gd name="connsiteX0" fmla="*/ 368307 w 1872839"/>
                <a:gd name="connsiteY0" fmla="*/ 1378782 h 1504173"/>
                <a:gd name="connsiteX1" fmla="*/ 1867379 w 1872839"/>
                <a:gd name="connsiteY1" fmla="*/ 1393975 h 1504173"/>
                <a:gd name="connsiteX2" fmla="*/ 1110488 w 1872839"/>
                <a:gd name="connsiteY2" fmla="*/ 100013 h 1504173"/>
                <a:gd name="connsiteX3" fmla="*/ 100013 w 1872839"/>
                <a:gd name="connsiteY3" fmla="*/ 368307 h 1504173"/>
                <a:gd name="connsiteX4" fmla="*/ 368307 w 1872839"/>
                <a:gd name="connsiteY4" fmla="*/ 1378782 h 150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839" h="1504173">
                  <a:moveTo>
                    <a:pt x="368307" y="1378782"/>
                  </a:moveTo>
                  <a:cubicBezTo>
                    <a:pt x="721491" y="1583771"/>
                    <a:pt x="1806244" y="1499364"/>
                    <a:pt x="1867379" y="1393975"/>
                  </a:cubicBezTo>
                  <a:cubicBezTo>
                    <a:pt x="1928514" y="1288587"/>
                    <a:pt x="1463551" y="304881"/>
                    <a:pt x="1110488" y="100013"/>
                  </a:cubicBezTo>
                  <a:cubicBezTo>
                    <a:pt x="757304" y="-104976"/>
                    <a:pt x="305002" y="15244"/>
                    <a:pt x="100013" y="368307"/>
                  </a:cubicBezTo>
                  <a:cubicBezTo>
                    <a:pt x="-104976" y="721491"/>
                    <a:pt x="15244" y="1173793"/>
                    <a:pt x="368307" y="1378782"/>
                  </a:cubicBezTo>
                  <a:close/>
                </a:path>
              </a:pathLst>
            </a:custGeom>
            <a:solidFill>
              <a:schemeClr val="accent1"/>
            </a:solidFill>
            <a:ln w="120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D162480-53C0-6CFF-DA3F-DF3D573A37D5}"/>
                </a:ext>
              </a:extLst>
            </p:cNvPr>
            <p:cNvSpPr/>
            <p:nvPr/>
          </p:nvSpPr>
          <p:spPr>
            <a:xfrm>
              <a:off x="1694929" y="1679983"/>
              <a:ext cx="1670297" cy="1341594"/>
            </a:xfrm>
            <a:custGeom>
              <a:avLst/>
              <a:gdLst>
                <a:gd name="connsiteX0" fmla="*/ 328421 w 1670297"/>
                <a:gd name="connsiteY0" fmla="*/ 1229769 h 1341594"/>
                <a:gd name="connsiteX1" fmla="*/ 1665431 w 1670297"/>
                <a:gd name="connsiteY1" fmla="*/ 1243274 h 1341594"/>
                <a:gd name="connsiteX2" fmla="*/ 990415 w 1670297"/>
                <a:gd name="connsiteY2" fmla="*/ 89187 h 1341594"/>
                <a:gd name="connsiteX3" fmla="*/ 89187 w 1670297"/>
                <a:gd name="connsiteY3" fmla="*/ 328542 h 1341594"/>
                <a:gd name="connsiteX4" fmla="*/ 328542 w 1670297"/>
                <a:gd name="connsiteY4" fmla="*/ 1229769 h 13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0297" h="1341594">
                  <a:moveTo>
                    <a:pt x="328421" y="1229769"/>
                  </a:moveTo>
                  <a:cubicBezTo>
                    <a:pt x="643380" y="1412571"/>
                    <a:pt x="1610807" y="1337328"/>
                    <a:pt x="1665431" y="1243274"/>
                  </a:cubicBezTo>
                  <a:cubicBezTo>
                    <a:pt x="1719934" y="1149341"/>
                    <a:pt x="1305253" y="271989"/>
                    <a:pt x="990415" y="89187"/>
                  </a:cubicBezTo>
                  <a:cubicBezTo>
                    <a:pt x="675455" y="-93615"/>
                    <a:pt x="271989" y="13582"/>
                    <a:pt x="89187" y="328542"/>
                  </a:cubicBezTo>
                  <a:cubicBezTo>
                    <a:pt x="-93615" y="643501"/>
                    <a:pt x="13582" y="1046967"/>
                    <a:pt x="328542" y="1229769"/>
                  </a:cubicBezTo>
                  <a:close/>
                </a:path>
              </a:pathLst>
            </a:custGeom>
            <a:noFill/>
            <a:ln w="10593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7" name="Graphic 76" descr="Clapping hands with solid fill">
            <a:extLst>
              <a:ext uri="{FF2B5EF4-FFF2-40B4-BE49-F238E27FC236}">
                <a16:creationId xmlns:a16="http://schemas.microsoft.com/office/drawing/2014/main" id="{A73F7B42-BCD0-F4FD-7F67-43A1587E9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4078" y="1589861"/>
            <a:ext cx="587044" cy="587044"/>
          </a:xfrm>
          <a:prstGeom prst="rect">
            <a:avLst/>
          </a:prstGeom>
        </p:spPr>
      </p:pic>
      <p:pic>
        <p:nvPicPr>
          <p:cNvPr id="78" name="Graphic 77" descr="Clock with solid fill">
            <a:extLst>
              <a:ext uri="{FF2B5EF4-FFF2-40B4-BE49-F238E27FC236}">
                <a16:creationId xmlns:a16="http://schemas.microsoft.com/office/drawing/2014/main" id="{BC45B969-FAEC-DD72-2239-8334FF52B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0686" y="2169508"/>
            <a:ext cx="587044" cy="587044"/>
          </a:xfrm>
          <a:prstGeom prst="rect">
            <a:avLst/>
          </a:prstGeom>
        </p:spPr>
      </p:pic>
      <p:pic>
        <p:nvPicPr>
          <p:cNvPr id="79" name="Graphic 78" descr="Coffee with solid fill">
            <a:extLst>
              <a:ext uri="{FF2B5EF4-FFF2-40B4-BE49-F238E27FC236}">
                <a16:creationId xmlns:a16="http://schemas.microsoft.com/office/drawing/2014/main" id="{B15695F0-1C64-CAA8-8B0E-2CCDCA2BC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869" y="3222682"/>
            <a:ext cx="587044" cy="587044"/>
          </a:xfrm>
          <a:prstGeom prst="rect">
            <a:avLst/>
          </a:prstGeom>
        </p:spPr>
      </p:pic>
      <p:pic>
        <p:nvPicPr>
          <p:cNvPr id="80" name="Graphic 79" descr="Gavel with solid fill">
            <a:extLst>
              <a:ext uri="{FF2B5EF4-FFF2-40B4-BE49-F238E27FC236}">
                <a16:creationId xmlns:a16="http://schemas.microsoft.com/office/drawing/2014/main" id="{D1AE5437-C9B1-2B40-7A75-892D79447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4201" y="3195763"/>
            <a:ext cx="587044" cy="587044"/>
          </a:xfrm>
          <a:prstGeom prst="rect">
            <a:avLst/>
          </a:prstGeom>
        </p:spPr>
      </p:pic>
      <p:pic>
        <p:nvPicPr>
          <p:cNvPr id="81" name="Graphic 80" descr="Globe with solid fill">
            <a:extLst>
              <a:ext uri="{FF2B5EF4-FFF2-40B4-BE49-F238E27FC236}">
                <a16:creationId xmlns:a16="http://schemas.microsoft.com/office/drawing/2014/main" id="{1ED490D3-1F36-981E-990C-76AE7877F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7680" y="3782722"/>
            <a:ext cx="587044" cy="587044"/>
          </a:xfrm>
          <a:prstGeom prst="rect">
            <a:avLst/>
          </a:prstGeom>
        </p:spPr>
      </p:pic>
      <p:pic>
        <p:nvPicPr>
          <p:cNvPr id="82" name="Graphic 81" descr="Graduation cap with solid fill">
            <a:extLst>
              <a:ext uri="{FF2B5EF4-FFF2-40B4-BE49-F238E27FC236}">
                <a16:creationId xmlns:a16="http://schemas.microsoft.com/office/drawing/2014/main" id="{6B35D943-BA0E-1F61-AA42-0EED286935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4165" y="2175060"/>
            <a:ext cx="587044" cy="587044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3315EF9F-60BD-ACFC-6E40-48F99F2A254A}"/>
              </a:ext>
            </a:extLst>
          </p:cNvPr>
          <p:cNvGrpSpPr/>
          <p:nvPr/>
        </p:nvGrpSpPr>
        <p:grpSpPr>
          <a:xfrm>
            <a:off x="1315264" y="1712470"/>
            <a:ext cx="2860157" cy="840449"/>
            <a:chOff x="867416" y="3429000"/>
            <a:chExt cx="2860157" cy="840449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3A9AE6A-E8C5-1FDB-40B1-18CEE18C5175}"/>
                </a:ext>
              </a:extLst>
            </p:cNvPr>
            <p:cNvSpPr txBox="1"/>
            <p:nvPr/>
          </p:nvSpPr>
          <p:spPr>
            <a:xfrm>
              <a:off x="867417" y="3429000"/>
              <a:ext cx="286015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r>
                <a:rPr lang="en-US" sz="2000" b="1" dirty="0">
                  <a:solidFill>
                    <a:srgbClr val="1E2F9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SonarQube</a:t>
              </a:r>
              <a:endParaRPr lang="fa-IR" sz="2000" b="1" dirty="0">
                <a:solidFill>
                  <a:srgbClr val="1E2F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010895E-E943-ADBD-021D-438255063D60}"/>
                </a:ext>
              </a:extLst>
            </p:cNvPr>
            <p:cNvSpPr txBox="1"/>
            <p:nvPr/>
          </p:nvSpPr>
          <p:spPr>
            <a:xfrm>
              <a:off x="867416" y="3769257"/>
              <a:ext cx="2860156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ابزاری</a:t>
              </a:r>
              <a:r>
                <a:rPr lang="en-US" sz="1200" dirty="0"/>
                <a:t> </a:t>
              </a:r>
              <a:r>
                <a:rPr lang="en-US" sz="1200" dirty="0" err="1"/>
                <a:t>برای</a:t>
              </a:r>
              <a:r>
                <a:rPr lang="en-US" sz="1200" dirty="0"/>
                <a:t> </a:t>
              </a:r>
              <a:r>
                <a:rPr lang="en-US" sz="1200" dirty="0" err="1"/>
                <a:t>تحلیل</a:t>
              </a:r>
              <a:r>
                <a:rPr lang="en-US" sz="1200" dirty="0"/>
                <a:t> </a:t>
              </a:r>
              <a:r>
                <a:rPr lang="en-US" sz="1200" dirty="0" err="1"/>
                <a:t>کیفیت</a:t>
              </a:r>
              <a:r>
                <a:rPr lang="en-US" sz="1200" dirty="0"/>
                <a:t> </a:t>
              </a:r>
              <a:r>
                <a:rPr lang="en-US" sz="1200" dirty="0" err="1"/>
                <a:t>کد</a:t>
              </a:r>
              <a:r>
                <a:rPr lang="en-US" sz="1200" dirty="0"/>
                <a:t>، </a:t>
              </a:r>
              <a:r>
                <a:rPr lang="en-US" sz="1200" dirty="0" err="1"/>
                <a:t>شناسایی</a:t>
              </a:r>
              <a:r>
                <a:rPr lang="en-US" sz="1200" dirty="0"/>
                <a:t> </a:t>
              </a:r>
              <a:r>
                <a:rPr lang="en-US" sz="1200" dirty="0" err="1"/>
                <a:t>مشکلات</a:t>
              </a:r>
              <a:r>
                <a:rPr lang="en-US" sz="1200" dirty="0"/>
                <a:t> </a:t>
              </a:r>
              <a:r>
                <a:rPr lang="en-US" sz="1200" dirty="0" err="1"/>
                <a:t>نگهداری</a:t>
              </a:r>
              <a:r>
                <a:rPr lang="en-US" sz="1200" dirty="0"/>
                <a:t>، </a:t>
              </a:r>
              <a:r>
                <a:rPr lang="en-US" sz="1200" dirty="0" err="1"/>
                <a:t>باگ‌های</a:t>
              </a:r>
              <a:r>
                <a:rPr lang="en-US" sz="1200" dirty="0"/>
                <a:t> </a:t>
              </a:r>
              <a:r>
                <a:rPr lang="en-US" sz="1200" dirty="0" err="1"/>
                <a:t>احتمالی</a:t>
              </a:r>
              <a:r>
                <a:rPr lang="en-US" sz="1200" dirty="0"/>
                <a:t> و </a:t>
              </a:r>
              <a:r>
                <a:rPr lang="en-US" sz="1200" dirty="0" err="1"/>
                <a:t>آسیب‌پذیری‌های</a:t>
              </a:r>
              <a:r>
                <a:rPr lang="en-US" sz="1200" dirty="0"/>
                <a:t> </a:t>
              </a:r>
              <a:r>
                <a:rPr lang="en-US" sz="1200" dirty="0" err="1"/>
                <a:t>امنیتی</a:t>
              </a:r>
              <a:r>
                <a:rPr lang="en-US" sz="1200" dirty="0"/>
                <a:t>.</a:t>
              </a:r>
              <a:endParaRPr lang="fa-IR" sz="1200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07CEF27-8790-4BB8-3FA6-53F5D6969157}"/>
              </a:ext>
            </a:extLst>
          </p:cNvPr>
          <p:cNvGrpSpPr/>
          <p:nvPr/>
        </p:nvGrpSpPr>
        <p:grpSpPr>
          <a:xfrm>
            <a:off x="1315264" y="3649914"/>
            <a:ext cx="2860157" cy="840449"/>
            <a:chOff x="867416" y="3429000"/>
            <a:chExt cx="2860157" cy="840449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16AE7F2-9928-729C-A002-2F31D4C272E7}"/>
                </a:ext>
              </a:extLst>
            </p:cNvPr>
            <p:cNvSpPr txBox="1"/>
            <p:nvPr/>
          </p:nvSpPr>
          <p:spPr>
            <a:xfrm>
              <a:off x="867417" y="3429000"/>
              <a:ext cx="286015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r>
                <a:rPr lang="en-US" sz="2000" b="1" dirty="0" err="1">
                  <a:solidFill>
                    <a:srgbClr val="1E2F9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Pylint</a:t>
              </a:r>
              <a:endParaRPr lang="fa-IR" sz="2000" b="1" dirty="0">
                <a:solidFill>
                  <a:srgbClr val="1E2F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8980A6-00FC-5D48-D194-BF3DFB5843FB}"/>
                </a:ext>
              </a:extLst>
            </p:cNvPr>
            <p:cNvSpPr txBox="1"/>
            <p:nvPr/>
          </p:nvSpPr>
          <p:spPr>
            <a:xfrm>
              <a:off x="867416" y="3769257"/>
              <a:ext cx="2860156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rtl="1">
                <a:lnSpc>
                  <a:spcPct val="120000"/>
                </a:lnSpc>
              </a:pPr>
              <a:r>
                <a:rPr lang="en-US" sz="1200" dirty="0" err="1"/>
                <a:t>ابزاری</a:t>
              </a:r>
              <a:r>
                <a:rPr lang="en-US" sz="1200" dirty="0"/>
                <a:t> </a:t>
              </a:r>
              <a:r>
                <a:rPr lang="en-US" sz="1200" dirty="0" err="1"/>
                <a:t>برای</a:t>
              </a:r>
              <a:r>
                <a:rPr lang="en-US" sz="1200" dirty="0"/>
                <a:t> </a:t>
              </a:r>
              <a:r>
                <a:rPr lang="en-US" sz="1200" dirty="0" err="1"/>
                <a:t>بررسی</a:t>
              </a:r>
              <a:r>
                <a:rPr lang="en-US" sz="1200" dirty="0"/>
                <a:t> </a:t>
              </a:r>
              <a:r>
                <a:rPr lang="en-US" sz="1200" dirty="0" err="1"/>
                <a:t>کیفیت</a:t>
              </a:r>
              <a:r>
                <a:rPr lang="en-US" sz="1200" dirty="0"/>
                <a:t>، </a:t>
              </a:r>
              <a:r>
                <a:rPr lang="en-US" sz="1200" dirty="0" err="1"/>
                <a:t>استانداردهای</a:t>
              </a:r>
              <a:r>
                <a:rPr lang="en-US" sz="1200" dirty="0"/>
                <a:t> </a:t>
              </a:r>
              <a:r>
                <a:rPr lang="en-US" sz="1200" dirty="0" err="1"/>
                <a:t>نگارش</a:t>
              </a:r>
              <a:r>
                <a:rPr lang="en-US" sz="1200" dirty="0"/>
                <a:t> و </a:t>
              </a:r>
              <a:r>
                <a:rPr lang="en-US" sz="1200" dirty="0" err="1"/>
                <a:t>برخی</a:t>
              </a:r>
              <a:r>
                <a:rPr lang="en-US" sz="1200" dirty="0"/>
                <a:t> </a:t>
              </a:r>
              <a:r>
                <a:rPr lang="en-US" sz="1200" dirty="0" err="1"/>
                <a:t>مشکلات</a:t>
              </a:r>
              <a:r>
                <a:rPr lang="en-US" sz="1200" dirty="0"/>
                <a:t> </a:t>
              </a:r>
              <a:r>
                <a:rPr lang="en-US" sz="1200" dirty="0" err="1"/>
                <a:t>کدهایPython</a:t>
              </a:r>
              <a:r>
                <a:rPr lang="en-US" sz="1200" dirty="0"/>
                <a:t>.</a:t>
              </a:r>
              <a:endParaRPr lang="fa-IR" sz="1200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5FB7AB22-0576-A26A-7B36-BB688F4C2E78}"/>
              </a:ext>
            </a:extLst>
          </p:cNvPr>
          <p:cNvSpPr txBox="1"/>
          <p:nvPr/>
        </p:nvSpPr>
        <p:spPr>
          <a:xfrm>
            <a:off x="2382857" y="5220059"/>
            <a:ext cx="9302701" cy="27859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200" dirty="0" err="1"/>
              <a:t>این</a:t>
            </a:r>
            <a:r>
              <a:rPr lang="en-US" sz="1200" dirty="0"/>
              <a:t> </a:t>
            </a:r>
            <a:r>
              <a:rPr lang="en-US" sz="1200" dirty="0" err="1"/>
              <a:t>ابزارها</a:t>
            </a:r>
            <a:r>
              <a:rPr lang="en-US" sz="1200" dirty="0"/>
              <a:t> </a:t>
            </a:r>
            <a:r>
              <a:rPr lang="en-US" sz="1200" dirty="0" err="1"/>
              <a:t>با</a:t>
            </a:r>
            <a:r>
              <a:rPr lang="en-US" sz="1200" dirty="0"/>
              <a:t> </a:t>
            </a:r>
            <a:r>
              <a:rPr lang="en-US" sz="1200" dirty="0" err="1"/>
              <a:t>خودکارسازی</a:t>
            </a:r>
            <a:r>
              <a:rPr lang="en-US" sz="1200" dirty="0"/>
              <a:t> </a:t>
            </a:r>
            <a:r>
              <a:rPr lang="en-US" sz="1200" dirty="0" err="1"/>
              <a:t>بخشی</a:t>
            </a:r>
            <a:r>
              <a:rPr lang="en-US" sz="1200" dirty="0"/>
              <a:t> </a:t>
            </a:r>
            <a:r>
              <a:rPr lang="en-US" sz="1200" dirty="0" err="1"/>
              <a:t>از</a:t>
            </a:r>
            <a:r>
              <a:rPr lang="en-US" sz="1200" dirty="0"/>
              <a:t> </a:t>
            </a:r>
            <a:r>
              <a:rPr lang="en-US" sz="1200" dirty="0" err="1"/>
              <a:t>فرایند</a:t>
            </a:r>
            <a:r>
              <a:rPr lang="en-US" sz="1200" dirty="0"/>
              <a:t> </a:t>
            </a:r>
            <a:r>
              <a:rPr lang="en-US" sz="1200" dirty="0" err="1"/>
              <a:t>بررسی</a:t>
            </a:r>
            <a:r>
              <a:rPr lang="en-US" sz="1200" dirty="0"/>
              <a:t> </a:t>
            </a:r>
            <a:r>
              <a:rPr lang="en-US" sz="1200" dirty="0" err="1"/>
              <a:t>کد</a:t>
            </a:r>
            <a:r>
              <a:rPr lang="en-US" sz="1200" dirty="0"/>
              <a:t>، </a:t>
            </a:r>
            <a:r>
              <a:rPr lang="en-US" sz="1200" dirty="0" err="1"/>
              <a:t>به</a:t>
            </a:r>
            <a:r>
              <a:rPr lang="en-US" sz="1200" dirty="0"/>
              <a:t> </a:t>
            </a:r>
            <a:r>
              <a:rPr lang="en-US" sz="1200" dirty="0" err="1"/>
              <a:t>برنامه‌نویسان</a:t>
            </a:r>
            <a:r>
              <a:rPr lang="en-US" sz="1200" dirty="0"/>
              <a:t> </a:t>
            </a:r>
            <a:r>
              <a:rPr lang="en-US" sz="1200" dirty="0" err="1"/>
              <a:t>کمک</a:t>
            </a:r>
            <a:r>
              <a:rPr lang="en-US" sz="1200" dirty="0"/>
              <a:t> </a:t>
            </a:r>
            <a:r>
              <a:rPr lang="en-US" sz="1200" dirty="0" err="1"/>
              <a:t>می‌کنند</a:t>
            </a:r>
            <a:r>
              <a:rPr lang="en-US" sz="1200" dirty="0"/>
              <a:t> </a:t>
            </a:r>
            <a:r>
              <a:rPr lang="en-US" sz="1200" dirty="0" err="1"/>
              <a:t>تا</a:t>
            </a:r>
            <a:r>
              <a:rPr lang="en-US" sz="1200" dirty="0"/>
              <a:t> </a:t>
            </a:r>
            <a:r>
              <a:rPr lang="en-US" sz="1200" dirty="0" err="1"/>
              <a:t>مشکلات</a:t>
            </a:r>
            <a:r>
              <a:rPr lang="en-US" sz="1200" dirty="0"/>
              <a:t> </a:t>
            </a:r>
            <a:r>
              <a:rPr lang="en-US" sz="1200" dirty="0" err="1"/>
              <a:t>را</a:t>
            </a:r>
            <a:r>
              <a:rPr lang="en-US" sz="1200" dirty="0"/>
              <a:t> </a:t>
            </a:r>
            <a:r>
              <a:rPr lang="en-US" sz="1200" dirty="0" err="1"/>
              <a:t>زودتر</a:t>
            </a:r>
            <a:r>
              <a:rPr lang="en-US" sz="1200" dirty="0"/>
              <a:t> </a:t>
            </a:r>
            <a:r>
              <a:rPr lang="en-US" sz="1200" dirty="0" err="1"/>
              <a:t>شناسایی</a:t>
            </a:r>
            <a:r>
              <a:rPr lang="en-US" sz="1200" dirty="0"/>
              <a:t> </a:t>
            </a:r>
            <a:r>
              <a:rPr lang="en-US" sz="1200" dirty="0" err="1"/>
              <a:t>کرده</a:t>
            </a:r>
            <a:r>
              <a:rPr lang="en-US" sz="1200" dirty="0"/>
              <a:t> و </a:t>
            </a:r>
            <a:r>
              <a:rPr lang="en-US" sz="1200" dirty="0" err="1"/>
              <a:t>کیفیت</a:t>
            </a:r>
            <a:r>
              <a:rPr lang="en-US" sz="1200" dirty="0"/>
              <a:t> </a:t>
            </a:r>
            <a:r>
              <a:rPr lang="en-US" sz="1200" dirty="0" err="1"/>
              <a:t>نرم‌افزار</a:t>
            </a:r>
            <a:r>
              <a:rPr lang="en-US" sz="1200" dirty="0"/>
              <a:t> </a:t>
            </a:r>
            <a:r>
              <a:rPr lang="en-US" sz="1200" dirty="0" err="1"/>
              <a:t>را</a:t>
            </a:r>
            <a:r>
              <a:rPr lang="en-US" sz="1200" dirty="0"/>
              <a:t> </a:t>
            </a:r>
            <a:r>
              <a:rPr lang="en-US" sz="1200" dirty="0" err="1"/>
              <a:t>در</a:t>
            </a:r>
            <a:r>
              <a:rPr lang="en-US" sz="1200" dirty="0"/>
              <a:t> </a:t>
            </a:r>
            <a:r>
              <a:rPr lang="en-US" sz="1200" dirty="0" err="1"/>
              <a:t>طول</a:t>
            </a:r>
            <a:r>
              <a:rPr lang="en-US" sz="1200" dirty="0"/>
              <a:t> </a:t>
            </a:r>
            <a:r>
              <a:rPr lang="en-US" sz="1200" dirty="0" err="1"/>
              <a:t>توسعه</a:t>
            </a:r>
            <a:r>
              <a:rPr lang="en-US" sz="1200" dirty="0"/>
              <a:t> </a:t>
            </a:r>
            <a:r>
              <a:rPr lang="en-US" sz="1200" dirty="0" err="1"/>
              <a:t>حفظ</a:t>
            </a:r>
            <a:r>
              <a:rPr lang="en-US" sz="1200" dirty="0"/>
              <a:t> </a:t>
            </a:r>
            <a:r>
              <a:rPr lang="en-US" sz="1200" dirty="0" err="1"/>
              <a:t>کنند</a:t>
            </a:r>
            <a:r>
              <a:rPr lang="en-US" sz="1200" dirty="0"/>
              <a:t>.</a:t>
            </a:r>
            <a:endParaRPr lang="fa-IR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CAF4596-A9B5-7DCE-D21F-56423EBF346C}"/>
              </a:ext>
            </a:extLst>
          </p:cNvPr>
          <p:cNvSpPr txBox="1"/>
          <p:nvPr/>
        </p:nvSpPr>
        <p:spPr>
          <a:xfrm>
            <a:off x="1098097" y="624131"/>
            <a:ext cx="10499947" cy="50019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just" rtl="1">
              <a:lnSpc>
                <a:spcPct val="120000"/>
              </a:lnSpc>
            </a:pPr>
            <a:r>
              <a:rPr lang="en-US" sz="1200" dirty="0" err="1"/>
              <a:t>ابزارهای</a:t>
            </a:r>
            <a:r>
              <a:rPr lang="en-US" sz="1200" dirty="0"/>
              <a:t> </a:t>
            </a:r>
            <a:r>
              <a:rPr lang="en-US" sz="1200" dirty="0" err="1"/>
              <a:t>تحلیل</a:t>
            </a:r>
            <a:r>
              <a:rPr lang="en-US" sz="1200" dirty="0"/>
              <a:t> </a:t>
            </a:r>
            <a:r>
              <a:rPr lang="en-US" sz="1200" dirty="0" err="1"/>
              <a:t>کد</a:t>
            </a:r>
            <a:r>
              <a:rPr lang="en-US" sz="1200" dirty="0"/>
              <a:t> </a:t>
            </a:r>
            <a:r>
              <a:rPr lang="en-US" sz="1200" dirty="0" err="1"/>
              <a:t>با</a:t>
            </a:r>
            <a:r>
              <a:rPr lang="en-US" sz="1200" dirty="0"/>
              <a:t> </a:t>
            </a:r>
            <a:r>
              <a:rPr lang="en-US" sz="1200" dirty="0" err="1"/>
              <a:t>بررسی</a:t>
            </a:r>
            <a:r>
              <a:rPr lang="en-US" sz="1200" dirty="0"/>
              <a:t> </a:t>
            </a:r>
            <a:r>
              <a:rPr lang="en-US" sz="1200" dirty="0" err="1"/>
              <a:t>ساختار</a:t>
            </a:r>
            <a:r>
              <a:rPr lang="en-US" sz="1200" dirty="0"/>
              <a:t> و </a:t>
            </a:r>
            <a:r>
              <a:rPr lang="en-US" sz="1200" dirty="0" err="1"/>
              <a:t>ویژگی‌های</a:t>
            </a:r>
            <a:r>
              <a:rPr lang="en-US" sz="1200" dirty="0"/>
              <a:t> </a:t>
            </a:r>
            <a:r>
              <a:rPr lang="en-US" sz="1200" dirty="0" err="1"/>
              <a:t>کد</a:t>
            </a:r>
            <a:r>
              <a:rPr lang="en-US" sz="1200" dirty="0"/>
              <a:t> </a:t>
            </a:r>
            <a:r>
              <a:rPr lang="en-US" sz="1200" dirty="0" err="1"/>
              <a:t>منبع</a:t>
            </a:r>
            <a:r>
              <a:rPr lang="en-US" sz="1200" dirty="0"/>
              <a:t>، </a:t>
            </a:r>
            <a:r>
              <a:rPr lang="en-US" sz="1200" dirty="0" err="1"/>
              <a:t>به</a:t>
            </a:r>
            <a:r>
              <a:rPr lang="en-US" sz="1200" dirty="0"/>
              <a:t> </a:t>
            </a:r>
            <a:r>
              <a:rPr lang="en-US" sz="1200" dirty="0" err="1"/>
              <a:t>شناسایی</a:t>
            </a:r>
            <a:r>
              <a:rPr lang="en-US" sz="1200" dirty="0"/>
              <a:t> </a:t>
            </a:r>
            <a:r>
              <a:rPr lang="en-US" sz="1200" dirty="0" err="1"/>
              <a:t>خطاهای</a:t>
            </a:r>
            <a:r>
              <a:rPr lang="en-US" sz="1200" dirty="0"/>
              <a:t> </a:t>
            </a:r>
            <a:r>
              <a:rPr lang="en-US" sz="1200" dirty="0" err="1"/>
              <a:t>احتمالی</a:t>
            </a:r>
            <a:r>
              <a:rPr lang="en-US" sz="1200" dirty="0"/>
              <a:t>، </a:t>
            </a:r>
            <a:r>
              <a:rPr lang="en-US" sz="1200" dirty="0" err="1"/>
              <a:t>مشکلات</a:t>
            </a:r>
            <a:r>
              <a:rPr lang="en-US" sz="1200" dirty="0"/>
              <a:t> </a:t>
            </a:r>
            <a:r>
              <a:rPr lang="en-US" sz="1200" dirty="0" err="1"/>
              <a:t>نگهداری</a:t>
            </a:r>
            <a:r>
              <a:rPr lang="en-US" sz="1200" dirty="0"/>
              <a:t> و </a:t>
            </a:r>
            <a:r>
              <a:rPr lang="en-US" sz="1200" dirty="0" err="1"/>
              <a:t>برخی</a:t>
            </a:r>
            <a:r>
              <a:rPr lang="en-US" sz="1200" dirty="0"/>
              <a:t> </a:t>
            </a:r>
            <a:r>
              <a:rPr lang="en-US" sz="1200" dirty="0" err="1"/>
              <a:t>از</a:t>
            </a:r>
            <a:r>
              <a:rPr lang="en-US" sz="1200" dirty="0"/>
              <a:t> </a:t>
            </a:r>
            <a:r>
              <a:rPr lang="en-US" sz="1200" dirty="0" err="1"/>
              <a:t>انواع</a:t>
            </a:r>
            <a:r>
              <a:rPr lang="en-US" sz="1200" dirty="0"/>
              <a:t> Code Smell </a:t>
            </a:r>
            <a:r>
              <a:rPr lang="en-US" sz="1200" dirty="0" err="1"/>
              <a:t>کمک</a:t>
            </a:r>
            <a:r>
              <a:rPr lang="en-US" sz="1200" dirty="0"/>
              <a:t> </a:t>
            </a:r>
            <a:r>
              <a:rPr lang="en-US" sz="1200" dirty="0" err="1"/>
              <a:t>می‌کنند</a:t>
            </a:r>
            <a:r>
              <a:rPr lang="en-US" sz="1200" dirty="0"/>
              <a:t>. </a:t>
            </a:r>
            <a:r>
              <a:rPr lang="en-US" sz="1200" dirty="0" err="1"/>
              <a:t>استفاده</a:t>
            </a:r>
            <a:r>
              <a:rPr lang="en-US" sz="1200" dirty="0"/>
              <a:t> </a:t>
            </a:r>
            <a:r>
              <a:rPr lang="en-US" sz="1200" dirty="0" err="1"/>
              <a:t>از</a:t>
            </a:r>
            <a:r>
              <a:rPr lang="en-US" sz="1200" dirty="0"/>
              <a:t> </a:t>
            </a:r>
            <a:r>
              <a:rPr lang="en-US" sz="1200" dirty="0" err="1"/>
              <a:t>این</a:t>
            </a:r>
            <a:r>
              <a:rPr lang="en-US" sz="1200" dirty="0"/>
              <a:t> </a:t>
            </a:r>
            <a:r>
              <a:rPr lang="en-US" sz="1200" dirty="0" err="1"/>
              <a:t>ابزارها</a:t>
            </a:r>
            <a:r>
              <a:rPr lang="en-US" sz="1200" dirty="0"/>
              <a:t> </a:t>
            </a:r>
            <a:r>
              <a:rPr lang="en-US" sz="1200" dirty="0" err="1"/>
              <a:t>می‌تواند</a:t>
            </a:r>
            <a:r>
              <a:rPr lang="en-US" sz="1200" dirty="0"/>
              <a:t> </a:t>
            </a:r>
            <a:r>
              <a:rPr lang="en-US" sz="1200" dirty="0" err="1"/>
              <a:t>کیفیت</a:t>
            </a:r>
            <a:r>
              <a:rPr lang="en-US" sz="1200" dirty="0"/>
              <a:t> </a:t>
            </a:r>
            <a:r>
              <a:rPr lang="en-US" sz="1200" dirty="0" err="1"/>
              <a:t>کد</a:t>
            </a:r>
            <a:r>
              <a:rPr lang="en-US" sz="1200" dirty="0"/>
              <a:t> </a:t>
            </a:r>
            <a:r>
              <a:rPr lang="en-US" sz="1200" dirty="0" err="1"/>
              <a:t>را</a:t>
            </a:r>
            <a:r>
              <a:rPr lang="en-US" sz="1200" dirty="0"/>
              <a:t> </a:t>
            </a:r>
            <a:r>
              <a:rPr lang="en-US" sz="1200" dirty="0" err="1"/>
              <a:t>افزایش</a:t>
            </a:r>
            <a:r>
              <a:rPr lang="en-US" sz="1200" dirty="0"/>
              <a:t> </a:t>
            </a:r>
            <a:r>
              <a:rPr lang="en-US" sz="1200" dirty="0" err="1"/>
              <a:t>داده</a:t>
            </a:r>
            <a:r>
              <a:rPr lang="en-US" sz="1200" dirty="0"/>
              <a:t> و </a:t>
            </a:r>
            <a:r>
              <a:rPr lang="en-US" sz="1200" dirty="0" err="1"/>
              <a:t>فرایند</a:t>
            </a:r>
            <a:r>
              <a:rPr lang="en-US" sz="1200" dirty="0"/>
              <a:t> </a:t>
            </a:r>
            <a:r>
              <a:rPr lang="en-US" sz="1200" dirty="0" err="1"/>
              <a:t>توسعه</a:t>
            </a:r>
            <a:r>
              <a:rPr lang="en-US" sz="1200" dirty="0"/>
              <a:t> </a:t>
            </a:r>
            <a:r>
              <a:rPr lang="en-US" sz="1200" dirty="0" err="1"/>
              <a:t>نرم‌افزار</a:t>
            </a:r>
            <a:r>
              <a:rPr lang="en-US" sz="1200" dirty="0"/>
              <a:t> </a:t>
            </a:r>
            <a:r>
              <a:rPr lang="en-US" sz="1200" dirty="0" err="1"/>
              <a:t>را</a:t>
            </a:r>
            <a:r>
              <a:rPr lang="en-US" sz="1200" dirty="0"/>
              <a:t> </a:t>
            </a:r>
            <a:r>
              <a:rPr lang="en-US" sz="1200" dirty="0" err="1"/>
              <a:t>بهبود</a:t>
            </a:r>
            <a:r>
              <a:rPr lang="en-US" sz="1200" dirty="0"/>
              <a:t> </a:t>
            </a:r>
            <a:r>
              <a:rPr lang="en-US" sz="1200" dirty="0" err="1"/>
              <a:t>بخشد</a:t>
            </a:r>
            <a:r>
              <a:rPr lang="en-US" sz="1200" dirty="0"/>
              <a:t>.</a:t>
            </a:r>
            <a:endParaRPr lang="fa-IR" sz="1200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43B98EA-BBD5-F481-C8E8-220F46019906}"/>
              </a:ext>
            </a:extLst>
          </p:cNvPr>
          <p:cNvGrpSpPr/>
          <p:nvPr/>
        </p:nvGrpSpPr>
        <p:grpSpPr>
          <a:xfrm>
            <a:off x="8016347" y="1712470"/>
            <a:ext cx="2860157" cy="840449"/>
            <a:chOff x="867416" y="3429000"/>
            <a:chExt cx="2860157" cy="84044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E910EC4-E4D7-1E6B-CDAD-FAD43C601AB4}"/>
                </a:ext>
              </a:extLst>
            </p:cNvPr>
            <p:cNvSpPr txBox="1"/>
            <p:nvPr/>
          </p:nvSpPr>
          <p:spPr>
            <a:xfrm>
              <a:off x="867417" y="3429000"/>
              <a:ext cx="286015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r>
                <a:rPr lang="en-US" sz="2000" b="1" dirty="0" err="1">
                  <a:solidFill>
                    <a:srgbClr val="1E2F9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ESLint</a:t>
              </a:r>
              <a:endParaRPr lang="fa-IR" sz="2000" b="1" dirty="0">
                <a:solidFill>
                  <a:srgbClr val="1E2F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32EA59A-F4BB-B202-5D2D-4E7D3B47DF76}"/>
                </a:ext>
              </a:extLst>
            </p:cNvPr>
            <p:cNvSpPr txBox="1"/>
            <p:nvPr/>
          </p:nvSpPr>
          <p:spPr>
            <a:xfrm>
              <a:off x="867416" y="3769257"/>
              <a:ext cx="2860156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rtl="1">
                <a:lnSpc>
                  <a:spcPct val="120000"/>
                </a:lnSpc>
              </a:pPr>
              <a:r>
                <a:rPr lang="en-US" sz="1200" dirty="0" err="1"/>
                <a:t>ابزاری</a:t>
              </a:r>
              <a:r>
                <a:rPr lang="en-US" sz="1200" dirty="0"/>
                <a:t> </a:t>
              </a:r>
              <a:r>
                <a:rPr lang="en-US" sz="1200" dirty="0" err="1"/>
                <a:t>برای</a:t>
              </a:r>
              <a:r>
                <a:rPr lang="en-US" sz="1200" dirty="0"/>
                <a:t> </a:t>
              </a:r>
              <a:r>
                <a:rPr lang="en-US" sz="1200" dirty="0" err="1"/>
                <a:t>شناسایی</a:t>
              </a:r>
              <a:r>
                <a:rPr lang="en-US" sz="1200" dirty="0"/>
                <a:t> </a:t>
              </a:r>
              <a:r>
                <a:rPr lang="en-US" sz="1200" dirty="0" err="1"/>
                <a:t>مشکلات</a:t>
              </a:r>
              <a:r>
                <a:rPr lang="en-US" sz="1200" dirty="0"/>
                <a:t> و </a:t>
              </a:r>
              <a:r>
                <a:rPr lang="en-US" sz="1200" dirty="0" err="1"/>
                <a:t>رعایت</a:t>
              </a:r>
              <a:r>
                <a:rPr lang="en-US" sz="1200" dirty="0"/>
                <a:t> </a:t>
              </a:r>
              <a:r>
                <a:rPr lang="en-US" sz="1200" dirty="0" err="1"/>
                <a:t>قواعد</a:t>
              </a:r>
              <a:r>
                <a:rPr lang="en-US" sz="1200" dirty="0"/>
                <a:t> </a:t>
              </a:r>
              <a:r>
                <a:rPr lang="en-US" sz="1200" dirty="0" err="1"/>
                <a:t>کدنویسی</a:t>
              </a:r>
              <a:r>
                <a:rPr lang="en-US" sz="1200" dirty="0"/>
                <a:t> </a:t>
              </a:r>
              <a:r>
                <a:rPr lang="en-US" sz="1200" dirty="0" err="1"/>
                <a:t>در</a:t>
              </a:r>
              <a:r>
                <a:rPr lang="en-US" sz="1200" dirty="0"/>
                <a:t> </a:t>
              </a:r>
              <a:r>
                <a:rPr lang="en-US" sz="1200" dirty="0" err="1"/>
                <a:t>پروژه‌های</a:t>
              </a:r>
              <a:r>
                <a:rPr lang="en-US" sz="1200" dirty="0"/>
                <a:t> JavaScript.</a:t>
              </a:r>
              <a:endParaRPr lang="fa-IR" sz="120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C1B598D-7B51-4547-959A-FFF95746C792}"/>
              </a:ext>
            </a:extLst>
          </p:cNvPr>
          <p:cNvGrpSpPr/>
          <p:nvPr/>
        </p:nvGrpSpPr>
        <p:grpSpPr>
          <a:xfrm>
            <a:off x="8016347" y="3649914"/>
            <a:ext cx="2860157" cy="840449"/>
            <a:chOff x="867416" y="3429000"/>
            <a:chExt cx="2860157" cy="840449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0810795-1728-CF9E-438C-75C207AB7677}"/>
                </a:ext>
              </a:extLst>
            </p:cNvPr>
            <p:cNvSpPr txBox="1"/>
            <p:nvPr/>
          </p:nvSpPr>
          <p:spPr>
            <a:xfrm>
              <a:off x="867417" y="3429000"/>
              <a:ext cx="286015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algn="ctr" rtl="1">
                <a:defRPr>
                  <a:solidFill>
                    <a:schemeClr val="bg1"/>
                  </a:solidFill>
                  <a:cs typeface="+mj-cs"/>
                </a:defRPr>
              </a:lvl1pPr>
            </a:lstStyle>
            <a:p>
              <a:r>
                <a:rPr lang="en-US" sz="2000" b="1" dirty="0">
                  <a:solidFill>
                    <a:srgbClr val="1E2F9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GitHub Actions</a:t>
              </a:r>
              <a:endParaRPr lang="fa-IR" sz="2000" b="1" dirty="0">
                <a:solidFill>
                  <a:srgbClr val="1E2F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EE7B2AC-614D-06CF-7831-41A29F24A443}"/>
                </a:ext>
              </a:extLst>
            </p:cNvPr>
            <p:cNvSpPr txBox="1"/>
            <p:nvPr/>
          </p:nvSpPr>
          <p:spPr>
            <a:xfrm>
              <a:off x="867416" y="3769257"/>
              <a:ext cx="2860156" cy="50019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sz="1200" dirty="0" err="1"/>
                <a:t>سرویسی</a:t>
              </a:r>
              <a:r>
                <a:rPr lang="en-US" sz="1200" dirty="0"/>
                <a:t> </a:t>
              </a:r>
              <a:r>
                <a:rPr lang="en-US" sz="1200" dirty="0" err="1"/>
                <a:t>برای</a:t>
              </a:r>
              <a:r>
                <a:rPr lang="en-US" sz="1200" dirty="0"/>
                <a:t> </a:t>
              </a:r>
              <a:r>
                <a:rPr lang="en-US" sz="1200" dirty="0" err="1"/>
                <a:t>خودکارسازی</a:t>
              </a:r>
              <a:r>
                <a:rPr lang="en-US" sz="1200" dirty="0"/>
                <a:t> </a:t>
              </a:r>
              <a:r>
                <a:rPr lang="en-US" sz="1200" dirty="0" err="1"/>
                <a:t>فرایندهایی</a:t>
              </a:r>
              <a:r>
                <a:rPr lang="en-US" sz="1200" dirty="0"/>
                <a:t> </a:t>
              </a:r>
              <a:r>
                <a:rPr lang="en-US" sz="1200" dirty="0" err="1"/>
                <a:t>مانند</a:t>
              </a:r>
              <a:r>
                <a:rPr lang="en-US" sz="1200" dirty="0"/>
                <a:t> </a:t>
              </a:r>
              <a:r>
                <a:rPr lang="en-US" sz="1200" dirty="0" err="1"/>
                <a:t>اجرای</a:t>
              </a:r>
              <a:r>
                <a:rPr lang="en-US" sz="1200" dirty="0"/>
                <a:t> </a:t>
              </a:r>
              <a:r>
                <a:rPr lang="en-US" sz="1200" dirty="0" err="1"/>
                <a:t>تست‌ها</a:t>
              </a:r>
              <a:r>
                <a:rPr lang="en-US" sz="1200" dirty="0"/>
                <a:t> و </a:t>
              </a:r>
              <a:r>
                <a:rPr lang="en-US" sz="1200" dirty="0" err="1"/>
                <a:t>ابزارهای</a:t>
              </a:r>
              <a:r>
                <a:rPr lang="en-US" sz="1200" dirty="0"/>
                <a:t> </a:t>
              </a:r>
              <a:r>
                <a:rPr lang="en-US" sz="1200" dirty="0" err="1"/>
                <a:t>تحلیل</a:t>
              </a:r>
              <a:r>
                <a:rPr lang="en-US" sz="1200" dirty="0"/>
                <a:t> </a:t>
              </a:r>
              <a:r>
                <a:rPr lang="en-US" sz="1200" dirty="0" err="1"/>
                <a:t>کد</a:t>
              </a:r>
              <a:r>
                <a:rPr lang="en-US" sz="1200" dirty="0"/>
                <a:t> </a:t>
              </a:r>
              <a:r>
                <a:rPr lang="en-US" sz="1200" dirty="0" err="1"/>
                <a:t>در</a:t>
              </a:r>
              <a:r>
                <a:rPr lang="en-US" sz="1200" dirty="0"/>
                <a:t> </a:t>
              </a:r>
              <a:r>
                <a:rPr lang="en-US" sz="1200" dirty="0" err="1"/>
                <a:t>گردش‌کار</a:t>
              </a:r>
              <a:r>
                <a:rPr lang="en-US" sz="1200" dirty="0"/>
                <a:t> </a:t>
              </a:r>
              <a:r>
                <a:rPr lang="en-US" sz="1200" dirty="0" err="1"/>
                <a:t>توسعه</a:t>
              </a:r>
              <a:endParaRPr lang="fa-IR" sz="1200" dirty="0"/>
            </a:p>
          </p:txBody>
        </p:sp>
      </p:grpSp>
      <p:sp>
        <p:nvSpPr>
          <p:cNvPr id="118" name="Oval 117">
            <a:extLst>
              <a:ext uri="{FF2B5EF4-FFF2-40B4-BE49-F238E27FC236}">
                <a16:creationId xmlns:a16="http://schemas.microsoft.com/office/drawing/2014/main" id="{0AE0CDB6-D05C-0E55-9F89-23E879532CBA}"/>
              </a:ext>
            </a:extLst>
          </p:cNvPr>
          <p:cNvSpPr/>
          <p:nvPr/>
        </p:nvSpPr>
        <p:spPr>
          <a:xfrm>
            <a:off x="5357011" y="2267034"/>
            <a:ext cx="1477979" cy="1477979"/>
          </a:xfrm>
          <a:prstGeom prst="ellipse">
            <a:avLst/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7F7FF4C-B106-A1D6-DFCE-95EF7DED7B7A}"/>
              </a:ext>
            </a:extLst>
          </p:cNvPr>
          <p:cNvSpPr txBox="1"/>
          <p:nvPr/>
        </p:nvSpPr>
        <p:spPr>
          <a:xfrm>
            <a:off x="5348456" y="2431453"/>
            <a:ext cx="1477979" cy="10575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algn="ctr" rtl="1">
              <a:defRPr sz="3600" b="1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defRPr>
            </a:lvl1pPr>
          </a:lstStyle>
          <a:p>
            <a:r>
              <a:rPr lang="fa-IR" sz="3200" dirty="0"/>
              <a:t>ابزارهای پر کاربرد </a:t>
            </a:r>
            <a:endParaRPr lang="en-US" sz="3200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9B51909C-698A-B489-7680-D96DE26BF655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5B44CBA-F29C-15C6-3F20-14F26F8B3770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20FC88C4-5117-CC88-479B-579EA98E24A7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64B6BB9-D8C9-E460-C458-8C247AC9211B}"/>
                </a:ext>
              </a:extLst>
            </p:cNvPr>
            <p:cNvSpPr txBox="1"/>
            <p:nvPr/>
          </p:nvSpPr>
          <p:spPr>
            <a:xfrm>
              <a:off x="10055153" y="1903313"/>
              <a:ext cx="1585812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dirty="0">
                  <a:solidFill>
                    <a:schemeClr val="bg1"/>
                  </a:solidFill>
                  <a:cs typeface="+mj-cs"/>
                </a:rPr>
                <a:t>ابزارهای تحلیل کد</a:t>
              </a:r>
              <a:endParaRPr lang="en-US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6E1575D-7EC6-04AA-00FD-CF3C692B42AE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2EB10E84-C9DC-F0BC-36EF-A9AC4E961F8D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83D08E2-7788-EA4C-20A8-82ABC835CF86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D8740CD-91EB-7169-9816-931FCB8BAA2A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237EAE88-A4F8-02AE-4B84-2F51F57A83C9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6CB147A-4DCA-C76A-8E2D-068B778AAA58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1C2E70C-DA9A-5FF5-2D27-B2E82E1F5D4C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C59E66C9-0907-E85B-BC73-FAFE403E7F27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B4CC7C9-5954-7BB8-4749-1B13D3D3A7DA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5BDF66C-C126-CC6E-75BC-EB708F61175F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737254BC-D943-7C92-28E5-37FCE95A33CA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4474165-AC3C-88DD-BD70-69685C02399B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9D172F5-CA45-7F2A-4490-0FE74EBE7116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8DCD9DFD-3734-3B9C-45A5-C37A98592C18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69BB072-8F20-4D34-BABD-F8460F295FFA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140" name="Rectangle: Top Corners Rounded 139">
            <a:extLst>
              <a:ext uri="{FF2B5EF4-FFF2-40B4-BE49-F238E27FC236}">
                <a16:creationId xmlns:a16="http://schemas.microsoft.com/office/drawing/2014/main" id="{2D1DDD01-353E-5161-B620-02A8635C8396}"/>
              </a:ext>
            </a:extLst>
          </p:cNvPr>
          <p:cNvSpPr/>
          <p:nvPr/>
        </p:nvSpPr>
        <p:spPr>
          <a:xfrm>
            <a:off x="10048316" y="6858000"/>
            <a:ext cx="1777490" cy="150127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: Top Corners Rounded 140">
            <a:extLst>
              <a:ext uri="{FF2B5EF4-FFF2-40B4-BE49-F238E27FC236}">
                <a16:creationId xmlns:a16="http://schemas.microsoft.com/office/drawing/2014/main" id="{AE119CD8-37A1-AF61-351F-094220F2DEA0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: Top Corners Rounded 141">
            <a:extLst>
              <a:ext uri="{FF2B5EF4-FFF2-40B4-BE49-F238E27FC236}">
                <a16:creationId xmlns:a16="http://schemas.microsoft.com/office/drawing/2014/main" id="{05F193F8-8138-5D28-E4F1-0EB2694C1DE0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Top Corners Rounded 142">
            <a:extLst>
              <a:ext uri="{FF2B5EF4-FFF2-40B4-BE49-F238E27FC236}">
                <a16:creationId xmlns:a16="http://schemas.microsoft.com/office/drawing/2014/main" id="{4F6C02F8-D86A-ACD1-92E0-6587590893D2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Top Corners Rounded 143">
            <a:extLst>
              <a:ext uri="{FF2B5EF4-FFF2-40B4-BE49-F238E27FC236}">
                <a16:creationId xmlns:a16="http://schemas.microsoft.com/office/drawing/2014/main" id="{4F4BED82-C226-5FF0-45B0-69ADA75BE685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: Top Corners Rounded 144">
            <a:extLst>
              <a:ext uri="{FF2B5EF4-FFF2-40B4-BE49-F238E27FC236}">
                <a16:creationId xmlns:a16="http://schemas.microsoft.com/office/drawing/2014/main" id="{62C552D7-361E-6A5A-EA59-3B61D5C34392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Slide Number Placeholder 145">
            <a:extLst>
              <a:ext uri="{FF2B5EF4-FFF2-40B4-BE49-F238E27FC236}">
                <a16:creationId xmlns:a16="http://schemas.microsoft.com/office/drawing/2014/main" id="{87C32938-F027-6767-37FE-55F7B830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11</a:t>
            </a:fld>
            <a:endParaRPr lang="en-US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CEC6C23-0C2B-ADB8-946D-D5135F8ADEAE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Home with solid fill">
            <a:hlinkClick r:id="rId8" action="ppaction://hlinksldjump"/>
            <a:extLst>
              <a:ext uri="{FF2B5EF4-FFF2-40B4-BE49-F238E27FC236}">
                <a16:creationId xmlns:a16="http://schemas.microsoft.com/office/drawing/2014/main" id="{FE151808-EED1-7517-CA58-66CD17D49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30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BA827-0836-09A5-F728-492EFD37395E}"/>
              </a:ext>
            </a:extLst>
          </p:cNvPr>
          <p:cNvSpPr txBox="1"/>
          <p:nvPr/>
        </p:nvSpPr>
        <p:spPr>
          <a:xfrm>
            <a:off x="1488656" y="565217"/>
            <a:ext cx="9438105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 rtl="1"/>
            <a:r>
              <a:rPr lang="fa-IR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نتیجه گیری </a:t>
            </a:r>
            <a:endParaRPr lang="en-US" sz="36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A0649D-94D2-C0EF-B49F-0BCB8F667ECC}"/>
              </a:ext>
            </a:extLst>
          </p:cNvPr>
          <p:cNvSpPr/>
          <p:nvPr/>
        </p:nvSpPr>
        <p:spPr>
          <a:xfrm>
            <a:off x="11063314" y="662567"/>
            <a:ext cx="432000" cy="432000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9440EF-3957-7896-C16B-526E7767AF1B}"/>
              </a:ext>
            </a:extLst>
          </p:cNvPr>
          <p:cNvSpPr/>
          <p:nvPr/>
        </p:nvSpPr>
        <p:spPr>
          <a:xfrm rot="16200000">
            <a:off x="1812589" y="606421"/>
            <a:ext cx="3636691" cy="5445769"/>
          </a:xfrm>
          <a:prstGeom prst="roundRect">
            <a:avLst>
              <a:gd name="adj" fmla="val 15440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5A3D2B-2DF9-8C36-9D28-5E46887BF264}"/>
              </a:ext>
            </a:extLst>
          </p:cNvPr>
          <p:cNvGrpSpPr/>
          <p:nvPr/>
        </p:nvGrpSpPr>
        <p:grpSpPr>
          <a:xfrm>
            <a:off x="971893" y="1906599"/>
            <a:ext cx="7038735" cy="3040631"/>
            <a:chOff x="-1345848" y="2334747"/>
            <a:chExt cx="7038735" cy="30406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D03AAD4-4656-370F-D700-BA5819AE4831}"/>
                </a:ext>
              </a:extLst>
            </p:cNvPr>
            <p:cNvSpPr/>
            <p:nvPr/>
          </p:nvSpPr>
          <p:spPr>
            <a:xfrm>
              <a:off x="5492431" y="3074409"/>
              <a:ext cx="200456" cy="200456"/>
            </a:xfrm>
            <a:prstGeom prst="roundRect">
              <a:avLst>
                <a:gd name="adj" fmla="val 5726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507EC9-9CC8-B858-2BD1-03727251572E}"/>
                </a:ext>
              </a:extLst>
            </p:cNvPr>
            <p:cNvSpPr txBox="1"/>
            <p:nvPr/>
          </p:nvSpPr>
          <p:spPr>
            <a:xfrm>
              <a:off x="-1345848" y="2334747"/>
              <a:ext cx="5235815" cy="304063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rtl="1">
                <a:lnSpc>
                  <a:spcPct val="120000"/>
                </a:lnSpc>
              </a:pPr>
              <a:r>
                <a:rPr lang="en-US" dirty="0"/>
                <a:t>Clean Code و </a:t>
              </a:r>
              <a:r>
                <a:rPr lang="en-US" dirty="0" err="1"/>
                <a:t>شناسایی</a:t>
              </a:r>
              <a:r>
                <a:rPr lang="en-US" dirty="0"/>
                <a:t> Code Smell </a:t>
              </a:r>
              <a:r>
                <a:rPr lang="en-US" dirty="0" err="1"/>
                <a:t>از</a:t>
              </a:r>
              <a:r>
                <a:rPr lang="en-US" dirty="0"/>
                <a:t> </a:t>
              </a:r>
              <a:r>
                <a:rPr lang="en-US" dirty="0" err="1"/>
                <a:t>عوامل</a:t>
              </a:r>
              <a:r>
                <a:rPr lang="en-US" dirty="0"/>
                <a:t> </a:t>
              </a:r>
              <a:r>
                <a:rPr lang="en-US" dirty="0" err="1"/>
                <a:t>مهم</a:t>
              </a:r>
              <a:r>
                <a:rPr lang="en-US" dirty="0"/>
                <a:t> </a:t>
              </a:r>
              <a:r>
                <a:rPr lang="en-US" dirty="0" err="1"/>
                <a:t>در</a:t>
              </a:r>
              <a:r>
                <a:rPr lang="en-US" dirty="0"/>
                <a:t> </a:t>
              </a:r>
              <a:r>
                <a:rPr lang="en-US" dirty="0" err="1"/>
                <a:t>ارتقای</a:t>
              </a:r>
              <a:r>
                <a:rPr lang="en-US" dirty="0"/>
                <a:t> </a:t>
              </a:r>
              <a:r>
                <a:rPr lang="en-US" dirty="0" err="1"/>
                <a:t>کیفیت</a:t>
              </a:r>
              <a:r>
                <a:rPr lang="en-US" dirty="0"/>
                <a:t> </a:t>
              </a:r>
              <a:r>
                <a:rPr lang="en-US" dirty="0" err="1"/>
                <a:t>نرم‌افزار</a:t>
              </a:r>
              <a:r>
                <a:rPr lang="en-US" dirty="0"/>
                <a:t> </a:t>
              </a:r>
              <a:r>
                <a:rPr lang="en-US" dirty="0" err="1"/>
                <a:t>محسوب</a:t>
              </a:r>
              <a:r>
                <a:rPr lang="en-US" dirty="0"/>
                <a:t> </a:t>
              </a:r>
              <a:r>
                <a:rPr lang="en-US" dirty="0" err="1"/>
                <a:t>می‌شوند</a:t>
              </a:r>
              <a:r>
                <a:rPr lang="en-US" dirty="0"/>
                <a:t>. </a:t>
              </a:r>
              <a:r>
                <a:rPr lang="en-US" dirty="0" err="1"/>
                <a:t>رعایت</a:t>
              </a:r>
              <a:r>
                <a:rPr lang="en-US" dirty="0"/>
                <a:t> </a:t>
              </a:r>
              <a:r>
                <a:rPr lang="en-US" dirty="0" err="1"/>
                <a:t>اصول</a:t>
              </a:r>
              <a:r>
                <a:rPr lang="en-US" dirty="0"/>
                <a:t> </a:t>
              </a:r>
              <a:r>
                <a:rPr lang="en-US" dirty="0" err="1"/>
                <a:t>کدنویسی</a:t>
              </a:r>
              <a:r>
                <a:rPr lang="en-US" dirty="0"/>
                <a:t> </a:t>
              </a:r>
              <a:r>
                <a:rPr lang="en-US" dirty="0" err="1"/>
                <a:t>تمیز</a:t>
              </a:r>
              <a:r>
                <a:rPr lang="en-US" dirty="0"/>
                <a:t>، </a:t>
              </a:r>
              <a:r>
                <a:rPr lang="en-US" dirty="0" err="1"/>
                <a:t>شناسایی</a:t>
              </a:r>
              <a:r>
                <a:rPr lang="en-US" dirty="0"/>
                <a:t> </a:t>
              </a:r>
              <a:r>
                <a:rPr lang="en-US" dirty="0" err="1"/>
                <a:t>مشکلات</a:t>
              </a:r>
              <a:r>
                <a:rPr lang="en-US" dirty="0"/>
                <a:t> </a:t>
              </a:r>
              <a:r>
                <a:rPr lang="en-US" dirty="0" err="1"/>
                <a:t>ساختاری</a:t>
              </a:r>
              <a:r>
                <a:rPr lang="en-US" dirty="0"/>
                <a:t> و </a:t>
              </a:r>
              <a:r>
                <a:rPr lang="en-US" dirty="0" err="1"/>
                <a:t>استفاده</a:t>
              </a:r>
              <a:r>
                <a:rPr lang="en-US" dirty="0"/>
                <a:t> </a:t>
              </a:r>
              <a:r>
                <a:rPr lang="en-US" dirty="0" err="1"/>
                <a:t>از</a:t>
              </a:r>
              <a:r>
                <a:rPr lang="en-US" dirty="0"/>
                <a:t> </a:t>
              </a:r>
              <a:r>
                <a:rPr lang="en-US" dirty="0" err="1"/>
                <a:t>روش</a:t>
              </a:r>
              <a:r>
                <a:rPr lang="en-US" dirty="0"/>
                <a:t> </a:t>
              </a:r>
              <a:r>
                <a:rPr lang="en-US" dirty="0" err="1"/>
                <a:t>بازآرایی</a:t>
              </a:r>
              <a:r>
                <a:rPr lang="en-US" dirty="0"/>
                <a:t> </a:t>
              </a:r>
              <a:r>
                <a:rPr lang="en-US" dirty="0" err="1"/>
                <a:t>کد</a:t>
              </a:r>
              <a:r>
                <a:rPr lang="en-US" dirty="0"/>
                <a:t> (Refactoring)، </a:t>
              </a:r>
              <a:r>
                <a:rPr lang="en-US" dirty="0" err="1"/>
                <a:t>موجب</a:t>
              </a:r>
              <a:r>
                <a:rPr lang="en-US" dirty="0"/>
                <a:t> </a:t>
              </a:r>
              <a:r>
                <a:rPr lang="en-US" dirty="0" err="1"/>
                <a:t>افزایش</a:t>
              </a:r>
              <a:r>
                <a:rPr lang="en-US" dirty="0"/>
                <a:t> </a:t>
              </a:r>
              <a:r>
                <a:rPr lang="en-US" dirty="0" err="1"/>
                <a:t>خوانایی</a:t>
              </a:r>
              <a:r>
                <a:rPr lang="en-US" dirty="0"/>
                <a:t>، </a:t>
              </a:r>
              <a:r>
                <a:rPr lang="en-US" dirty="0" err="1"/>
                <a:t>توسعه‌پذیری</a:t>
              </a:r>
              <a:r>
                <a:rPr lang="en-US" dirty="0"/>
                <a:t> و </a:t>
              </a:r>
              <a:r>
                <a:rPr lang="en-US" dirty="0" err="1"/>
                <a:t>سهولت</a:t>
              </a:r>
              <a:r>
                <a:rPr lang="en-US" dirty="0"/>
                <a:t> </a:t>
              </a:r>
              <a:r>
                <a:rPr lang="en-US" dirty="0" err="1"/>
                <a:t>نگهداری</a:t>
              </a:r>
              <a:r>
                <a:rPr lang="en-US" dirty="0"/>
                <a:t> </a:t>
              </a:r>
              <a:r>
                <a:rPr lang="en-US" dirty="0" err="1"/>
                <a:t>نرم‌افزار</a:t>
              </a:r>
              <a:r>
                <a:rPr lang="en-US" dirty="0"/>
                <a:t> </a:t>
              </a:r>
              <a:r>
                <a:rPr lang="en-US" dirty="0" err="1"/>
                <a:t>می‌شود</a:t>
              </a:r>
              <a:r>
                <a:rPr lang="en-US" dirty="0"/>
                <a:t>. </a:t>
              </a:r>
              <a:r>
                <a:rPr lang="en-US" dirty="0" err="1"/>
                <a:t>همچنین</a:t>
              </a:r>
              <a:r>
                <a:rPr lang="en-US" dirty="0"/>
                <a:t>، </a:t>
              </a:r>
              <a:r>
                <a:rPr lang="en-US" dirty="0" err="1"/>
                <a:t>ابزارهایی</a:t>
              </a:r>
              <a:r>
                <a:rPr lang="en-US" dirty="0"/>
                <a:t> </a:t>
              </a:r>
              <a:r>
                <a:rPr lang="en-US" dirty="0" err="1"/>
                <a:t>مانند</a:t>
              </a:r>
              <a:r>
                <a:rPr lang="en-US" dirty="0"/>
                <a:t> Git، GitHub و SonarQube </a:t>
              </a:r>
              <a:r>
                <a:rPr lang="en-US" dirty="0" err="1"/>
                <a:t>با</a:t>
              </a:r>
              <a:r>
                <a:rPr lang="en-US" dirty="0"/>
                <a:t> </a:t>
              </a:r>
              <a:r>
                <a:rPr lang="en-US" dirty="0" err="1"/>
                <a:t>فراهم</a:t>
              </a:r>
              <a:r>
                <a:rPr lang="en-US" dirty="0"/>
                <a:t> </a:t>
              </a:r>
              <a:r>
                <a:rPr lang="en-US" dirty="0" err="1"/>
                <a:t>کردن</a:t>
              </a:r>
              <a:r>
                <a:rPr lang="en-US" dirty="0"/>
                <a:t> </a:t>
              </a:r>
              <a:r>
                <a:rPr lang="en-US" dirty="0" err="1"/>
                <a:t>امکانات</a:t>
              </a:r>
              <a:r>
                <a:rPr lang="en-US" dirty="0"/>
                <a:t> </a:t>
              </a:r>
              <a:r>
                <a:rPr lang="en-US" dirty="0" err="1"/>
                <a:t>بررسی</a:t>
              </a:r>
              <a:r>
                <a:rPr lang="en-US" dirty="0"/>
                <a:t> </a:t>
              </a:r>
              <a:r>
                <a:rPr lang="en-US" dirty="0" err="1"/>
                <a:t>کد</a:t>
              </a:r>
              <a:r>
                <a:rPr lang="en-US" dirty="0"/>
                <a:t> و </a:t>
              </a:r>
              <a:r>
                <a:rPr lang="en-US" dirty="0" err="1"/>
                <a:t>مدیریت</a:t>
              </a:r>
              <a:r>
                <a:rPr lang="en-US" dirty="0"/>
                <a:t> </a:t>
              </a:r>
              <a:r>
                <a:rPr lang="en-US" dirty="0" err="1"/>
                <a:t>تغییرات</a:t>
              </a:r>
              <a:r>
                <a:rPr lang="en-US" dirty="0"/>
                <a:t>، </a:t>
              </a:r>
              <a:r>
                <a:rPr lang="en-US" dirty="0" err="1"/>
                <a:t>به</a:t>
              </a:r>
              <a:r>
                <a:rPr lang="en-US" dirty="0"/>
                <a:t> </a:t>
              </a:r>
              <a:r>
                <a:rPr lang="en-US" dirty="0" err="1"/>
                <a:t>بهبود</a:t>
              </a:r>
              <a:r>
                <a:rPr lang="en-US" dirty="0"/>
                <a:t> </a:t>
              </a:r>
              <a:r>
                <a:rPr lang="en-US" dirty="0" err="1"/>
                <a:t>فرایند</a:t>
              </a:r>
              <a:r>
                <a:rPr lang="en-US" dirty="0"/>
                <a:t> </a:t>
              </a:r>
              <a:r>
                <a:rPr lang="en-US" dirty="0" err="1"/>
                <a:t>توسعه</a:t>
              </a:r>
              <a:r>
                <a:rPr lang="en-US" dirty="0"/>
                <a:t> </a:t>
              </a:r>
              <a:r>
                <a:rPr lang="en-US" dirty="0" err="1"/>
                <a:t>نرم‌افزار</a:t>
              </a:r>
              <a:r>
                <a:rPr lang="en-US" dirty="0"/>
                <a:t> </a:t>
              </a:r>
              <a:r>
                <a:rPr lang="en-US" dirty="0" err="1"/>
                <a:t>کمک</a:t>
              </a:r>
              <a:r>
                <a:rPr lang="en-US" dirty="0"/>
                <a:t> </a:t>
              </a:r>
              <a:r>
                <a:rPr lang="en-US" dirty="0" err="1"/>
                <a:t>می‌کنند</a:t>
              </a:r>
              <a:r>
                <a:rPr lang="en-US" dirty="0"/>
                <a:t>. </a:t>
              </a:r>
              <a:r>
                <a:rPr lang="en-US" dirty="0" err="1"/>
                <a:t>در</a:t>
              </a:r>
              <a:r>
                <a:rPr lang="en-US" dirty="0"/>
                <a:t> </a:t>
              </a:r>
              <a:r>
                <a:rPr lang="en-US" dirty="0" err="1"/>
                <a:t>نهایت</a:t>
              </a:r>
              <a:r>
                <a:rPr lang="en-US" dirty="0"/>
                <a:t>، </a:t>
              </a:r>
              <a:r>
                <a:rPr lang="en-US" dirty="0" err="1"/>
                <a:t>توجه</a:t>
              </a:r>
              <a:r>
                <a:rPr lang="en-US" dirty="0"/>
                <a:t> </a:t>
              </a:r>
              <a:r>
                <a:rPr lang="en-US" dirty="0" err="1"/>
                <a:t>مستمر</a:t>
              </a:r>
              <a:r>
                <a:rPr lang="en-US" dirty="0"/>
                <a:t> </a:t>
              </a:r>
              <a:r>
                <a:rPr lang="en-US" dirty="0" err="1"/>
                <a:t>به</a:t>
              </a:r>
              <a:r>
                <a:rPr lang="en-US" dirty="0"/>
                <a:t> </a:t>
              </a:r>
              <a:r>
                <a:rPr lang="en-US" dirty="0" err="1"/>
                <a:t>کیفیت</a:t>
              </a:r>
              <a:r>
                <a:rPr lang="en-US" dirty="0"/>
                <a:t> </a:t>
              </a:r>
              <a:r>
                <a:rPr lang="en-US" dirty="0" err="1"/>
                <a:t>کد</a:t>
              </a:r>
              <a:r>
                <a:rPr lang="en-US" dirty="0"/>
                <a:t>، </a:t>
              </a:r>
              <a:r>
                <a:rPr lang="en-US" dirty="0" err="1"/>
                <a:t>نقش</a:t>
              </a:r>
              <a:r>
                <a:rPr lang="en-US" dirty="0"/>
                <a:t> </a:t>
              </a:r>
              <a:r>
                <a:rPr lang="en-US" dirty="0" err="1"/>
                <a:t>مؤثری</a:t>
              </a:r>
              <a:r>
                <a:rPr lang="en-US" dirty="0"/>
                <a:t> </a:t>
              </a:r>
              <a:r>
                <a:rPr lang="en-US" dirty="0" err="1"/>
                <a:t>در</a:t>
              </a:r>
              <a:r>
                <a:rPr lang="en-US" dirty="0"/>
                <a:t> </a:t>
              </a:r>
              <a:r>
                <a:rPr lang="en-US" dirty="0" err="1"/>
                <a:t>تولید</a:t>
              </a:r>
              <a:r>
                <a:rPr lang="en-US" dirty="0"/>
                <a:t> </a:t>
              </a:r>
              <a:r>
                <a:rPr lang="en-US" dirty="0" err="1"/>
                <a:t>نرم‌افزارهای</a:t>
              </a:r>
              <a:r>
                <a:rPr lang="en-US" dirty="0"/>
                <a:t> </a:t>
              </a:r>
              <a:r>
                <a:rPr lang="en-US" dirty="0" err="1"/>
                <a:t>پایدار</a:t>
              </a:r>
              <a:r>
                <a:rPr lang="en-US" dirty="0"/>
                <a:t> و </a:t>
              </a:r>
              <a:r>
                <a:rPr lang="en-US" dirty="0" err="1"/>
                <a:t>قابل</a:t>
              </a:r>
              <a:r>
                <a:rPr lang="en-US" dirty="0"/>
                <a:t> </a:t>
              </a:r>
              <a:r>
                <a:rPr lang="en-US" dirty="0" err="1"/>
                <a:t>نگهداری</a:t>
              </a:r>
              <a:r>
                <a:rPr lang="en-US" dirty="0"/>
                <a:t> </a:t>
              </a:r>
              <a:r>
                <a:rPr lang="en-US" dirty="0" err="1"/>
                <a:t>دارد</a:t>
              </a:r>
              <a:r>
                <a:rPr lang="en-US" dirty="0"/>
                <a:t>.</a:t>
              </a:r>
              <a:endParaRPr lang="fa-IR" sz="1200" dirty="0"/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9864D3E-C6C1-493F-02A4-D776D2D58F08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85CA0AF-B5DE-8258-9398-651EADDC38E5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8C9A5F1-A262-AC87-5C4A-EF1984121FBB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4B775B4-0D4F-6C16-B6CC-7B8F65A461B2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5EE262B-FD09-7B3B-4B62-D8DDCA373D74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BFAFE587-C774-B9B3-2124-CF415D169E3E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F7F4D68-68C4-0D21-E54C-ACFE325E70F1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AB1F362-2DA6-2BF7-895C-3DC4AAE5DC06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66B7F72F-61FD-E045-29C6-FCFA2786EB24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6CD0D59-0B4E-FB78-1548-E616A74E177E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4584EE8-8751-5DE9-3182-FA05C120BF22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DEC6F0D7-7BCF-512B-6B89-0A6A7240BBF2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65AC5D8-EB39-F419-E431-FB9FE1FCA170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76F1AEC-1F13-B9BA-2F58-49CCF0582C47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6505874C-9E22-21B3-31EE-77C92CB50E53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7FE28CD-DC44-E8DF-0EFA-4FFBBA74D5DF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7ADA333-49D0-3752-897C-A88E6BA0A230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3304BE3-D0C1-AB7D-7701-A3C6BE29F829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BAEAF15-AD51-5C03-9299-78C5BC644B15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93" name="Rectangle: Top Corners Rounded 92">
            <a:extLst>
              <a:ext uri="{FF2B5EF4-FFF2-40B4-BE49-F238E27FC236}">
                <a16:creationId xmlns:a16="http://schemas.microsoft.com/office/drawing/2014/main" id="{A8748DCB-9873-E37E-1DD6-223353415FF0}"/>
              </a:ext>
            </a:extLst>
          </p:cNvPr>
          <p:cNvSpPr/>
          <p:nvPr/>
        </p:nvSpPr>
        <p:spPr>
          <a:xfrm>
            <a:off x="100483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Top Corners Rounded 93">
            <a:extLst>
              <a:ext uri="{FF2B5EF4-FFF2-40B4-BE49-F238E27FC236}">
                <a16:creationId xmlns:a16="http://schemas.microsoft.com/office/drawing/2014/main" id="{1C7D70D6-DB45-C611-289D-12E5E99FF9DA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: Top Corners Rounded 94">
            <a:extLst>
              <a:ext uri="{FF2B5EF4-FFF2-40B4-BE49-F238E27FC236}">
                <a16:creationId xmlns:a16="http://schemas.microsoft.com/office/drawing/2014/main" id="{0744E3E9-2E82-18C2-2611-6B6D35267CAF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Top Corners Rounded 95">
            <a:extLst>
              <a:ext uri="{FF2B5EF4-FFF2-40B4-BE49-F238E27FC236}">
                <a16:creationId xmlns:a16="http://schemas.microsoft.com/office/drawing/2014/main" id="{D6122BA6-AFF8-5E11-ABA5-70019FBF6F83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74875181-E62A-1BC1-E8A6-03C9384695F4}"/>
              </a:ext>
            </a:extLst>
          </p:cNvPr>
          <p:cNvSpPr/>
          <p:nvPr/>
        </p:nvSpPr>
        <p:spPr>
          <a:xfrm>
            <a:off x="2944876" y="6858000"/>
            <a:ext cx="1777490" cy="15012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2196383-05A6-CF66-73B3-47E03D738AC0}"/>
              </a:ext>
            </a:extLst>
          </p:cNvPr>
          <p:cNvSpPr/>
          <p:nvPr/>
        </p:nvSpPr>
        <p:spPr>
          <a:xfrm>
            <a:off x="11690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Slide Number Placeholder 98">
            <a:extLst>
              <a:ext uri="{FF2B5EF4-FFF2-40B4-BE49-F238E27FC236}">
                <a16:creationId xmlns:a16="http://schemas.microsoft.com/office/drawing/2014/main" id="{084A4771-F3A6-62D6-B80D-D036FE80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12</a:t>
            </a:fld>
            <a:endParaRPr lang="en-US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02778930-D977-A55C-2AA7-05BD05CC35DD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057E30C-957A-E67A-CDC8-DFA93854F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2DF534-0482-A7F7-557E-B13C5C7C7525}"/>
              </a:ext>
            </a:extLst>
          </p:cNvPr>
          <p:cNvSpPr/>
          <p:nvPr/>
        </p:nvSpPr>
        <p:spPr>
          <a:xfrm rot="16200000">
            <a:off x="7363708" y="831774"/>
            <a:ext cx="3712717" cy="4919039"/>
          </a:xfrm>
          <a:prstGeom prst="roundRect">
            <a:avLst>
              <a:gd name="adj" fmla="val 9283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F94987FE-84BE-AC02-ABE0-68D6B5ED8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2456" y="2028716"/>
            <a:ext cx="2200530" cy="22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68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567869-9A14-E575-103F-69CFF74D1478}"/>
              </a:ext>
            </a:extLst>
          </p:cNvPr>
          <p:cNvSpPr/>
          <p:nvPr/>
        </p:nvSpPr>
        <p:spPr>
          <a:xfrm>
            <a:off x="295275" y="247648"/>
            <a:ext cx="11601450" cy="5581793"/>
          </a:xfrm>
          <a:prstGeom prst="roundRect">
            <a:avLst>
              <a:gd name="adj" fmla="val 5726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770F36-9220-A555-337B-B9ABC462AC6E}"/>
              </a:ext>
            </a:extLst>
          </p:cNvPr>
          <p:cNvSpPr/>
          <p:nvPr/>
        </p:nvSpPr>
        <p:spPr>
          <a:xfrm rot="16200000">
            <a:off x="1701258" y="1037171"/>
            <a:ext cx="3712717" cy="4919039"/>
          </a:xfrm>
          <a:prstGeom prst="roundRect">
            <a:avLst>
              <a:gd name="adj" fmla="val 9283"/>
            </a:avLst>
          </a:prstGeom>
          <a:solidFill>
            <a:schemeClr val="accent5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39E9C4F-BDA7-29A3-5A76-15E5D809F79C}"/>
              </a:ext>
            </a:extLst>
          </p:cNvPr>
          <p:cNvSpPr/>
          <p:nvPr/>
        </p:nvSpPr>
        <p:spPr>
          <a:xfrm rot="16200000">
            <a:off x="6923622" y="1037171"/>
            <a:ext cx="3712717" cy="4919039"/>
          </a:xfrm>
          <a:prstGeom prst="roundRect">
            <a:avLst>
              <a:gd name="adj" fmla="val 9283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8CC76B50-E4B1-F40B-414E-4647EC0F43EB}"/>
              </a:ext>
            </a:extLst>
          </p:cNvPr>
          <p:cNvSpPr/>
          <p:nvPr/>
        </p:nvSpPr>
        <p:spPr>
          <a:xfrm>
            <a:off x="3383798" y="609600"/>
            <a:ext cx="5424404" cy="548286"/>
          </a:xfrm>
          <a:prstGeom prst="roundRect">
            <a:avLst>
              <a:gd name="adj" fmla="val 26305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76D01E7-B4D4-68E7-D792-7B97AB21B0DA}"/>
              </a:ext>
            </a:extLst>
          </p:cNvPr>
          <p:cNvSpPr txBox="1"/>
          <p:nvPr/>
        </p:nvSpPr>
        <p:spPr>
          <a:xfrm>
            <a:off x="3441735" y="565217"/>
            <a:ext cx="5308530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36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منابع و مراجع</a:t>
            </a:r>
            <a:endParaRPr lang="en-US" sz="36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C47107-7247-919C-E121-FC3088DF9388}"/>
              </a:ext>
            </a:extLst>
          </p:cNvPr>
          <p:cNvSpPr/>
          <p:nvPr/>
        </p:nvSpPr>
        <p:spPr>
          <a:xfrm>
            <a:off x="1098097" y="5995278"/>
            <a:ext cx="10798628" cy="1364343"/>
          </a:xfrm>
          <a:prstGeom prst="roundRect">
            <a:avLst>
              <a:gd name="adj" fmla="val 13755"/>
            </a:avLst>
          </a:prstGeom>
          <a:solidFill>
            <a:schemeClr val="tx2">
              <a:lumMod val="95000"/>
              <a:lumOff val="5000"/>
            </a:schemeClr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6598CA-E8C1-9B1D-989C-C769FBE07353}"/>
              </a:ext>
            </a:extLst>
          </p:cNvPr>
          <p:cNvGrpSpPr/>
          <p:nvPr/>
        </p:nvGrpSpPr>
        <p:grpSpPr>
          <a:xfrm>
            <a:off x="10095772" y="6157541"/>
            <a:ext cx="1682577" cy="602938"/>
            <a:chOff x="9958388" y="1828801"/>
            <a:chExt cx="1682577" cy="60293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B9BCD60-95B2-F494-7E85-97A535AD8FE4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B67631-814D-2971-3CA1-5FF27BF6DB18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کلیات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69E901-7842-4218-9753-F04E10BAD4CE}"/>
              </a:ext>
            </a:extLst>
          </p:cNvPr>
          <p:cNvGrpSpPr/>
          <p:nvPr/>
        </p:nvGrpSpPr>
        <p:grpSpPr>
          <a:xfrm>
            <a:off x="8319912" y="6157541"/>
            <a:ext cx="1682577" cy="602938"/>
            <a:chOff x="9958388" y="1828801"/>
            <a:chExt cx="1682577" cy="60293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841C216-BE21-3987-2F2A-5AA80DEBE7F5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A6A0B1-5F79-2B29-7045-A10103A4DE85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پیشینه پژوهش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C40D91-1A40-B1DF-3CEC-62BC22A5C150}"/>
              </a:ext>
            </a:extLst>
          </p:cNvPr>
          <p:cNvGrpSpPr/>
          <p:nvPr/>
        </p:nvGrpSpPr>
        <p:grpSpPr>
          <a:xfrm>
            <a:off x="6544052" y="6157541"/>
            <a:ext cx="1682577" cy="602938"/>
            <a:chOff x="9958388" y="1828801"/>
            <a:chExt cx="1682577" cy="602938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575FCFB-368B-8EB7-0D59-D4D457DE4F1A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90CDDC-6889-D878-136B-7BEBB3557864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روش شناسی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A9CACAB-8FF2-C7FE-479E-754FA5F8C26D}"/>
              </a:ext>
            </a:extLst>
          </p:cNvPr>
          <p:cNvGrpSpPr/>
          <p:nvPr/>
        </p:nvGrpSpPr>
        <p:grpSpPr>
          <a:xfrm>
            <a:off x="4768192" y="6157541"/>
            <a:ext cx="1682577" cy="602938"/>
            <a:chOff x="9958388" y="1828801"/>
            <a:chExt cx="1682577" cy="602938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46E3EF1-5254-9A3B-57FF-A696C72415A4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60C5C76-125E-4382-E0CE-C85FF7D4A7F8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تجزیه و تحلیل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F94DE90-55A3-F3CB-B9D0-059DD81FD9A6}"/>
              </a:ext>
            </a:extLst>
          </p:cNvPr>
          <p:cNvGrpSpPr/>
          <p:nvPr/>
        </p:nvGrpSpPr>
        <p:grpSpPr>
          <a:xfrm>
            <a:off x="2992332" y="6157541"/>
            <a:ext cx="1682577" cy="602938"/>
            <a:chOff x="9958388" y="1828801"/>
            <a:chExt cx="1682577" cy="602938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97FF921-DC92-890C-0577-F67F6B7BD455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28DF27-5D19-44A2-3FBB-AC3C6E581615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نتیجه گیری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08AC533-58B0-2609-0DD7-19ED0F192AAD}"/>
              </a:ext>
            </a:extLst>
          </p:cNvPr>
          <p:cNvGrpSpPr/>
          <p:nvPr/>
        </p:nvGrpSpPr>
        <p:grpSpPr>
          <a:xfrm>
            <a:off x="1216472" y="6157541"/>
            <a:ext cx="1682577" cy="602938"/>
            <a:chOff x="9958388" y="1828801"/>
            <a:chExt cx="1682577" cy="602938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CC627AB2-3F78-2008-2513-7C5138D578CA}"/>
                </a:ext>
              </a:extLst>
            </p:cNvPr>
            <p:cNvSpPr/>
            <p:nvPr/>
          </p:nvSpPr>
          <p:spPr>
            <a:xfrm>
              <a:off x="9958388" y="1828801"/>
              <a:ext cx="1682577" cy="602938"/>
            </a:xfrm>
            <a:prstGeom prst="roundRect">
              <a:avLst>
                <a:gd name="adj" fmla="val 15557"/>
              </a:avLst>
            </a:prstGeom>
            <a:noFill/>
            <a:ln w="57150"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C58BCE1-1011-4F3E-DAB8-EE604928C931}"/>
                </a:ext>
              </a:extLst>
            </p:cNvPr>
            <p:cNvSpPr txBox="1"/>
            <p:nvPr/>
          </p:nvSpPr>
          <p:spPr>
            <a:xfrm>
              <a:off x="9958388" y="1909253"/>
              <a:ext cx="1682577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 rtl="1"/>
              <a:r>
                <a:rPr lang="fa-IR" sz="2400" dirty="0">
                  <a:solidFill>
                    <a:schemeClr val="bg1"/>
                  </a:solidFill>
                  <a:cs typeface="+mj-cs"/>
                </a:rPr>
                <a:t>پیشنهادات</a:t>
              </a:r>
              <a:endParaRPr lang="en-US" sz="2400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67" name="Rectangle: Top Corners Rounded 66">
            <a:extLst>
              <a:ext uri="{FF2B5EF4-FFF2-40B4-BE49-F238E27FC236}">
                <a16:creationId xmlns:a16="http://schemas.microsoft.com/office/drawing/2014/main" id="{8B60CAEE-A596-4BFE-5377-0182EEEBDED9}"/>
              </a:ext>
            </a:extLst>
          </p:cNvPr>
          <p:cNvSpPr/>
          <p:nvPr/>
        </p:nvSpPr>
        <p:spPr>
          <a:xfrm>
            <a:off x="1004831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910F3C05-6750-0855-F43F-5A3F18CECCE5}"/>
              </a:ext>
            </a:extLst>
          </p:cNvPr>
          <p:cNvSpPr/>
          <p:nvPr/>
        </p:nvSpPr>
        <p:spPr>
          <a:xfrm>
            <a:off x="827245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Top Corners Rounded 68">
            <a:extLst>
              <a:ext uri="{FF2B5EF4-FFF2-40B4-BE49-F238E27FC236}">
                <a16:creationId xmlns:a16="http://schemas.microsoft.com/office/drawing/2014/main" id="{68C0FECA-934A-F973-53E4-E3E0DA3A47E5}"/>
              </a:ext>
            </a:extLst>
          </p:cNvPr>
          <p:cNvSpPr/>
          <p:nvPr/>
        </p:nvSpPr>
        <p:spPr>
          <a:xfrm>
            <a:off x="649659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Top Corners Rounded 69">
            <a:extLst>
              <a:ext uri="{FF2B5EF4-FFF2-40B4-BE49-F238E27FC236}">
                <a16:creationId xmlns:a16="http://schemas.microsoft.com/office/drawing/2014/main" id="{75132F66-7473-A203-1BE4-38C5E5D1A652}"/>
              </a:ext>
            </a:extLst>
          </p:cNvPr>
          <p:cNvSpPr/>
          <p:nvPr/>
        </p:nvSpPr>
        <p:spPr>
          <a:xfrm>
            <a:off x="472073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Top Corners Rounded 70">
            <a:extLst>
              <a:ext uri="{FF2B5EF4-FFF2-40B4-BE49-F238E27FC236}">
                <a16:creationId xmlns:a16="http://schemas.microsoft.com/office/drawing/2014/main" id="{A2151AA6-B30B-6DB0-EB12-6F6B3B84969D}"/>
              </a:ext>
            </a:extLst>
          </p:cNvPr>
          <p:cNvSpPr/>
          <p:nvPr/>
        </p:nvSpPr>
        <p:spPr>
          <a:xfrm>
            <a:off x="2944876" y="6077090"/>
            <a:ext cx="1777490" cy="93103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A1C692B4-9016-9108-5C1C-EB0666EFF555}"/>
              </a:ext>
            </a:extLst>
          </p:cNvPr>
          <p:cNvSpPr/>
          <p:nvPr/>
        </p:nvSpPr>
        <p:spPr>
          <a:xfrm>
            <a:off x="1169016" y="6858000"/>
            <a:ext cx="1777490" cy="150128"/>
          </a:xfrm>
          <a:prstGeom prst="round2SameRect">
            <a:avLst/>
          </a:prstGeom>
          <a:solidFill>
            <a:schemeClr val="tx2">
              <a:lumMod val="95000"/>
              <a:lumOff val="5000"/>
              <a:alpha val="92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8033D29D-CE1E-9E5F-700E-4394AEB4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13</a:t>
            </a:fld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F743C5-15EB-F443-841E-A778749BB1FF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2FE4240-C5B7-38CB-13FD-71D1C6D57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CA837-3744-2D8B-9F82-11B577488F0A}"/>
              </a:ext>
            </a:extLst>
          </p:cNvPr>
          <p:cNvSpPr txBox="1"/>
          <p:nvPr/>
        </p:nvSpPr>
        <p:spPr>
          <a:xfrm>
            <a:off x="1303696" y="1938796"/>
            <a:ext cx="4421114" cy="74981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1600" dirty="0"/>
              <a:t>. Martin, R. C. (2008). Clean Code: A Handbook of Agile Software Craftsmanship. Prentice Hall. </a:t>
            </a:r>
            <a:br>
              <a:rPr lang="en-US" sz="1200" dirty="0"/>
            </a:br>
            <a:endParaRPr lang="fa-IR" sz="1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F92985-5D31-C307-1948-A364E94BF7CF}"/>
              </a:ext>
            </a:extLst>
          </p:cNvPr>
          <p:cNvSpPr/>
          <p:nvPr/>
        </p:nvSpPr>
        <p:spPr>
          <a:xfrm>
            <a:off x="5930409" y="2158733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FE3F57-BC25-E2E3-AF38-020B9D289AB5}"/>
              </a:ext>
            </a:extLst>
          </p:cNvPr>
          <p:cNvSpPr/>
          <p:nvPr/>
        </p:nvSpPr>
        <p:spPr>
          <a:xfrm>
            <a:off x="5930409" y="2921709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579CE0-B778-B996-443C-735FC1B4BDDF}"/>
              </a:ext>
            </a:extLst>
          </p:cNvPr>
          <p:cNvSpPr/>
          <p:nvPr/>
        </p:nvSpPr>
        <p:spPr>
          <a:xfrm>
            <a:off x="5930409" y="3684685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160022-019E-2F92-A791-05BECFB28AF6}"/>
              </a:ext>
            </a:extLst>
          </p:cNvPr>
          <p:cNvSpPr/>
          <p:nvPr/>
        </p:nvSpPr>
        <p:spPr>
          <a:xfrm>
            <a:off x="5930409" y="4447660"/>
            <a:ext cx="200456" cy="200456"/>
          </a:xfrm>
          <a:prstGeom prst="roundRect">
            <a:avLst>
              <a:gd name="adj" fmla="val 5726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1"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 descr="Earth Globe - Asia with solid fill">
            <a:extLst>
              <a:ext uri="{FF2B5EF4-FFF2-40B4-BE49-F238E27FC236}">
                <a16:creationId xmlns:a16="http://schemas.microsoft.com/office/drawing/2014/main" id="{6D11F298-4D93-259F-0AC6-AFFD65667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768" y="2355319"/>
            <a:ext cx="2310721" cy="2310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52D66-10F6-C18E-A03F-D38D95869346}"/>
              </a:ext>
            </a:extLst>
          </p:cNvPr>
          <p:cNvSpPr txBox="1"/>
          <p:nvPr/>
        </p:nvSpPr>
        <p:spPr>
          <a:xfrm>
            <a:off x="1216472" y="2515088"/>
            <a:ext cx="4551701" cy="9344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1600" dirty="0"/>
              <a:t>Fowler, M. (2018). Refactoring: Improving the Design of Existing Code (2nd ed.). Addison-Wesley. </a:t>
            </a:r>
            <a:br>
              <a:rPr lang="en-US" sz="1400" dirty="0"/>
            </a:br>
            <a:br>
              <a:rPr lang="en-US" sz="1100" dirty="0"/>
            </a:br>
            <a:endParaRPr lang="fa-IR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3DC62-ED98-F568-5530-E3DE5FB1DEAF}"/>
              </a:ext>
            </a:extLst>
          </p:cNvPr>
          <p:cNvSpPr txBox="1"/>
          <p:nvPr/>
        </p:nvSpPr>
        <p:spPr>
          <a:xfrm>
            <a:off x="830370" y="3194717"/>
            <a:ext cx="5149259" cy="9344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1600" dirty="0" err="1"/>
              <a:t>SonarSource</a:t>
            </a:r>
            <a:r>
              <a:rPr lang="en-US" sz="1600" dirty="0"/>
              <a:t>. SonarQube Documentation. </a:t>
            </a:r>
            <a:r>
              <a:rPr lang="en-US" sz="1600" u="sng" dirty="0">
                <a:hlinkClick r:id="rId5"/>
              </a:rPr>
              <a:t>https://docs.sonarsource.com/</a:t>
            </a:r>
            <a:r>
              <a:rPr lang="en-US" sz="1600" dirty="0"/>
              <a:t> </a:t>
            </a:r>
            <a:br>
              <a:rPr lang="en-US" sz="1400" dirty="0"/>
            </a:br>
            <a:br>
              <a:rPr lang="en-US" sz="1100" dirty="0"/>
            </a:br>
            <a:endParaRPr lang="fa-IR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A0BBB-EBA3-E39B-F9A7-3CFCED6B2730}"/>
              </a:ext>
            </a:extLst>
          </p:cNvPr>
          <p:cNvSpPr txBox="1"/>
          <p:nvPr/>
        </p:nvSpPr>
        <p:spPr>
          <a:xfrm>
            <a:off x="1213694" y="3878114"/>
            <a:ext cx="4421114" cy="74981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1600" dirty="0"/>
              <a:t>GitHub. GitHub Documentation. </a:t>
            </a:r>
            <a:r>
              <a:rPr lang="en-US" sz="1600" u="sng" dirty="0">
                <a:hlinkClick r:id="rId6"/>
              </a:rPr>
              <a:t>https://docs.github.com/</a:t>
            </a:r>
            <a:br>
              <a:rPr lang="en-US" sz="1100" dirty="0"/>
            </a:br>
            <a:endParaRPr lang="fa-I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70A70-0570-2522-2BEF-2B3D598982D4}"/>
              </a:ext>
            </a:extLst>
          </p:cNvPr>
          <p:cNvSpPr txBox="1"/>
          <p:nvPr/>
        </p:nvSpPr>
        <p:spPr>
          <a:xfrm>
            <a:off x="1188366" y="4588249"/>
            <a:ext cx="4421114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en-US" sz="1400" dirty="0"/>
              <a:t>. </a:t>
            </a:r>
            <a:r>
              <a:rPr lang="en-US" sz="1600" dirty="0" err="1"/>
              <a:t>Pylint</a:t>
            </a:r>
            <a:r>
              <a:rPr lang="en-US" sz="1600" dirty="0"/>
              <a:t> Development Team. </a:t>
            </a:r>
            <a:r>
              <a:rPr lang="en-US" sz="1600" dirty="0" err="1"/>
              <a:t>Pylint</a:t>
            </a:r>
            <a:r>
              <a:rPr lang="en-US" sz="1600" dirty="0"/>
              <a:t> Documentation. </a:t>
            </a:r>
            <a:r>
              <a:rPr lang="en-US" sz="1600" u="sng" dirty="0">
                <a:hlinkClick r:id="rId7"/>
              </a:rPr>
              <a:t>https://pylint.readthedocs.io/</a:t>
            </a:r>
            <a:endParaRPr lang="fa-IR" sz="1100" dirty="0"/>
          </a:p>
        </p:txBody>
      </p:sp>
    </p:spTree>
    <p:extLst>
      <p:ext uri="{BB962C8B-B14F-4D97-AF65-F5344CB8AC3E}">
        <p14:creationId xmlns:p14="http://schemas.microsoft.com/office/powerpoint/2010/main" val="266253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5" grpId="0" animBg="1"/>
      <p:bldP spid="19" grpId="0" animBg="1"/>
      <p:bldP spid="33" grpId="0" animBg="1"/>
      <p:bldP spid="5" grpId="0"/>
      <p:bldP spid="6" grpId="0"/>
      <p:bldP spid="7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777E-01A9-2C70-9FF7-414052F9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FEE-6387-4431-BAE5-F2E6269ECF61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9246B-ACBA-5099-F2AA-FA0AD0ED6A0E}"/>
              </a:ext>
            </a:extLst>
          </p:cNvPr>
          <p:cNvSpPr txBox="1"/>
          <p:nvPr/>
        </p:nvSpPr>
        <p:spPr>
          <a:xfrm>
            <a:off x="3241057" y="3050550"/>
            <a:ext cx="5709886" cy="142692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 rtl="1"/>
            <a:r>
              <a:rPr lang="fa-IR" sz="4400" b="1" dirty="0">
                <a:gradFill flip="none" rotWithShape="1">
                  <a:gsLst>
                    <a:gs pos="61000">
                      <a:schemeClr val="accent3">
                        <a:lumMod val="75000"/>
                      </a:schemeClr>
                    </a:gs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  <a:cs typeface="+mj-cs"/>
              </a:rPr>
              <a:t>از توجه شما عزیزان متشکرم...</a:t>
            </a:r>
            <a:endParaRPr lang="en-US" sz="4400" b="1" dirty="0">
              <a:gradFill flip="none" rotWithShape="1">
                <a:gsLst>
                  <a:gs pos="61000">
                    <a:schemeClr val="accent3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  <a:tileRect/>
              </a:gradFill>
              <a:cs typeface="+mj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9EAB24-C335-0D3D-4B95-B0BA988CCF0B}"/>
              </a:ext>
            </a:extLst>
          </p:cNvPr>
          <p:cNvSpPr/>
          <p:nvPr/>
        </p:nvSpPr>
        <p:spPr>
          <a:xfrm>
            <a:off x="3241057" y="4622939"/>
            <a:ext cx="5709886" cy="19873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46C823B-92D9-AD66-6615-94E4E031ADC8}"/>
              </a:ext>
            </a:extLst>
          </p:cNvPr>
          <p:cNvSpPr txBox="1">
            <a:spLocks/>
          </p:cNvSpPr>
          <p:nvPr/>
        </p:nvSpPr>
        <p:spPr>
          <a:xfrm>
            <a:off x="287442" y="6492875"/>
            <a:ext cx="6206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05EFEE-6387-4431-BAE5-F2E6269ECF61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Graphic 7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C19FB92F-927B-B0C9-5582-F0799A515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2" y="6104719"/>
            <a:ext cx="457418" cy="45741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A453BE-BED3-C974-ABC3-623C7C1A01FC}"/>
              </a:ext>
            </a:extLst>
          </p:cNvPr>
          <p:cNvSpPr/>
          <p:nvPr/>
        </p:nvSpPr>
        <p:spPr>
          <a:xfrm rot="5400000">
            <a:off x="-55328" y="6396244"/>
            <a:ext cx="1313978" cy="612775"/>
          </a:xfrm>
          <a:prstGeom prst="roundRect">
            <a:avLst>
              <a:gd name="adj" fmla="val 24379"/>
            </a:avLst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17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ow-0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E2F97"/>
      </a:accent1>
      <a:accent2>
        <a:srgbClr val="1AA7EC"/>
      </a:accent2>
      <a:accent3>
        <a:srgbClr val="4ADEDE"/>
      </a:accent3>
      <a:accent4>
        <a:srgbClr val="797EF6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font-iran body">
      <a:majorFont>
        <a:latin typeface="Times New Roman"/>
        <a:ea typeface=""/>
        <a:cs typeface="B Homa"/>
      </a:majorFont>
      <a:minorFont>
        <a:latin typeface="Times New Roman"/>
        <a:ea typeface=""/>
        <a:cs typeface="IRAN(FaNum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1365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Slidehall.ir Presentation store</dc:creator>
  <cp:lastModifiedBy>mona lotfipour</cp:lastModifiedBy>
  <cp:revision>81</cp:revision>
  <dcterms:created xsi:type="dcterms:W3CDTF">2023-06-25T13:12:51Z</dcterms:created>
  <dcterms:modified xsi:type="dcterms:W3CDTF">2026-10-24T22:02:29Z</dcterms:modified>
</cp:coreProperties>
</file>